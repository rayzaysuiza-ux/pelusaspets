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diagrams/data21.xml" ContentType="application/vnd.openxmlformats-officedocument.drawingml.diagramData+xml"/>
  <Override PartName="/ppt/diagrams/layout21.xml" ContentType="application/vnd.openxmlformats-officedocument.drawingml.diagramLayout+xml"/>
  <Override PartName="/ppt/diagrams/quickStyle21.xml" ContentType="application/vnd.openxmlformats-officedocument.drawingml.diagramStyle+xml"/>
  <Override PartName="/ppt/diagrams/colors21.xml" ContentType="application/vnd.openxmlformats-officedocument.drawingml.diagramColors+xml"/>
  <Override PartName="/ppt/diagrams/drawing21.xml" ContentType="application/vnd.ms-office.drawingml.diagramDrawing+xml"/>
  <Override PartName="/ppt/diagrams/data22.xml" ContentType="application/vnd.openxmlformats-officedocument.drawingml.diagramData+xml"/>
  <Override PartName="/ppt/diagrams/layout22.xml" ContentType="application/vnd.openxmlformats-officedocument.drawingml.diagramLayout+xml"/>
  <Override PartName="/ppt/diagrams/quickStyle22.xml" ContentType="application/vnd.openxmlformats-officedocument.drawingml.diagramStyle+xml"/>
  <Override PartName="/ppt/diagrams/colors22.xml" ContentType="application/vnd.openxmlformats-officedocument.drawingml.diagramColors+xml"/>
  <Override PartName="/ppt/diagrams/drawing22.xml" ContentType="application/vnd.ms-office.drawingml.diagramDrawing+xml"/>
  <Override PartName="/ppt/diagrams/data23.xml" ContentType="application/vnd.openxmlformats-officedocument.drawingml.diagramData+xml"/>
  <Override PartName="/ppt/diagrams/layout23.xml" ContentType="application/vnd.openxmlformats-officedocument.drawingml.diagramLayout+xml"/>
  <Override PartName="/ppt/diagrams/quickStyle23.xml" ContentType="application/vnd.openxmlformats-officedocument.drawingml.diagramStyle+xml"/>
  <Override PartName="/ppt/diagrams/colors23.xml" ContentType="application/vnd.openxmlformats-officedocument.drawingml.diagramColors+xml"/>
  <Override PartName="/ppt/diagrams/drawing23.xml" ContentType="application/vnd.ms-office.drawingml.diagramDrawing+xml"/>
  <Override PartName="/ppt/diagrams/data24.xml" ContentType="application/vnd.openxmlformats-officedocument.drawingml.diagramData+xml"/>
  <Override PartName="/ppt/diagrams/layout24.xml" ContentType="application/vnd.openxmlformats-officedocument.drawingml.diagramLayout+xml"/>
  <Override PartName="/ppt/diagrams/quickStyle24.xml" ContentType="application/vnd.openxmlformats-officedocument.drawingml.diagramStyle+xml"/>
  <Override PartName="/ppt/diagrams/colors24.xml" ContentType="application/vnd.openxmlformats-officedocument.drawingml.diagramColors+xml"/>
  <Override PartName="/ppt/diagrams/drawing24.xml" ContentType="application/vnd.ms-office.drawingml.diagramDrawing+xml"/>
  <Override PartName="/ppt/diagrams/data25.xml" ContentType="application/vnd.openxmlformats-officedocument.drawingml.diagramData+xml"/>
  <Override PartName="/ppt/diagrams/layout25.xml" ContentType="application/vnd.openxmlformats-officedocument.drawingml.diagramLayout+xml"/>
  <Override PartName="/ppt/diagrams/quickStyle25.xml" ContentType="application/vnd.openxmlformats-officedocument.drawingml.diagramStyle+xml"/>
  <Override PartName="/ppt/diagrams/colors25.xml" ContentType="application/vnd.openxmlformats-officedocument.drawingml.diagramColors+xml"/>
  <Override PartName="/ppt/diagrams/drawing25.xml" ContentType="application/vnd.ms-office.drawingml.diagramDrawing+xml"/>
  <Override PartName="/ppt/diagrams/data26.xml" ContentType="application/vnd.openxmlformats-officedocument.drawingml.diagramData+xml"/>
  <Override PartName="/ppt/diagrams/layout26.xml" ContentType="application/vnd.openxmlformats-officedocument.drawingml.diagramLayout+xml"/>
  <Override PartName="/ppt/diagrams/quickStyle26.xml" ContentType="application/vnd.openxmlformats-officedocument.drawingml.diagramStyle+xml"/>
  <Override PartName="/ppt/diagrams/colors26.xml" ContentType="application/vnd.openxmlformats-officedocument.drawingml.diagramColors+xml"/>
  <Override PartName="/ppt/diagrams/drawing26.xml" ContentType="application/vnd.ms-office.drawingml.diagramDrawing+xml"/>
  <Override PartName="/ppt/diagrams/data27.xml" ContentType="application/vnd.openxmlformats-officedocument.drawingml.diagramData+xml"/>
  <Override PartName="/ppt/diagrams/layout27.xml" ContentType="application/vnd.openxmlformats-officedocument.drawingml.diagramLayout+xml"/>
  <Override PartName="/ppt/diagrams/quickStyle27.xml" ContentType="application/vnd.openxmlformats-officedocument.drawingml.diagramStyle+xml"/>
  <Override PartName="/ppt/diagrams/colors27.xml" ContentType="application/vnd.openxmlformats-officedocument.drawingml.diagramColors+xml"/>
  <Override PartName="/ppt/diagrams/drawing27.xml" ContentType="application/vnd.ms-office.drawingml.diagramDrawing+xml"/>
  <Override PartName="/ppt/diagrams/data28.xml" ContentType="application/vnd.openxmlformats-officedocument.drawingml.diagramData+xml"/>
  <Override PartName="/ppt/diagrams/layout28.xml" ContentType="application/vnd.openxmlformats-officedocument.drawingml.diagramLayout+xml"/>
  <Override PartName="/ppt/diagrams/quickStyle28.xml" ContentType="application/vnd.openxmlformats-officedocument.drawingml.diagramStyle+xml"/>
  <Override PartName="/ppt/diagrams/colors28.xml" ContentType="application/vnd.openxmlformats-officedocument.drawingml.diagramColors+xml"/>
  <Override PartName="/ppt/diagrams/drawing28.xml" ContentType="application/vnd.ms-office.drawingml.diagramDrawing+xml"/>
  <Override PartName="/ppt/diagrams/data29.xml" ContentType="application/vnd.openxmlformats-officedocument.drawingml.diagramData+xml"/>
  <Override PartName="/ppt/diagrams/layout29.xml" ContentType="application/vnd.openxmlformats-officedocument.drawingml.diagramLayout+xml"/>
  <Override PartName="/ppt/diagrams/quickStyle29.xml" ContentType="application/vnd.openxmlformats-officedocument.drawingml.diagramStyle+xml"/>
  <Override PartName="/ppt/diagrams/colors29.xml" ContentType="application/vnd.openxmlformats-officedocument.drawingml.diagramColors+xml"/>
  <Override PartName="/ppt/diagrams/drawing29.xml" ContentType="application/vnd.ms-office.drawingml.diagramDrawing+xml"/>
  <Override PartName="/ppt/diagrams/data30.xml" ContentType="application/vnd.openxmlformats-officedocument.drawingml.diagramData+xml"/>
  <Override PartName="/ppt/diagrams/layout30.xml" ContentType="application/vnd.openxmlformats-officedocument.drawingml.diagramLayout+xml"/>
  <Override PartName="/ppt/diagrams/quickStyle30.xml" ContentType="application/vnd.openxmlformats-officedocument.drawingml.diagramStyle+xml"/>
  <Override PartName="/ppt/diagrams/colors30.xml" ContentType="application/vnd.openxmlformats-officedocument.drawingml.diagramColors+xml"/>
  <Override PartName="/ppt/diagrams/drawing30.xml" ContentType="application/vnd.ms-office.drawingml.diagramDrawing+xml"/>
  <Override PartName="/ppt/diagrams/data31.xml" ContentType="application/vnd.openxmlformats-officedocument.drawingml.diagramData+xml"/>
  <Override PartName="/ppt/diagrams/layout31.xml" ContentType="application/vnd.openxmlformats-officedocument.drawingml.diagramLayout+xml"/>
  <Override PartName="/ppt/diagrams/quickStyle31.xml" ContentType="application/vnd.openxmlformats-officedocument.drawingml.diagramStyle+xml"/>
  <Override PartName="/ppt/diagrams/colors31.xml" ContentType="application/vnd.openxmlformats-officedocument.drawingml.diagramColors+xml"/>
  <Override PartName="/ppt/diagrams/drawing31.xml" ContentType="application/vnd.ms-office.drawingml.diagramDrawing+xml"/>
  <Override PartName="/ppt/diagrams/data32.xml" ContentType="application/vnd.openxmlformats-officedocument.drawingml.diagramData+xml"/>
  <Override PartName="/ppt/diagrams/layout32.xml" ContentType="application/vnd.openxmlformats-officedocument.drawingml.diagramLayout+xml"/>
  <Override PartName="/ppt/diagrams/quickStyle32.xml" ContentType="application/vnd.openxmlformats-officedocument.drawingml.diagramStyle+xml"/>
  <Override PartName="/ppt/diagrams/colors32.xml" ContentType="application/vnd.openxmlformats-officedocument.drawingml.diagramColors+xml"/>
  <Override PartName="/ppt/diagrams/drawing32.xml" ContentType="application/vnd.ms-office.drawingml.diagramDrawing+xml"/>
  <Override PartName="/ppt/diagrams/data33.xml" ContentType="application/vnd.openxmlformats-officedocument.drawingml.diagramData+xml"/>
  <Override PartName="/ppt/diagrams/layout33.xml" ContentType="application/vnd.openxmlformats-officedocument.drawingml.diagramLayout+xml"/>
  <Override PartName="/ppt/diagrams/quickStyle33.xml" ContentType="application/vnd.openxmlformats-officedocument.drawingml.diagramStyle+xml"/>
  <Override PartName="/ppt/diagrams/colors33.xml" ContentType="application/vnd.openxmlformats-officedocument.drawingml.diagramColors+xml"/>
  <Override PartName="/ppt/diagrams/drawing33.xml" ContentType="application/vnd.ms-office.drawingml.diagramDrawing+xml"/>
  <Override PartName="/ppt/diagrams/data34.xml" ContentType="application/vnd.openxmlformats-officedocument.drawingml.diagramData+xml"/>
  <Override PartName="/ppt/diagrams/layout34.xml" ContentType="application/vnd.openxmlformats-officedocument.drawingml.diagramLayout+xml"/>
  <Override PartName="/ppt/diagrams/quickStyle34.xml" ContentType="application/vnd.openxmlformats-officedocument.drawingml.diagramStyle+xml"/>
  <Override PartName="/ppt/diagrams/colors34.xml" ContentType="application/vnd.openxmlformats-officedocument.drawingml.diagramColors+xml"/>
  <Override PartName="/ppt/diagrams/drawing34.xml" ContentType="application/vnd.ms-office.drawingml.diagramDrawing+xml"/>
  <Override PartName="/ppt/diagrams/data35.xml" ContentType="application/vnd.openxmlformats-officedocument.drawingml.diagramData+xml"/>
  <Override PartName="/ppt/diagrams/layout35.xml" ContentType="application/vnd.openxmlformats-officedocument.drawingml.diagramLayout+xml"/>
  <Override PartName="/ppt/diagrams/quickStyle35.xml" ContentType="application/vnd.openxmlformats-officedocument.drawingml.diagramStyle+xml"/>
  <Override PartName="/ppt/diagrams/colors35.xml" ContentType="application/vnd.openxmlformats-officedocument.drawingml.diagramColors+xml"/>
  <Override PartName="/ppt/diagrams/drawing35.xml" ContentType="application/vnd.ms-office.drawingml.diagramDrawing+xml"/>
  <Override PartName="/ppt/diagrams/data36.xml" ContentType="application/vnd.openxmlformats-officedocument.drawingml.diagramData+xml"/>
  <Override PartName="/ppt/diagrams/layout36.xml" ContentType="application/vnd.openxmlformats-officedocument.drawingml.diagramLayout+xml"/>
  <Override PartName="/ppt/diagrams/quickStyle36.xml" ContentType="application/vnd.openxmlformats-officedocument.drawingml.diagramStyle+xml"/>
  <Override PartName="/ppt/diagrams/colors36.xml" ContentType="application/vnd.openxmlformats-officedocument.drawingml.diagramColors+xml"/>
  <Override PartName="/ppt/diagrams/drawing36.xml" ContentType="application/vnd.ms-office.drawingml.diagramDrawing+xml"/>
  <Override PartName="/ppt/diagrams/data37.xml" ContentType="application/vnd.openxmlformats-officedocument.drawingml.diagramData+xml"/>
  <Override PartName="/ppt/diagrams/layout37.xml" ContentType="application/vnd.openxmlformats-officedocument.drawingml.diagramLayout+xml"/>
  <Override PartName="/ppt/diagrams/quickStyle37.xml" ContentType="application/vnd.openxmlformats-officedocument.drawingml.diagramStyle+xml"/>
  <Override PartName="/ppt/diagrams/colors37.xml" ContentType="application/vnd.openxmlformats-officedocument.drawingml.diagramColors+xml"/>
  <Override PartName="/ppt/diagrams/drawing37.xml" ContentType="application/vnd.ms-office.drawingml.diagramDrawing+xml"/>
  <Override PartName="/ppt/diagrams/data38.xml" ContentType="application/vnd.openxmlformats-officedocument.drawingml.diagramData+xml"/>
  <Override PartName="/ppt/diagrams/layout38.xml" ContentType="application/vnd.openxmlformats-officedocument.drawingml.diagramLayout+xml"/>
  <Override PartName="/ppt/diagrams/quickStyle38.xml" ContentType="application/vnd.openxmlformats-officedocument.drawingml.diagramStyle+xml"/>
  <Override PartName="/ppt/diagrams/colors38.xml" ContentType="application/vnd.openxmlformats-officedocument.drawingml.diagramColors+xml"/>
  <Override PartName="/ppt/diagrams/drawing38.xml" ContentType="application/vnd.ms-office.drawingml.diagramDrawing+xml"/>
  <Override PartName="/ppt/diagrams/data39.xml" ContentType="application/vnd.openxmlformats-officedocument.drawingml.diagramData+xml"/>
  <Override PartName="/ppt/diagrams/layout39.xml" ContentType="application/vnd.openxmlformats-officedocument.drawingml.diagramLayout+xml"/>
  <Override PartName="/ppt/diagrams/quickStyle39.xml" ContentType="application/vnd.openxmlformats-officedocument.drawingml.diagramStyle+xml"/>
  <Override PartName="/ppt/diagrams/colors39.xml" ContentType="application/vnd.openxmlformats-officedocument.drawingml.diagramColors+xml"/>
  <Override PartName="/ppt/diagrams/drawing39.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91" r:id="rId3"/>
    <p:sldId id="300" r:id="rId4"/>
    <p:sldId id="301" r:id="rId5"/>
    <p:sldId id="302" r:id="rId6"/>
    <p:sldId id="303" r:id="rId7"/>
    <p:sldId id="304" r:id="rId8"/>
    <p:sldId id="305" r:id="rId9"/>
    <p:sldId id="306" r:id="rId10"/>
    <p:sldId id="307" r:id="rId11"/>
    <p:sldId id="308" r:id="rId12"/>
    <p:sldId id="309" r:id="rId13"/>
    <p:sldId id="311" r:id="rId14"/>
    <p:sldId id="312" r:id="rId15"/>
    <p:sldId id="313" r:id="rId16"/>
    <p:sldId id="314" r:id="rId17"/>
    <p:sldId id="315" r:id="rId18"/>
    <p:sldId id="316" r:id="rId19"/>
    <p:sldId id="317" r:id="rId20"/>
    <p:sldId id="318" r:id="rId21"/>
    <p:sldId id="319" r:id="rId22"/>
    <p:sldId id="320" r:id="rId23"/>
    <p:sldId id="321" r:id="rId24"/>
    <p:sldId id="322" r:id="rId25"/>
    <p:sldId id="323" r:id="rId26"/>
    <p:sldId id="324" r:id="rId27"/>
    <p:sldId id="325" r:id="rId28"/>
    <p:sldId id="326" r:id="rId29"/>
    <p:sldId id="327" r:id="rId30"/>
    <p:sldId id="328" r:id="rId31"/>
    <p:sldId id="329" r:id="rId32"/>
    <p:sldId id="330" r:id="rId33"/>
    <p:sldId id="331" r:id="rId34"/>
    <p:sldId id="332" r:id="rId35"/>
    <p:sldId id="333" r:id="rId36"/>
    <p:sldId id="334" r:id="rId37"/>
    <p:sldId id="335" r:id="rId38"/>
    <p:sldId id="336" r:id="rId39"/>
    <p:sldId id="337" r:id="rId40"/>
    <p:sldId id="338" r:id="rId41"/>
    <p:sldId id="339" r:id="rId42"/>
  </p:sldIdLst>
  <p:sldSz cx="12192000" cy="6858000"/>
  <p:notesSz cx="6858000" cy="9144000"/>
  <p:defaultText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Sección predeterminada" id="{DD5E32DB-D256-4999-8D76-25F7578F390B}">
          <p14:sldIdLst>
            <p14:sldId id="257"/>
            <p14:sldId id="291"/>
            <p14:sldId id="300"/>
            <p14:sldId id="301"/>
            <p14:sldId id="302"/>
            <p14:sldId id="303"/>
            <p14:sldId id="304"/>
            <p14:sldId id="305"/>
            <p14:sldId id="306"/>
            <p14:sldId id="307"/>
            <p14:sldId id="308"/>
            <p14:sldId id="309"/>
            <p14:sldId id="311"/>
            <p14:sldId id="312"/>
            <p14:sldId id="313"/>
            <p14:sldId id="314"/>
            <p14:sldId id="315"/>
            <p14:sldId id="316"/>
            <p14:sldId id="317"/>
            <p14:sldId id="318"/>
            <p14:sldId id="319"/>
            <p14:sldId id="320"/>
            <p14:sldId id="321"/>
            <p14:sldId id="322"/>
            <p14:sldId id="323"/>
            <p14:sldId id="324"/>
            <p14:sldId id="325"/>
            <p14:sldId id="326"/>
            <p14:sldId id="327"/>
            <p14:sldId id="328"/>
            <p14:sldId id="329"/>
            <p14:sldId id="330"/>
            <p14:sldId id="331"/>
            <p14:sldId id="332"/>
            <p14:sldId id="333"/>
            <p14:sldId id="334"/>
            <p14:sldId id="335"/>
            <p14:sldId id="336"/>
            <p14:sldId id="337"/>
            <p14:sldId id="338"/>
            <p14:sldId id="33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5A78E"/>
    <a:srgbClr val="1E2BFF"/>
    <a:srgbClr val="0000CC"/>
    <a:srgbClr val="42DEF8"/>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368" autoAdjust="0"/>
    <p:restoredTop sz="94660"/>
  </p:normalViewPr>
  <p:slideViewPr>
    <p:cSldViewPr snapToGrid="0">
      <p:cViewPr varScale="1">
        <p:scale>
          <a:sx n="85" d="100"/>
          <a:sy n="85" d="100"/>
        </p:scale>
        <p:origin x="576" y="19"/>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CAF75882-B369-4E3C-9A27-B1D08B9FB9F3}">
      <dgm:prSet phldrT="[Texto]" custT="1"/>
      <dgm:spPr>
        <a:solidFill>
          <a:srgbClr val="0000CC"/>
        </a:solidFill>
      </dgm:spPr>
      <dgm:t>
        <a:bodyPr/>
        <a:lstStyle/>
        <a:p>
          <a:r>
            <a:rPr lang="es-MX" sz="2400" dirty="0">
              <a:latin typeface="Oswald" panose="00000500000000000000" pitchFamily="2" charset="0"/>
            </a:rPr>
            <a:t>Objetivo de Clase</a:t>
          </a:r>
          <a:endParaRPr lang="es-PE" sz="2400" dirty="0">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6653D63B-7A1C-417C-BF55-4F5D46251CBD}">
      <dgm:prSet phldrT="[Texto]"/>
      <dgm:spPr>
        <a:solidFill>
          <a:schemeClr val="bg1"/>
        </a:solidFill>
      </dgm:spPr>
      <dgm:t>
        <a:bodyPr/>
        <a:lstStyle/>
        <a:p>
          <a:r>
            <a:rPr lang="es-MX" b="1" dirty="0">
              <a:solidFill>
                <a:schemeClr val="tx1"/>
              </a:solidFill>
              <a:latin typeface="Segoe UI Light" panose="020B0502040204020203" pitchFamily="34" charset="0"/>
              <a:cs typeface="Segoe UI Light" panose="020B0502040204020203" pitchFamily="34" charset="0"/>
            </a:rPr>
            <a:t>Al finalizar la sesión de aprendizaje y haciendo uso de los recursos proporcionados en clase, </a:t>
          </a:r>
          <a:r>
            <a:rPr lang="es-MX" b="1" dirty="0">
              <a:solidFill>
                <a:srgbClr val="1E2BFF"/>
              </a:solidFill>
              <a:latin typeface="Segoe UI Light" panose="020B0502040204020203" pitchFamily="34" charset="0"/>
              <a:cs typeface="Segoe UI Light" panose="020B0502040204020203" pitchFamily="34" charset="0"/>
            </a:rPr>
            <a:t>el participante será capaz de desarrollar las etapas del proceso de diseño de un producto digital </a:t>
          </a:r>
          <a:r>
            <a:rPr lang="es-MX" b="1" dirty="0">
              <a:solidFill>
                <a:srgbClr val="05A78E"/>
              </a:solidFill>
              <a:latin typeface="Segoe UI Light" panose="020B0502040204020203" pitchFamily="34" charset="0"/>
              <a:cs typeface="Segoe UI Light" panose="020B0502040204020203" pitchFamily="34" charset="0"/>
            </a:rPr>
            <a:t>para la creación de un sitio web responsive, </a:t>
          </a:r>
          <a:r>
            <a:rPr lang="es-MX" b="1" dirty="0">
              <a:solidFill>
                <a:srgbClr val="00B0F0"/>
              </a:solidFill>
              <a:latin typeface="Segoe UI Light" panose="020B0502040204020203" pitchFamily="34" charset="0"/>
              <a:cs typeface="Segoe UI Light" panose="020B0502040204020203" pitchFamily="34" charset="0"/>
            </a:rPr>
            <a:t>siendo capaz de organizar la información de manera lógica y aplicando principios de UX/UI con coherencia funcional y visual</a:t>
          </a:r>
          <a:endParaRPr lang="es-PE" b="1" dirty="0">
            <a:solidFill>
              <a:srgbClr val="00B0F0"/>
            </a:solidFill>
            <a:latin typeface="Segoe UI Light" panose="020B0502040204020203" pitchFamily="34" charset="0"/>
            <a:cs typeface="Segoe UI Light" panose="020B0502040204020203" pitchFamily="34" charset="0"/>
          </a:endParaRPr>
        </a:p>
      </dgm:t>
    </dgm:pt>
    <dgm:pt modelId="{30EA9774-E107-43BB-AADD-B396F1B02B77}" type="parTrans" cxnId="{D0E2B509-2298-4F3E-9FCF-CBB3EEAEF370}">
      <dgm:prSet/>
      <dgm:spPr/>
      <dgm:t>
        <a:bodyPr/>
        <a:lstStyle/>
        <a:p>
          <a:endParaRPr lang="es-PE">
            <a:latin typeface="Oswald" panose="00000500000000000000" pitchFamily="2" charset="0"/>
          </a:endParaRPr>
        </a:p>
      </dgm:t>
    </dgm:pt>
    <dgm:pt modelId="{34858330-2FED-4FF4-BD82-2CCAAB1BE87B}" type="sibTrans" cxnId="{D0E2B509-2298-4F3E-9FCF-CBB3EEAEF370}">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D0E2B509-2298-4F3E-9FCF-CBB3EEAEF370}" srcId="{CAF75882-B369-4E3C-9A27-B1D08B9FB9F3}" destId="{6653D63B-7A1C-417C-BF55-4F5D46251CBD}" srcOrd="0" destOrd="0" parTransId="{30EA9774-E107-43BB-AADD-B396F1B02B77}" sibTransId="{34858330-2FED-4FF4-BD82-2CCAAB1BE87B}"/>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A2F367B0-53E4-4E73-A6B0-D86D86F9E175}" type="presOf" srcId="{CAF75882-B369-4E3C-9A27-B1D08B9FB9F3}" destId="{90DF8371-C9F4-40C7-AA24-BFAE745C0D97}" srcOrd="1" destOrd="0" presId="urn:microsoft.com/office/officeart/2005/8/layout/list1"/>
    <dgm:cxn modelId="{649059CB-F2BA-4840-900C-24F5FFCA6D03}" type="presOf" srcId="{6653D63B-7A1C-417C-BF55-4F5D46251CBD}" destId="{05BE5D02-8470-4663-8771-1FA3327D54CF}" srcOrd="0"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Diseñemos nuestro proyecto digital.</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MX" sz="2400" dirty="0">
              <a:latin typeface="Oswald" panose="00000500000000000000" pitchFamily="2" charset="0"/>
            </a:rPr>
            <a:t>PET - CLINIC</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4CCDB31B-86B2-4AD7-B71C-96CC480CAE4B}">
      <dgm:prSet phldrT="[Texto]"/>
      <dgm:spPr>
        <a:solidFill>
          <a:schemeClr val="bg1"/>
        </a:solidFill>
      </dgm:spPr>
      <dgm:t>
        <a:bodyPr/>
        <a:lstStyle/>
        <a:p>
          <a:pPr marL="0" indent="0">
            <a:buNone/>
          </a:pPr>
          <a:r>
            <a:rPr lang="es-MX" b="0" dirty="0">
              <a:solidFill>
                <a:srgbClr val="0000CC"/>
              </a:solidFill>
              <a:latin typeface="Segoe UI Light" panose="020B0502040204020203" pitchFamily="34" charset="0"/>
              <a:cs typeface="Segoe UI Light" panose="020B0502040204020203" pitchFamily="34" charset="0"/>
            </a:rPr>
            <a:t>Desarrollemos una aplicativo para una clínica de mascotas.</a:t>
          </a:r>
          <a:endParaRPr lang="es-PE" b="0" dirty="0">
            <a:solidFill>
              <a:srgbClr val="0000CC"/>
            </a:solidFill>
            <a:latin typeface="Segoe UI Light" panose="020B0502040204020203" pitchFamily="34" charset="0"/>
            <a:cs typeface="Segoe UI Light" panose="020B0502040204020203" pitchFamily="34" charset="0"/>
          </a:endParaRPr>
        </a:p>
      </dgm:t>
    </dgm:pt>
    <dgm:pt modelId="{98B81125-0C2A-4196-9FE2-CF53A07BB716}" type="parTrans" cxnId="{75B214DD-345D-40C0-8C61-129625FD1EB8}">
      <dgm:prSet/>
      <dgm:spPr/>
      <dgm:t>
        <a:bodyPr/>
        <a:lstStyle/>
        <a:p>
          <a:endParaRPr lang="es-PE"/>
        </a:p>
      </dgm:t>
    </dgm:pt>
    <dgm:pt modelId="{5BA16184-07FA-4D4D-A3CE-06618F674F8B}" type="sibTrans" cxnId="{75B214DD-345D-40C0-8C61-129625FD1EB8}">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FFA26045-2611-401D-B8BC-E5648BFF551F}" type="presOf" srcId="{4CCDB31B-86B2-4AD7-B71C-96CC480CAE4B}"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75B214DD-345D-40C0-8C61-129625FD1EB8}" srcId="{CAF75882-B369-4E3C-9A27-B1D08B9FB9F3}" destId="{4CCDB31B-86B2-4AD7-B71C-96CC480CAE4B}" srcOrd="1" destOrd="0" parTransId="{98B81125-0C2A-4196-9FE2-CF53A07BB716}" sibTransId="{5BA16184-07FA-4D4D-A3CE-06618F674F8B}"/>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Proyecto: </a:t>
          </a:r>
          <a:r>
            <a:rPr lang="es-PE" b="0" i="0" dirty="0">
              <a:effectLst/>
              <a:latin typeface="Segoe UI Light" panose="020B0502040204020203" pitchFamily="34" charset="0"/>
              <a:cs typeface="Segoe UI Light" panose="020B0502040204020203" pitchFamily="34" charset="0"/>
            </a:rPr>
            <a:t>Aplicativo para una clínica de mascotas - </a:t>
          </a:r>
          <a:r>
            <a:rPr lang="es-PE" b="1" i="0" dirty="0">
              <a:effectLst/>
              <a:latin typeface="Segoe UI Light" panose="020B0502040204020203" pitchFamily="34" charset="0"/>
              <a:cs typeface="Segoe UI Light" panose="020B0502040204020203" pitchFamily="34" charset="0"/>
            </a:rPr>
            <a:t>Formulario de reserva de citas.</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825E0D86-DFBE-477A-9104-7A18535DC6EC}">
      <dgm:prSet/>
      <dgm:spPr/>
      <dgm:t>
        <a:bodyPr/>
        <a:lstStyle/>
        <a:p>
          <a:pPr marL="0" indent="0">
            <a:buNone/>
          </a:pPr>
          <a:r>
            <a:rPr lang="pt-BR" b="1" i="0" dirty="0">
              <a:effectLst/>
              <a:latin typeface="Segoe UI Light" panose="020B0502040204020203" pitchFamily="34" charset="0"/>
              <a:cs typeface="Segoe UI Light" panose="020B0502040204020203" pitchFamily="34" charset="0"/>
            </a:rPr>
            <a:t>Cliente</a:t>
          </a:r>
          <a:r>
            <a:rPr lang="pt-BR" b="0" i="0" dirty="0">
              <a:effectLst/>
              <a:latin typeface="Segoe UI Light" panose="020B0502040204020203" pitchFamily="34" charset="0"/>
              <a:cs typeface="Segoe UI Light" panose="020B0502040204020203" pitchFamily="34" charset="0"/>
            </a:rPr>
            <a:t>: </a:t>
          </a:r>
          <a:r>
            <a:rPr lang="pt-BR" b="1" i="0" dirty="0">
              <a:solidFill>
                <a:srgbClr val="05A78E"/>
              </a:solidFill>
              <a:effectLst/>
              <a:latin typeface="Segoe UI Light" panose="020B0502040204020203" pitchFamily="34" charset="0"/>
              <a:cs typeface="Segoe UI Light" panose="020B0502040204020203" pitchFamily="34" charset="0"/>
            </a:rPr>
            <a:t>Clínica de Mascotas - PET CLINIC</a:t>
          </a:r>
          <a:endParaRPr lang="es-PE" b="1" i="0" dirty="0">
            <a:solidFill>
              <a:srgbClr val="05A78E"/>
            </a:solidFill>
            <a:effectLst/>
            <a:latin typeface="Segoe UI Light" panose="020B0502040204020203" pitchFamily="34" charset="0"/>
            <a:cs typeface="Segoe UI Light" panose="020B0502040204020203" pitchFamily="34" charset="0"/>
          </a:endParaRPr>
        </a:p>
      </dgm:t>
    </dgm:pt>
    <dgm:pt modelId="{35FCCD1C-16AB-47C5-B757-921309AA8002}" type="parTrans" cxnId="{8B31C0BD-9397-4721-AE47-C13E712AD80B}">
      <dgm:prSet/>
      <dgm:spPr/>
      <dgm:t>
        <a:bodyPr/>
        <a:lstStyle/>
        <a:p>
          <a:endParaRPr lang="es-PE"/>
        </a:p>
      </dgm:t>
    </dgm:pt>
    <dgm:pt modelId="{D865E230-3C2C-4908-A1C6-3243CC4165CF}" type="sibTrans" cxnId="{8B31C0BD-9397-4721-AE47-C13E712AD80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8B31C0BD-9397-4721-AE47-C13E712AD80B}" srcId="{CAF75882-B369-4E3C-9A27-B1D08B9FB9F3}" destId="{825E0D86-DFBE-477A-9104-7A18535DC6EC}" srcOrd="1" destOrd="0" parTransId="{35FCCD1C-16AB-47C5-B757-921309AA8002}" sibTransId="{D865E230-3C2C-4908-A1C6-3243CC4165CF}"/>
    <dgm:cxn modelId="{50AB18DF-1FD7-4E2F-A58F-CE187CA57B5F}" type="presOf" srcId="{825E0D86-DFBE-477A-9104-7A18535DC6EC}" destId="{05BE5D02-8470-4663-8771-1FA3327D54CF}" srcOrd="0" destOrd="1"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1.- El resumen</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De ser posible, comienza el </a:t>
          </a:r>
          <a:r>
            <a:rPr lang="es-MX" b="0" dirty="0" err="1">
              <a:solidFill>
                <a:schemeClr val="tx1"/>
              </a:solidFill>
              <a:latin typeface="Segoe UI Light" panose="020B0502040204020203" pitchFamily="34" charset="0"/>
              <a:cs typeface="Segoe UI Light" panose="020B0502040204020203" pitchFamily="34" charset="0"/>
            </a:rPr>
            <a:t>brief</a:t>
          </a:r>
          <a:r>
            <a:rPr lang="es-MX" b="0" dirty="0">
              <a:solidFill>
                <a:schemeClr val="tx1"/>
              </a:solidFill>
              <a:latin typeface="Segoe UI Light" panose="020B0502040204020203" pitchFamily="34" charset="0"/>
              <a:cs typeface="Segoe UI Light" panose="020B0502040204020203" pitchFamily="34" charset="0"/>
            </a:rPr>
            <a:t> con un resumen que permita entender rápidamente, en uno o dos párrafos, de qué se va a tratar el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2.- El cliente</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 útil incluir una descripción general de tu cliente, su negocio y el propósito de los productos o servicios que ofrecen.</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3.- El problema</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Entender el problema que se busca solucionar es esencial para dar con una buena solución. </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6C9212B5-97AD-45B5-AD9D-354D69DBC1CB}">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Recuerda dejarlo por escrito en el </a:t>
          </a:r>
          <a:r>
            <a:rPr lang="es-MX" b="1" dirty="0" err="1">
              <a:solidFill>
                <a:schemeClr val="tx1"/>
              </a:solidFill>
              <a:latin typeface="Segoe UI Light" panose="020B0502040204020203" pitchFamily="34" charset="0"/>
              <a:cs typeface="Segoe UI Light" panose="020B0502040204020203" pitchFamily="34" charset="0"/>
            </a:rPr>
            <a:t>brief</a:t>
          </a:r>
          <a:r>
            <a:rPr lang="es-MX" b="1" dirty="0">
              <a:solidFill>
                <a:schemeClr val="tx1"/>
              </a:solidFill>
              <a:latin typeface="Segoe UI Light" panose="020B0502040204020203" pitchFamily="34" charset="0"/>
              <a:cs typeface="Segoe UI Light" panose="020B0502040204020203" pitchFamily="34" charset="0"/>
            </a:rPr>
            <a:t>.</a:t>
          </a:r>
          <a:endParaRPr lang="es-PE" b="1" dirty="0">
            <a:solidFill>
              <a:schemeClr val="tx1"/>
            </a:solidFill>
            <a:latin typeface="Segoe UI Light" panose="020B0502040204020203" pitchFamily="34" charset="0"/>
            <a:cs typeface="Segoe UI Light" panose="020B0502040204020203" pitchFamily="34" charset="0"/>
          </a:endParaRPr>
        </a:p>
      </dgm:t>
    </dgm:pt>
    <dgm:pt modelId="{137F63E0-B583-47D0-AAFF-A6CBDDA2FC3C}" type="parTrans" cxnId="{12A978F0-CC23-4EAF-A907-D9735412C2E7}">
      <dgm:prSet/>
      <dgm:spPr/>
      <dgm:t>
        <a:bodyPr/>
        <a:lstStyle/>
        <a:p>
          <a:endParaRPr lang="es-PE"/>
        </a:p>
      </dgm:t>
    </dgm:pt>
    <dgm:pt modelId="{3017C810-9F22-47D8-A0BC-12A3CEE26223}" type="sibTrans" cxnId="{12A978F0-CC23-4EAF-A907-D9735412C2E7}">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CB3A9EF-6931-454B-BECC-2F78F17E0E6D}" type="presOf" srcId="{6C9212B5-97AD-45B5-AD9D-354D69DBC1CB}" destId="{05BE5D02-8470-4663-8771-1FA3327D54CF}" srcOrd="0" destOrd="3" presId="urn:microsoft.com/office/officeart/2005/8/layout/list1"/>
    <dgm:cxn modelId="{12A978F0-CC23-4EAF-A907-D9735412C2E7}" srcId="{CAF75882-B369-4E3C-9A27-B1D08B9FB9F3}" destId="{6C9212B5-97AD-45B5-AD9D-354D69DBC1CB}" srcOrd="3" destOrd="0" parTransId="{137F63E0-B583-47D0-AAFF-A6CBDDA2FC3C}" sibTransId="{3017C810-9F22-47D8-A0BC-12A3CEE26223}"/>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3.- El problema</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Entender el problema que se busca solucionar es esencial para dar con una buena solución. </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6C9212B5-97AD-45B5-AD9D-354D69DBC1CB}">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Recuerda dejarlo por escrito en el </a:t>
          </a:r>
          <a:r>
            <a:rPr lang="es-MX" b="1" dirty="0" err="1">
              <a:solidFill>
                <a:schemeClr val="tx1"/>
              </a:solidFill>
              <a:latin typeface="Segoe UI Light" panose="020B0502040204020203" pitchFamily="34" charset="0"/>
              <a:cs typeface="Segoe UI Light" panose="020B0502040204020203" pitchFamily="34" charset="0"/>
            </a:rPr>
            <a:t>brief</a:t>
          </a:r>
          <a:r>
            <a:rPr lang="es-MX" b="1" dirty="0">
              <a:solidFill>
                <a:schemeClr val="tx1"/>
              </a:solidFill>
              <a:latin typeface="Segoe UI Light" panose="020B0502040204020203" pitchFamily="34" charset="0"/>
              <a:cs typeface="Segoe UI Light" panose="020B0502040204020203" pitchFamily="34" charset="0"/>
            </a:rPr>
            <a:t>.</a:t>
          </a:r>
          <a:endParaRPr lang="es-PE" b="1" dirty="0">
            <a:solidFill>
              <a:schemeClr val="tx1"/>
            </a:solidFill>
            <a:latin typeface="Segoe UI Light" panose="020B0502040204020203" pitchFamily="34" charset="0"/>
            <a:cs typeface="Segoe UI Light" panose="020B0502040204020203" pitchFamily="34" charset="0"/>
          </a:endParaRPr>
        </a:p>
      </dgm:t>
    </dgm:pt>
    <dgm:pt modelId="{137F63E0-B583-47D0-AAFF-A6CBDDA2FC3C}" type="parTrans" cxnId="{12A978F0-CC23-4EAF-A907-D9735412C2E7}">
      <dgm:prSet/>
      <dgm:spPr/>
      <dgm:t>
        <a:bodyPr/>
        <a:lstStyle/>
        <a:p>
          <a:endParaRPr lang="es-PE"/>
        </a:p>
      </dgm:t>
    </dgm:pt>
    <dgm:pt modelId="{3017C810-9F22-47D8-A0BC-12A3CEE26223}" type="sibTrans" cxnId="{12A978F0-CC23-4EAF-A907-D9735412C2E7}">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CB3A9EF-6931-454B-BECC-2F78F17E0E6D}" type="presOf" srcId="{6C9212B5-97AD-45B5-AD9D-354D69DBC1CB}" destId="{05BE5D02-8470-4663-8771-1FA3327D54CF}" srcOrd="0" destOrd="3" presId="urn:microsoft.com/office/officeart/2005/8/layout/list1"/>
    <dgm:cxn modelId="{12A978F0-CC23-4EAF-A907-D9735412C2E7}" srcId="{CAF75882-B369-4E3C-9A27-B1D08B9FB9F3}" destId="{6C9212B5-97AD-45B5-AD9D-354D69DBC1CB}" srcOrd="3" destOrd="0" parTransId="{137F63E0-B583-47D0-AAFF-A6CBDDA2FC3C}" sibTransId="{3017C810-9F22-47D8-A0BC-12A3CEE26223}"/>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4.- El objetivo</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Una vez que el problema está bien definido es buena idea plantear con claridad los objetivos del proyecto. 
Puntos extra si los planteas de un modo que sea medible en el futuro, para confirmar si se cumplió o no.</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5.- Requerimiento</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Una descripción tan detallada como sea posible del trabajo que se realizará para cumplir con los objetivos del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6.- Público objetivo</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¿A quién va dirigido este proyecto? 
¿Quiénes serán las personas que usen este producto digital? </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76F041DA-2354-458D-B0F9-ECC721E61168}">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Define al público con tanto detalle como sea posible.</a:t>
          </a:r>
          <a:endParaRPr lang="es-PE" b="0" dirty="0">
            <a:solidFill>
              <a:schemeClr val="tx1"/>
            </a:solidFill>
            <a:latin typeface="Segoe UI Light" panose="020B0502040204020203" pitchFamily="34" charset="0"/>
            <a:cs typeface="Segoe UI Light" panose="020B0502040204020203" pitchFamily="34" charset="0"/>
          </a:endParaRPr>
        </a:p>
      </dgm:t>
    </dgm:pt>
    <dgm:pt modelId="{732C2381-FCCA-4E04-9501-DB49C41BB992}" type="parTrans" cxnId="{0229A3D1-7809-4072-8D85-36404A5CC758}">
      <dgm:prSet/>
      <dgm:spPr/>
      <dgm:t>
        <a:bodyPr/>
        <a:lstStyle/>
        <a:p>
          <a:endParaRPr lang="es-PE"/>
        </a:p>
      </dgm:t>
    </dgm:pt>
    <dgm:pt modelId="{F294B5AA-0809-412A-8DAD-1B38D49985D4}" type="sibTrans" cxnId="{0229A3D1-7809-4072-8D85-36404A5CC758}">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A593A674-3899-40A9-8B88-04FA9C4EDF86}" type="presOf" srcId="{76F041DA-2354-458D-B0F9-ECC721E61168}" destId="{05BE5D02-8470-4663-8771-1FA3327D54CF}" srcOrd="0" destOrd="3"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229A3D1-7809-4072-8D85-36404A5CC758}" srcId="{CAF75882-B369-4E3C-9A27-B1D08B9FB9F3}" destId="{76F041DA-2354-458D-B0F9-ECC721E61168}" srcOrd="3" destOrd="0" parTransId="{732C2381-FCCA-4E04-9501-DB49C41BB992}" sibTransId="{F294B5AA-0809-412A-8DAD-1B38D49985D4}"/>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1" i="0" dirty="0">
              <a:effectLst/>
              <a:latin typeface="Segoe UI Light" panose="020B0502040204020203" pitchFamily="34" charset="0"/>
              <a:cs typeface="Segoe UI Light" panose="020B0502040204020203" pitchFamily="34" charset="0"/>
            </a:rPr>
            <a:t>Etapas del </a:t>
          </a:r>
          <a:r>
            <a:rPr lang="es-PE" b="1" i="0" dirty="0" err="1">
              <a:effectLst/>
              <a:latin typeface="Segoe UI Light" panose="020B0502040204020203" pitchFamily="34" charset="0"/>
              <a:cs typeface="Segoe UI Light" panose="020B0502040204020203" pitchFamily="34" charset="0"/>
            </a:rPr>
            <a:t>Brief</a:t>
          </a:r>
          <a:r>
            <a:rPr lang="es-PE" b="1" i="0" dirty="0">
              <a:effectLst/>
              <a:latin typeface="Segoe UI Light" panose="020B0502040204020203" pitchFamily="34" charset="0"/>
              <a:cs typeface="Segoe UI Light" panose="020B0502040204020203" pitchFamily="34" charset="0"/>
            </a:rPr>
            <a:t>.</a:t>
          </a:r>
          <a:endParaRPr lang="es-PE" b="1"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1. El </a:t>
          </a:r>
          <a:r>
            <a:rPr lang="es-PE" sz="2400" dirty="0" err="1">
              <a:latin typeface="Oswald" panose="00000500000000000000" pitchFamily="2" charset="0"/>
            </a:rPr>
            <a:t>Brief</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F36FF5D-F643-4343-9E07-E0686DE1F07F}">
      <dgm:prSet phldrT="[Texto]"/>
      <dgm:spPr>
        <a:solidFill>
          <a:schemeClr val="bg1"/>
        </a:solidFill>
      </dgm:spPr>
      <dgm:t>
        <a:bodyPr/>
        <a:lstStyle/>
        <a:p>
          <a:pPr marL="0" indent="0">
            <a:buNone/>
          </a:pPr>
          <a:r>
            <a:rPr lang="es-PE" b="1" dirty="0">
              <a:solidFill>
                <a:srgbClr val="0000CC"/>
              </a:solidFill>
              <a:latin typeface="Segoe UI Light" panose="020B0502040204020203" pitchFamily="34" charset="0"/>
              <a:cs typeface="Segoe UI Light" panose="020B0502040204020203" pitchFamily="34" charset="0"/>
            </a:rPr>
            <a:t>7.- Recursos y referencias</a:t>
          </a:r>
        </a:p>
      </dgm:t>
    </dgm:pt>
    <dgm:pt modelId="{04A0A78A-62B5-40CD-B1B1-EF95B0B02EB0}" type="parTrans" cxnId="{36C7BB33-3F90-4A1A-A33E-19E1D08A032F}">
      <dgm:prSet/>
      <dgm:spPr/>
      <dgm:t>
        <a:bodyPr/>
        <a:lstStyle/>
        <a:p>
          <a:endParaRPr lang="es-PE"/>
        </a:p>
      </dgm:t>
    </dgm:pt>
    <dgm:pt modelId="{A327FFC8-A11E-4F2E-AAE8-8DB83C6A5431}" type="sibTrans" cxnId="{36C7BB33-3F90-4A1A-A33E-19E1D08A032F}">
      <dgm:prSet/>
      <dgm:spPr/>
      <dgm:t>
        <a:bodyPr/>
        <a:lstStyle/>
        <a:p>
          <a:endParaRPr lang="es-PE"/>
        </a:p>
      </dgm:t>
    </dgm:pt>
    <dgm:pt modelId="{C1753A59-4D72-4BDB-9F2C-277E9364600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Incluye en el </a:t>
          </a:r>
          <a:r>
            <a:rPr lang="es-MX" b="0" dirty="0" err="1">
              <a:solidFill>
                <a:schemeClr val="tx1"/>
              </a:solidFill>
              <a:latin typeface="Segoe UI Light" panose="020B0502040204020203" pitchFamily="34" charset="0"/>
              <a:cs typeface="Segoe UI Light" panose="020B0502040204020203" pitchFamily="34" charset="0"/>
            </a:rPr>
            <a:t>brief</a:t>
          </a:r>
          <a:r>
            <a:rPr lang="es-MX" b="0" dirty="0">
              <a:solidFill>
                <a:schemeClr val="tx1"/>
              </a:solidFill>
              <a:latin typeface="Segoe UI Light" panose="020B0502040204020203" pitchFamily="34" charset="0"/>
              <a:cs typeface="Segoe UI Light" panose="020B0502040204020203" pitchFamily="34" charset="0"/>
            </a:rPr>
            <a:t> todos los referentes y/o recursos gráficos que pueden ser útiles para dar forma al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5FD32B53-090F-4D1D-90F7-241C5DBEA6F1}" type="parTrans" cxnId="{0B0B100A-846E-4F47-96FF-31919FA2F55B}">
      <dgm:prSet/>
      <dgm:spPr/>
      <dgm:t>
        <a:bodyPr/>
        <a:lstStyle/>
        <a:p>
          <a:endParaRPr lang="es-PE"/>
        </a:p>
      </dgm:t>
    </dgm:pt>
    <dgm:pt modelId="{C1BA584B-90C5-463D-90D8-8FAF3A2488DE}" type="sibTrans" cxnId="{0B0B100A-846E-4F47-96FF-31919FA2F55B}">
      <dgm:prSet/>
      <dgm:spPr/>
      <dgm:t>
        <a:bodyPr/>
        <a:lstStyle/>
        <a:p>
          <a:endParaRPr lang="es-PE"/>
        </a:p>
      </dgm:t>
    </dgm:pt>
    <dgm:pt modelId="{5CD61128-9496-43E5-B1DA-E4AF39EF2C9C}">
      <dgm:prSet phldrT="[Texto]"/>
      <dgm:spPr>
        <a:solidFill>
          <a:schemeClr val="bg1"/>
        </a:solidFill>
      </dgm:spPr>
      <dgm:t>
        <a:bodyPr/>
        <a:lstStyle/>
        <a:p>
          <a:pPr marL="0" indent="0">
            <a:buNone/>
          </a:pPr>
          <a:endParaRPr lang="es-PE" b="0" dirty="0">
            <a:solidFill>
              <a:schemeClr val="tx1"/>
            </a:solidFill>
            <a:latin typeface="Segoe UI Light" panose="020B0502040204020203" pitchFamily="34" charset="0"/>
            <a:cs typeface="Segoe UI Light" panose="020B0502040204020203" pitchFamily="34" charset="0"/>
          </a:endParaRPr>
        </a:p>
      </dgm:t>
    </dgm:pt>
    <dgm:pt modelId="{CF8528A4-F314-4FB0-A4B0-CD83D08FD48E}" type="parTrans" cxnId="{46606FB6-E561-416D-B2EA-929627D6EFDF}">
      <dgm:prSet/>
      <dgm:spPr/>
      <dgm:t>
        <a:bodyPr/>
        <a:lstStyle/>
        <a:p>
          <a:endParaRPr lang="es-PE"/>
        </a:p>
      </dgm:t>
    </dgm:pt>
    <dgm:pt modelId="{690A372F-EB25-48B2-9886-429828C4525B}" type="sibTrans" cxnId="{46606FB6-E561-416D-B2EA-929627D6EFDF}">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92994" custLinFactNeighborX="184" custLinFactNeighborY="5800">
        <dgm:presLayoutVars>
          <dgm:bulletEnabled val="1"/>
        </dgm:presLayoutVars>
      </dgm:prSet>
      <dgm:spPr/>
    </dgm:pt>
  </dgm:ptLst>
  <dgm:cxnLst>
    <dgm:cxn modelId="{0B0B100A-846E-4F47-96FF-31919FA2F55B}" srcId="{CAF75882-B369-4E3C-9A27-B1D08B9FB9F3}" destId="{C1753A59-4D72-4BDB-9F2C-277E9364600A}" srcOrd="2" destOrd="0" parTransId="{5FD32B53-090F-4D1D-90F7-241C5DBEA6F1}" sibTransId="{C1BA584B-90C5-463D-90D8-8FAF3A2488DE}"/>
    <dgm:cxn modelId="{47833019-97C1-461F-9A46-FCB74980A8D4}" type="presOf" srcId="{BCFC16EB-5CE6-4B30-BC93-13367F99EE7A}" destId="{05BE5D02-8470-4663-8771-1FA3327D54CF}" srcOrd="0" destOrd="0" presId="urn:microsoft.com/office/officeart/2005/8/layout/list1"/>
    <dgm:cxn modelId="{F67F501C-1436-4150-B495-F2E13769D615}" type="presOf" srcId="{5F36FF5D-F643-4343-9E07-E0686DE1F07F}"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36C7BB33-3F90-4A1A-A33E-19E1D08A032F}" srcId="{CAF75882-B369-4E3C-9A27-B1D08B9FB9F3}" destId="{5F36FF5D-F643-4343-9E07-E0686DE1F07F}" srcOrd="1" destOrd="0" parTransId="{04A0A78A-62B5-40CD-B1B1-EF95B0B02EB0}" sibTransId="{A327FFC8-A11E-4F2E-AAE8-8DB83C6A543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46606FB6-E561-416D-B2EA-929627D6EFDF}" srcId="{CAF75882-B369-4E3C-9A27-B1D08B9FB9F3}" destId="{5CD61128-9496-43E5-B1DA-E4AF39EF2C9C}" srcOrd="3" destOrd="0" parTransId="{CF8528A4-F314-4FB0-A4B0-CD83D08FD48E}" sibTransId="{690A372F-EB25-48B2-9886-429828C4525B}"/>
    <dgm:cxn modelId="{B4081DB8-7822-4C4E-AF6D-0B6658D95EA0}" type="presOf" srcId="{5CD61128-9496-43E5-B1DA-E4AF39EF2C9C}" destId="{05BE5D02-8470-4663-8771-1FA3327D54CF}" srcOrd="0" destOrd="3" presId="urn:microsoft.com/office/officeart/2005/8/layout/list1"/>
    <dgm:cxn modelId="{EAFD4EE1-D98B-4E8A-B739-F6BC3133AA34}" type="presOf" srcId="{C1753A59-4D72-4BDB-9F2C-277E9364600A}"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Es la </a:t>
          </a:r>
          <a:r>
            <a:rPr lang="es-MX" b="1" i="0" dirty="0">
              <a:solidFill>
                <a:srgbClr val="1E2BFF"/>
              </a:solidFill>
              <a:effectLst/>
              <a:latin typeface="Segoe UI Light" panose="020B0502040204020203" pitchFamily="34" charset="0"/>
              <a:cs typeface="Segoe UI Light" panose="020B0502040204020203" pitchFamily="34" charset="0"/>
            </a:rPr>
            <a:t>secuencia visual de pasos </a:t>
          </a:r>
          <a:r>
            <a:rPr lang="es-MX" b="0" i="0" dirty="0">
              <a:effectLst/>
              <a:latin typeface="Segoe UI Light" panose="020B0502040204020203" pitchFamily="34" charset="0"/>
              <a:cs typeface="Segoe UI Light" panose="020B0502040204020203" pitchFamily="34" charset="0"/>
            </a:rPr>
            <a:t>que un usuario sigue dentro de una aplicación o sitio web </a:t>
          </a:r>
          <a:r>
            <a:rPr lang="es-MX" b="1" i="0" dirty="0">
              <a:solidFill>
                <a:srgbClr val="1E2BFF"/>
              </a:solidFill>
              <a:effectLst/>
              <a:latin typeface="Segoe UI Light" panose="020B0502040204020203" pitchFamily="34" charset="0"/>
              <a:cs typeface="Segoe UI Light" panose="020B0502040204020203" pitchFamily="34" charset="0"/>
            </a:rPr>
            <a:t>para completar una tarea específica </a:t>
          </a:r>
          <a:r>
            <a:rPr lang="es-MX" b="0" i="0" dirty="0">
              <a:effectLst/>
              <a:latin typeface="Segoe UI Light" panose="020B0502040204020203" pitchFamily="34" charset="0"/>
              <a:cs typeface="Segoe UI Light" panose="020B0502040204020203" pitchFamily="34" charset="0"/>
            </a:rPr>
            <a:t>(como iniciar sesión, comprar un producto o registrarse).
Muestra el camino lógico desde el punto de inicio hasta la meta final, mapeando cada pantalla, decisión (Sí / No) y acción que realiza la persona.</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2. Flujo de Usuario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PE" b="0" i="0" dirty="0">
              <a:effectLst/>
              <a:latin typeface="Segoe UI Light" panose="020B0502040204020203" pitchFamily="34" charset="0"/>
              <a:cs typeface="Segoe UI Light" panose="020B0502040204020203" pitchFamily="34" charset="0"/>
            </a:rPr>
            <a:t>Tres puntos clave:</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2. Flujo de Usuario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B94CBF67-DA1F-4A09-A6E7-8D7029437291}">
      <dgm:prSet phldrT="[Texto]"/>
      <dgm:spPr>
        <a:solidFill>
          <a:schemeClr val="bg1"/>
        </a:solidFill>
      </dgm:spPr>
      <dgm:t>
        <a:bodyPr/>
        <a:lstStyle/>
        <a:p>
          <a:pPr marL="0" indent="0">
            <a:buNone/>
          </a:pPr>
          <a:r>
            <a:rPr lang="es-MX" b="1" dirty="0">
              <a:solidFill>
                <a:srgbClr val="1E2BFF"/>
              </a:solidFill>
              <a:latin typeface="Segoe UI Light" panose="020B0502040204020203" pitchFamily="34" charset="0"/>
              <a:cs typeface="Segoe UI Light" panose="020B0502040204020203" pitchFamily="34" charset="0"/>
            </a:rPr>
            <a:t>El Enfoque (UX): </a:t>
          </a:r>
          <a:r>
            <a:rPr lang="es-MX" b="0" dirty="0">
              <a:solidFill>
                <a:schemeClr val="tx1"/>
              </a:solidFill>
              <a:latin typeface="Segoe UI Light" panose="020B0502040204020203" pitchFamily="34" charset="0"/>
              <a:cs typeface="Segoe UI Light" panose="020B0502040204020203" pitchFamily="34" charset="0"/>
            </a:rPr>
            <a:t>Ayuda a garantizar que la navegación sea intuitiva, rápida y sin fricciones, anticipando las decisiones del usuario.
</a:t>
          </a:r>
          <a:r>
            <a:rPr lang="es-MX" b="1" dirty="0">
              <a:solidFill>
                <a:srgbClr val="1E2BFF"/>
              </a:solidFill>
              <a:latin typeface="Segoe UI Light" panose="020B0502040204020203" pitchFamily="34" charset="0"/>
              <a:cs typeface="Segoe UI Light" panose="020B0502040204020203" pitchFamily="34" charset="0"/>
            </a:rPr>
            <a:t>La Estructura (UI): </a:t>
          </a:r>
          <a:r>
            <a:rPr lang="es-MX" b="0" dirty="0">
              <a:solidFill>
                <a:schemeClr val="tx1"/>
              </a:solidFill>
              <a:latin typeface="Segoe UI Light" panose="020B0502040204020203" pitchFamily="34" charset="0"/>
              <a:cs typeface="Segoe UI Light" panose="020B0502040204020203" pitchFamily="34" charset="0"/>
            </a:rPr>
            <a:t>Funciona como el mapa técnico antes de diseñar las pantallas finales; define qué interfaces se necesitan y cómo se conectan entre sí.
</a:t>
          </a:r>
          <a:r>
            <a:rPr lang="es-MX" b="1" dirty="0">
              <a:solidFill>
                <a:srgbClr val="1E2BFF"/>
              </a:solidFill>
              <a:latin typeface="Segoe UI Light" panose="020B0502040204020203" pitchFamily="34" charset="0"/>
              <a:cs typeface="Segoe UI Light" panose="020B0502040204020203" pitchFamily="34" charset="0"/>
            </a:rPr>
            <a:t>El Objetivo: </a:t>
          </a:r>
          <a:r>
            <a:rPr lang="es-MX" b="0" dirty="0">
              <a:solidFill>
                <a:schemeClr val="tx1"/>
              </a:solidFill>
              <a:latin typeface="Segoe UI Light" panose="020B0502040204020203" pitchFamily="34" charset="0"/>
              <a:cs typeface="Segoe UI Light" panose="020B0502040204020203" pitchFamily="34" charset="0"/>
            </a:rPr>
            <a:t>Evitar callejones sin salida y optimizar la experiencia para que el usuario logre su meta con el menor número de clics posible.</a:t>
          </a:r>
          <a:endParaRPr lang="es-PE" b="0" dirty="0">
            <a:solidFill>
              <a:schemeClr val="tx1"/>
            </a:solidFill>
            <a:latin typeface="Segoe UI Light" panose="020B0502040204020203" pitchFamily="34" charset="0"/>
            <a:cs typeface="Segoe UI Light" panose="020B0502040204020203" pitchFamily="34" charset="0"/>
          </a:endParaRPr>
        </a:p>
      </dgm:t>
    </dgm:pt>
    <dgm:pt modelId="{F78C9741-B04F-48F7-B71A-A31CEA6FAFB2}" type="parTrans" cxnId="{FAA704B1-14DB-4D91-8A61-D579BCD44EDC}">
      <dgm:prSet/>
      <dgm:spPr/>
    </dgm:pt>
    <dgm:pt modelId="{DDEADA39-D5E7-44CB-B21A-9B2DB2561C3A}" type="sibTrans" cxnId="{FAA704B1-14DB-4D91-8A61-D579BCD44EDC}">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137C3D28-C7B8-4289-9418-A02A48E3EBD9}" type="presOf" srcId="{B94CBF67-DA1F-4A09-A6E7-8D7029437291}"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FAA704B1-14DB-4D91-8A61-D579BCD44EDC}" srcId="{CAF75882-B369-4E3C-9A27-B1D08B9FB9F3}" destId="{B94CBF67-DA1F-4A09-A6E7-8D7029437291}" srcOrd="1" destOrd="0" parTransId="{F78C9741-B04F-48F7-B71A-A31CEA6FAFB2}" sibTransId="{DDEADA39-D5E7-44CB-B21A-9B2DB2561C3A}"/>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Secuencia de Flujo para una operación de registro de cita.</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2. Flujo de Usuario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Nos ayuda a </a:t>
          </a:r>
          <a:r>
            <a:rPr lang="es-MX" b="1" i="0" dirty="0">
              <a:solidFill>
                <a:srgbClr val="1E2BFF"/>
              </a:solidFill>
              <a:effectLst/>
              <a:latin typeface="Segoe UI Light" panose="020B0502040204020203" pitchFamily="34" charset="0"/>
              <a:cs typeface="Segoe UI Light" panose="020B0502040204020203" pitchFamily="34" charset="0"/>
            </a:rPr>
            <a:t>organizar todas las secciones y subsecciones </a:t>
          </a:r>
          <a:r>
            <a:rPr lang="es-MX" b="0" i="0" dirty="0">
              <a:effectLst/>
              <a:latin typeface="Segoe UI Light" panose="020B0502040204020203" pitchFamily="34" charset="0"/>
              <a:cs typeface="Segoe UI Light" panose="020B0502040204020203" pitchFamily="34" charset="0"/>
            </a:rPr>
            <a:t>que tendrá el producto, y cómo estarán conectadas.</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3. Mapa del Sitio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Si el </a:t>
          </a:r>
          <a:r>
            <a:rPr lang="es-MX" b="1" i="0" dirty="0">
              <a:solidFill>
                <a:srgbClr val="1E2BFF"/>
              </a:solidFill>
              <a:effectLst/>
              <a:latin typeface="Segoe UI Light" panose="020B0502040204020203" pitchFamily="34" charset="0"/>
              <a:cs typeface="Segoe UI Light" panose="020B0502040204020203" pitchFamily="34" charset="0"/>
            </a:rPr>
            <a:t>Mapa de Sitio define la estructura </a:t>
          </a:r>
          <a:r>
            <a:rPr lang="es-MX" b="0" i="0" dirty="0">
              <a:effectLst/>
              <a:latin typeface="Segoe UI Light" panose="020B0502040204020203" pitchFamily="34" charset="0"/>
              <a:cs typeface="Segoe UI Light" panose="020B0502040204020203" pitchFamily="34" charset="0"/>
            </a:rPr>
            <a:t>estática del producto (el "qué hay"), el </a:t>
          </a:r>
          <a:r>
            <a:rPr lang="es-MX" b="1" i="0" dirty="0">
              <a:solidFill>
                <a:srgbClr val="1E2BFF"/>
              </a:solidFill>
              <a:effectLst/>
              <a:latin typeface="Segoe UI Light" panose="020B0502040204020203" pitchFamily="34" charset="0"/>
              <a:cs typeface="Segoe UI Light" panose="020B0502040204020203" pitchFamily="34" charset="0"/>
            </a:rPr>
            <a:t>Flujo de Usuario define la experiencia </a:t>
          </a:r>
          <a:r>
            <a:rPr lang="es-MX" b="0" i="0" dirty="0">
              <a:effectLst/>
              <a:latin typeface="Segoe UI Light" panose="020B0502040204020203" pitchFamily="34" charset="0"/>
              <a:cs typeface="Segoe UI Light" panose="020B0502040204020203" pitchFamily="34" charset="0"/>
            </a:rPr>
            <a:t>dinámica (el "cómo se usa").</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3. Mapa del Sitio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i="0" dirty="0">
              <a:effectLst/>
              <a:latin typeface="Segoe UI Light" panose="020B0502040204020203" pitchFamily="34" charset="0"/>
              <a:cs typeface="Segoe UI Light" panose="020B0502040204020203" pitchFamily="34" charset="0"/>
            </a:rPr>
            <a:t>¿Qué es un </a:t>
          </a:r>
          <a:r>
            <a:rPr lang="es-MX" b="1" i="0" dirty="0" err="1">
              <a:effectLst/>
              <a:latin typeface="Segoe UI Light" panose="020B0502040204020203" pitchFamily="34" charset="0"/>
              <a:cs typeface="Segoe UI Light" panose="020B0502040204020203" pitchFamily="34" charset="0"/>
            </a:rPr>
            <a:t>Wireframe</a:t>
          </a:r>
          <a:r>
            <a:rPr lang="es-MX" b="1" i="0" dirty="0">
              <a:effectLst/>
              <a:latin typeface="Segoe UI Light" panose="020B0502040204020203" pitchFamily="34" charset="0"/>
              <a:cs typeface="Segoe UI Light" panose="020B0502040204020203" pitchFamily="34" charset="0"/>
            </a:rPr>
            <a:t>?</a:t>
          </a:r>
          <a:r>
            <a:rPr lang="es-MX" b="0" i="0" dirty="0">
              <a:effectLst/>
              <a:latin typeface="Segoe UI Light" panose="020B0502040204020203" pitchFamily="34" charset="0"/>
              <a:cs typeface="Segoe UI Light" panose="020B0502040204020203" pitchFamily="34" charset="0"/>
            </a:rPr>
            <a:t>
</a:t>
          </a:r>
          <a:r>
            <a:rPr lang="es-MX" b="1" i="0" dirty="0">
              <a:solidFill>
                <a:srgbClr val="1E2BFF"/>
              </a:solidFill>
              <a:effectLst/>
              <a:latin typeface="Segoe UI Light" panose="020B0502040204020203" pitchFamily="34" charset="0"/>
              <a:cs typeface="Segoe UI Light" panose="020B0502040204020203" pitchFamily="34" charset="0"/>
            </a:rPr>
            <a:t>Es un esquema o boceto en baja fidelidad que representa la estructura visual </a:t>
          </a:r>
          <a:r>
            <a:rPr lang="es-MX" b="0" i="0" dirty="0">
              <a:effectLst/>
              <a:latin typeface="Segoe UI Light" panose="020B0502040204020203" pitchFamily="34" charset="0"/>
              <a:cs typeface="Segoe UI Light" panose="020B0502040204020203" pitchFamily="34" charset="0"/>
            </a:rPr>
            <a:t>e industrial de una interfaz digital (sitio web o aplicación). </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4. El </a:t>
          </a:r>
          <a:r>
            <a:rPr lang="es-PE" sz="2400" dirty="0" err="1">
              <a:latin typeface="Oswald" panose="00000500000000000000" pitchFamily="2" charset="0"/>
            </a:rPr>
            <a:t>Wireframe</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BA45C283-3AC2-41B4-BDD6-BD504E229FA7}">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Se centra exclusivamente en la organización del contenido, la jerarquía de la información y la funcionalidad, </a:t>
          </a:r>
          <a:r>
            <a:rPr lang="es-MX" b="1" i="0" dirty="0">
              <a:solidFill>
                <a:srgbClr val="1E2BFF"/>
              </a:solidFill>
              <a:effectLst/>
              <a:latin typeface="Segoe UI Light" panose="020B0502040204020203" pitchFamily="34" charset="0"/>
              <a:cs typeface="Segoe UI Light" panose="020B0502040204020203" pitchFamily="34" charset="0"/>
            </a:rPr>
            <a:t>dejando de lado por completo los elementos estéticos</a:t>
          </a:r>
          <a:r>
            <a:rPr lang="es-MX" b="0" i="0" dirty="0">
              <a:effectLst/>
              <a:latin typeface="Segoe UI Light" panose="020B0502040204020203" pitchFamily="34" charset="0"/>
              <a:cs typeface="Segoe UI Light" panose="020B0502040204020203" pitchFamily="34" charset="0"/>
            </a:rPr>
            <a:t> como colores, tipografías finales o imágenes.</a:t>
          </a:r>
          <a:endParaRPr lang="es-PE" b="0" dirty="0">
            <a:solidFill>
              <a:srgbClr val="0000CC"/>
            </a:solidFill>
            <a:latin typeface="Segoe UI Light" panose="020B0502040204020203" pitchFamily="34" charset="0"/>
            <a:cs typeface="Segoe UI Light" panose="020B0502040204020203" pitchFamily="34" charset="0"/>
          </a:endParaRPr>
        </a:p>
      </dgm:t>
    </dgm:pt>
    <dgm:pt modelId="{F6CE5AA1-AC12-48DF-A711-309982E312C1}" type="parTrans" cxnId="{DEB561CE-65FF-4075-8F7D-5F69D3AA64E4}">
      <dgm:prSet/>
      <dgm:spPr/>
      <dgm:t>
        <a:bodyPr/>
        <a:lstStyle/>
        <a:p>
          <a:endParaRPr lang="es-PE"/>
        </a:p>
      </dgm:t>
    </dgm:pt>
    <dgm:pt modelId="{82CE97B1-ED60-454C-B1F4-2459F5A52599}" type="sibTrans" cxnId="{DEB561CE-65FF-4075-8F7D-5F69D3AA64E4}">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DEB561CE-65FF-4075-8F7D-5F69D3AA64E4}" srcId="{CAF75882-B369-4E3C-9A27-B1D08B9FB9F3}" destId="{BA45C283-3AC2-41B4-BDD6-BD504E229FA7}" srcOrd="1" destOrd="0" parTransId="{F6CE5AA1-AC12-48DF-A711-309982E312C1}" sibTransId="{82CE97B1-ED60-454C-B1F4-2459F5A52599}"/>
    <dgm:cxn modelId="{C68F80E1-A10E-4795-BB11-D1F9ED61E14A}" type="presOf" srcId="{BA45C283-3AC2-41B4-BDD6-BD504E229FA7}" destId="{05BE5D02-8470-4663-8771-1FA3327D54CF}" srcOrd="0" destOrd="1"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Podemos plasmarlo a través de cualquier medio, desde un Lápiz y papel hasta un diseño elaborado por Software.</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4. El </a:t>
          </a:r>
          <a:r>
            <a:rPr lang="es-PE" sz="2400" dirty="0" err="1">
              <a:latin typeface="Oswald" panose="00000500000000000000" pitchFamily="2" charset="0"/>
            </a:rPr>
            <a:t>Wireframe</a:t>
          </a:r>
          <a:endParaRPr lang="es-PE" sz="2400" dirty="0">
            <a:latin typeface="Oswald" panose="00000500000000000000" pitchFamily="2" charset="0"/>
          </a:endParaRP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E052EAF4-4FB2-4276-A7ED-4052BCEB741C}">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Incluso podemos ir más allá, ir definiendo colores, tamaños, tipografías específicos, etc.</a:t>
          </a:r>
          <a:endParaRPr lang="es-PE" b="0" dirty="0">
            <a:solidFill>
              <a:schemeClr val="tx1"/>
            </a:solidFill>
            <a:latin typeface="Segoe UI Light" panose="020B0502040204020203" pitchFamily="34" charset="0"/>
            <a:cs typeface="Segoe UI Light" panose="020B0502040204020203" pitchFamily="34" charset="0"/>
          </a:endParaRPr>
        </a:p>
      </dgm:t>
    </dgm:pt>
    <dgm:pt modelId="{CC7FB681-0390-4407-8B87-A0A2D009D7F7}" type="parTrans" cxnId="{6AE2413F-9554-43FE-8F8A-275164752BE2}">
      <dgm:prSet/>
      <dgm:spPr/>
      <dgm:t>
        <a:bodyPr/>
        <a:lstStyle/>
        <a:p>
          <a:endParaRPr lang="es-PE"/>
        </a:p>
      </dgm:t>
    </dgm:pt>
    <dgm:pt modelId="{4273BA1F-1150-4EC6-B681-F1527D7B7394}" type="sibTrans" cxnId="{6AE2413F-9554-43FE-8F8A-275164752BE2}">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6AE2413F-9554-43FE-8F8A-275164752BE2}" srcId="{CAF75882-B369-4E3C-9A27-B1D08B9FB9F3}" destId="{E052EAF4-4FB2-4276-A7ED-4052BCEB741C}" srcOrd="1" destOrd="0" parTransId="{CC7FB681-0390-4407-8B87-A0A2D009D7F7}" sibTransId="{4273BA1F-1150-4EC6-B681-F1527D7B7394}"/>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487432D9-31C1-453E-9A0D-ABA4F339346C}" type="presOf" srcId="{E052EAF4-4FB2-4276-A7ED-4052BCEB741C}" destId="{05BE5D02-8470-4663-8771-1FA3327D54CF}" srcOrd="0" destOrd="1"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Es aquí donde llevamos a la acción toda la planeación, además de explotar todas nuestras habilidades técnicas y creativas.</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5. Diseño de Alta Fidelidad</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4A9E44DD-F4F3-4D39-8AD6-E8868EE1C183}">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 donde los elementos anteriores nos llevan a la máxima productividad.</a:t>
          </a:r>
          <a:endParaRPr lang="es-PE" b="0" dirty="0">
            <a:solidFill>
              <a:schemeClr val="tx1"/>
            </a:solidFill>
            <a:latin typeface="Segoe UI Light" panose="020B0502040204020203" pitchFamily="34" charset="0"/>
            <a:cs typeface="Segoe UI Light" panose="020B0502040204020203" pitchFamily="34" charset="0"/>
          </a:endParaRPr>
        </a:p>
      </dgm:t>
    </dgm:pt>
    <dgm:pt modelId="{7A3E4F82-84A6-46D8-816D-707C1AF889F4}" type="parTrans" cxnId="{6E72A43E-C63E-49E8-A594-6B6CAE33D6FB}">
      <dgm:prSet/>
      <dgm:spPr/>
      <dgm:t>
        <a:bodyPr/>
        <a:lstStyle/>
        <a:p>
          <a:endParaRPr lang="es-PE"/>
        </a:p>
      </dgm:t>
    </dgm:pt>
    <dgm:pt modelId="{F5F064D1-454C-4B12-955F-B956E8EC1581}" type="sibTrans" cxnId="{6E72A43E-C63E-49E8-A594-6B6CAE33D6FB}">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6E72A43E-C63E-49E8-A594-6B6CAE33D6FB}" srcId="{CAF75882-B369-4E3C-9A27-B1D08B9FB9F3}" destId="{4A9E44DD-F4F3-4D39-8AD6-E8868EE1C183}" srcOrd="1" destOrd="0" parTransId="{7A3E4F82-84A6-46D8-816D-707C1AF889F4}" sibTransId="{F5F064D1-454C-4B12-955F-B956E8EC158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3FAEC459-0BDC-4434-A1B4-ED02584DE768}" type="presOf" srcId="{4A9E44DD-F4F3-4D39-8AD6-E8868EE1C183}" destId="{05BE5D02-8470-4663-8771-1FA3327D54CF}" srcOrd="0" destOrd="1"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Así empezamos a diseñar directamente los elementos sin perder tiempo valioso en planeación o validación.</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5. Diseño de Alta Fidelidad</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BCFDBB2D-170C-45D6-80FF-816D2EA8764C}">
      <dgm:prSet/>
      <dgm:spPr/>
      <dgm:t>
        <a:bodyPr/>
        <a:lstStyle/>
        <a:p>
          <a:pPr marL="0" indent="0">
            <a:buNone/>
          </a:pPr>
          <a:r>
            <a:rPr lang="es-MX" b="0" i="0" dirty="0">
              <a:effectLst/>
              <a:latin typeface="Segoe UI Light" panose="020B0502040204020203" pitchFamily="34" charset="0"/>
              <a:cs typeface="Segoe UI Light" panose="020B0502040204020203" pitchFamily="34" charset="0"/>
            </a:rPr>
            <a:t>Para eso es indispensable contar con un Sistema de Diseño o Guía de estilos</a:t>
          </a:r>
          <a:endParaRPr lang="es-PE" b="0" i="0" dirty="0">
            <a:effectLst/>
            <a:latin typeface="Segoe UI Light" panose="020B0502040204020203" pitchFamily="34" charset="0"/>
            <a:cs typeface="Segoe UI Light" panose="020B0502040204020203" pitchFamily="34" charset="0"/>
          </a:endParaRPr>
        </a:p>
      </dgm:t>
    </dgm:pt>
    <dgm:pt modelId="{848C7E30-CC57-48FC-8B0F-795CD55E830B}" type="parTrans" cxnId="{2363F2FB-8F2F-4121-A2B0-C981ACE5A5B5}">
      <dgm:prSet/>
      <dgm:spPr/>
      <dgm:t>
        <a:bodyPr/>
        <a:lstStyle/>
        <a:p>
          <a:endParaRPr lang="es-PE"/>
        </a:p>
      </dgm:t>
    </dgm:pt>
    <dgm:pt modelId="{9B031385-E1CA-4A01-B30E-4E91CC88F5B0}" type="sibTrans" cxnId="{2363F2FB-8F2F-4121-A2B0-C981ACE5A5B5}">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BE6FD23-1048-4237-BD4B-F606EEFEEAE4}" type="presOf" srcId="{BCFDBB2D-170C-45D6-80FF-816D2EA8764C}" destId="{05BE5D02-8470-4663-8771-1FA3327D54CF}" srcOrd="0" destOrd="1"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2363F2FB-8F2F-4121-A2B0-C981ACE5A5B5}" srcId="{CAF75882-B369-4E3C-9A27-B1D08B9FB9F3}" destId="{BCFDBB2D-170C-45D6-80FF-816D2EA8764C}" srcOrd="1" destOrd="0" parTransId="{848C7E30-CC57-48FC-8B0F-795CD55E830B}" sibTransId="{9B031385-E1CA-4A01-B30E-4E91CC88F5B0}"/>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1.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Naturalmente debemos llevar el desarrollo en base a ambas versiones, colaborando con el diseño responsive, que se ejecute en la etapa de construcción.</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5. Diseño de Alta Fidelidad</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2.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Otra cosa importante es llevar los diseños orgánicamente , según el flujo lógico del usuario.
Hacer esto beneficia grandemente la etapa del prototipado.</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5. Diseño de Alta Fidelidad</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3.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Además también, que al final del flujo haya el retorno de ciclo, para no dejar estancada la </a:t>
          </a:r>
          <a:r>
            <a:rPr lang="es-MX" b="0" i="0" dirty="0" err="1">
              <a:effectLst/>
              <a:latin typeface="Segoe UI Light" panose="020B0502040204020203" pitchFamily="34" charset="0"/>
              <a:cs typeface="Segoe UI Light" panose="020B0502040204020203" pitchFamily="34" charset="0"/>
            </a:rPr>
            <a:t>iteracción</a:t>
          </a:r>
          <a:r>
            <a:rPr lang="es-MX" b="0" i="0" dirty="0">
              <a:effectLst/>
              <a:latin typeface="Segoe UI Light" panose="020B0502040204020203" pitchFamily="34" charset="0"/>
              <a:cs typeface="Segoe UI Light" panose="020B0502040204020203" pitchFamily="34" charset="0"/>
            </a:rPr>
            <a:t>.</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5. Diseño de Alta Fidelidad</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4.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effectLst/>
              <a:latin typeface="Segoe UI Light" panose="020B0502040204020203" pitchFamily="34" charset="0"/>
              <a:cs typeface="Segoe UI Light" panose="020B0502040204020203" pitchFamily="34" charset="0"/>
            </a:rPr>
            <a:t>“</a:t>
          </a:r>
          <a:r>
            <a:rPr lang="es-MX" b="1" i="0" dirty="0">
              <a:solidFill>
                <a:srgbClr val="1E2BFF"/>
              </a:solidFill>
              <a:effectLst/>
              <a:latin typeface="Segoe UI Light" panose="020B0502040204020203" pitchFamily="34" charset="0"/>
              <a:cs typeface="Segoe UI Light" panose="020B0502040204020203" pitchFamily="34" charset="0"/>
            </a:rPr>
            <a:t>Del concepto a la experiencia</a:t>
          </a:r>
          <a:r>
            <a:rPr lang="es-MX" b="0" i="0" dirty="0">
              <a:effectLst/>
              <a:latin typeface="Segoe UI Light" panose="020B0502040204020203" pitchFamily="34" charset="0"/>
              <a:cs typeface="Segoe UI Light" panose="020B0502040204020203" pitchFamily="34" charset="0"/>
            </a:rPr>
            <a:t>: el prototipo muestra el flujo real del usuario.”</a:t>
          </a:r>
          <a:endParaRPr lang="es-PE" b="0" dirty="0">
            <a:solidFill>
              <a:srgbClr val="0000CC"/>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6. El Prototipado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B4433D88-87DA-4F7C-8F99-350D52DFBBCB}">
      <dgm:prSet phldrT="[Texto]"/>
      <dgm:spPr>
        <a:solidFill>
          <a:schemeClr val="bg1"/>
        </a:solidFill>
      </dgm:spPr>
      <dgm:t>
        <a:bodyPr/>
        <a:lstStyle/>
        <a:p>
          <a:pPr marL="0" indent="0">
            <a:buNone/>
          </a:pPr>
          <a:r>
            <a:rPr lang="es-MX" b="1" dirty="0">
              <a:solidFill>
                <a:srgbClr val="1E2BFF"/>
              </a:solidFill>
              <a:latin typeface="Segoe UI Light" panose="020B0502040204020203" pitchFamily="34" charset="0"/>
              <a:cs typeface="Segoe UI Light" panose="020B0502040204020203" pitchFamily="34" charset="0"/>
            </a:rPr>
            <a:t>El prototipado es la etapa donde el diseño cobra vida</a:t>
          </a:r>
          <a:r>
            <a:rPr lang="es-MX" b="0" dirty="0">
              <a:solidFill>
                <a:schemeClr val="tx1"/>
              </a:solidFill>
              <a:latin typeface="Segoe UI Light" panose="020B0502040204020203" pitchFamily="34" charset="0"/>
              <a:cs typeface="Segoe UI Light" panose="020B0502040204020203" pitchFamily="34" charset="0"/>
            </a:rPr>
            <a:t>, permitiendo visualizar la interacción real del usuario con el producto y detectar posibles errores u oportunidades de mejora antes de su implementación final.</a:t>
          </a:r>
          <a:endParaRPr lang="es-PE" b="0" dirty="0">
            <a:solidFill>
              <a:schemeClr val="tx1"/>
            </a:solidFill>
            <a:latin typeface="Segoe UI Light" panose="020B0502040204020203" pitchFamily="34" charset="0"/>
            <a:cs typeface="Segoe UI Light" panose="020B0502040204020203" pitchFamily="34" charset="0"/>
          </a:endParaRPr>
        </a:p>
      </dgm:t>
    </dgm:pt>
    <dgm:pt modelId="{F388CC9D-C4D7-4FEA-9A01-52645825996C}" type="parTrans" cxnId="{9F804818-A95D-4F70-A93A-B1A9ECD8A976}">
      <dgm:prSet/>
      <dgm:spPr/>
      <dgm:t>
        <a:bodyPr/>
        <a:lstStyle/>
        <a:p>
          <a:endParaRPr lang="es-PE"/>
        </a:p>
      </dgm:t>
    </dgm:pt>
    <dgm:pt modelId="{90E2CA83-F211-479A-ADF1-340F16019161}" type="sibTrans" cxnId="{9F804818-A95D-4F70-A93A-B1A9ECD8A976}">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9F804818-A95D-4F70-A93A-B1A9ECD8A976}" srcId="{CAF75882-B369-4E3C-9A27-B1D08B9FB9F3}" destId="{B4433D88-87DA-4F7C-8F99-350D52DFBBCB}" srcOrd="1" destOrd="0" parTransId="{F388CC9D-C4D7-4FEA-9A01-52645825996C}" sibTransId="{90E2CA83-F211-479A-ADF1-340F16019161}"/>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82E1DA3-3438-426D-82DF-5354CF5C43E9}" type="presOf" srcId="{B4433D88-87DA-4F7C-8F99-350D52DFBBCB}" destId="{05BE5D02-8470-4663-8771-1FA3327D54CF}" srcOrd="0" destOrd="1" presId="urn:microsoft.com/office/officeart/2005/8/layout/list1"/>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5.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solidFill>
                <a:schemeClr val="tx1"/>
              </a:solidFill>
              <a:effectLst/>
              <a:latin typeface="Segoe UI Light" panose="020B0502040204020203" pitchFamily="34" charset="0"/>
              <a:cs typeface="Segoe UI Light" panose="020B0502040204020203" pitchFamily="34" charset="0"/>
            </a:rPr>
            <a:t>Aquí es importante conectar los elementos apropiados con el flujo de acción.</a:t>
          </a:r>
          <a:endParaRPr lang="es-PE" b="0"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6. El Prototipado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63BD3907-AF58-4012-A137-D95EC18B4E0C}">
      <dgm:prSet/>
      <dgm:spPr/>
      <dgm:t>
        <a:bodyPr/>
        <a:lstStyle/>
        <a:p>
          <a:pPr marL="0" indent="0">
            <a:buNone/>
          </a:pPr>
          <a:r>
            <a:rPr lang="es-MX" b="0" i="0" dirty="0">
              <a:solidFill>
                <a:schemeClr val="tx1"/>
              </a:solidFill>
              <a:effectLst/>
              <a:latin typeface="Segoe UI Light" panose="020B0502040204020203" pitchFamily="34" charset="0"/>
              <a:cs typeface="Segoe UI Light" panose="020B0502040204020203" pitchFamily="34" charset="0"/>
            </a:rPr>
            <a:t>No olvidarnos incluir lo elementos de retorno en el flujo de desarrollo.</a:t>
          </a:r>
          <a:endParaRPr lang="es-PE" b="0" i="0" dirty="0">
            <a:solidFill>
              <a:schemeClr val="tx1"/>
            </a:solidFill>
            <a:effectLst/>
            <a:latin typeface="Segoe UI Light" panose="020B0502040204020203" pitchFamily="34" charset="0"/>
            <a:cs typeface="Segoe UI Light" panose="020B0502040204020203" pitchFamily="34" charset="0"/>
          </a:endParaRPr>
        </a:p>
      </dgm:t>
    </dgm:pt>
    <dgm:pt modelId="{01C957B2-D69C-4698-8EE1-B6D8F1AF7D9C}" type="parTrans" cxnId="{67944FF7-836D-4C9A-B0A5-14CDE68ABDC9}">
      <dgm:prSet/>
      <dgm:spPr/>
      <dgm:t>
        <a:bodyPr/>
        <a:lstStyle/>
        <a:p>
          <a:endParaRPr lang="es-PE"/>
        </a:p>
      </dgm:t>
    </dgm:pt>
    <dgm:pt modelId="{3CFFD845-C9F9-4195-8F0B-3B95E11ABE64}" type="sibTrans" cxnId="{67944FF7-836D-4C9A-B0A5-14CDE68ABDC9}">
      <dgm:prSet/>
      <dgm:spPr/>
      <dgm:t>
        <a:bodyPr/>
        <a:lstStyle/>
        <a:p>
          <a:endParaRPr lang="es-PE"/>
        </a:p>
      </dgm:t>
    </dgm:pt>
    <dgm:pt modelId="{804F8AF1-612F-4CEE-A684-278B5FB908C0}">
      <dgm:prSet phldrT="[Texto]"/>
      <dgm:spPr>
        <a:solidFill>
          <a:schemeClr val="bg1"/>
        </a:solidFill>
      </dgm:spPr>
      <dgm:t>
        <a:bodyPr/>
        <a:lstStyle/>
        <a:p>
          <a:pPr marL="0" indent="0">
            <a:buNone/>
          </a:pPr>
          <a:endParaRPr lang="es-PE" b="0" dirty="0">
            <a:solidFill>
              <a:schemeClr val="tx1"/>
            </a:solidFill>
            <a:latin typeface="Segoe UI Light" panose="020B0502040204020203" pitchFamily="34" charset="0"/>
            <a:cs typeface="Segoe UI Light" panose="020B0502040204020203" pitchFamily="34" charset="0"/>
          </a:endParaRPr>
        </a:p>
      </dgm:t>
    </dgm:pt>
    <dgm:pt modelId="{C9BD0C0D-A6A4-4C0C-A46B-CC724FC9E794}" type="parTrans" cxnId="{AE59A2C5-64A0-42FB-A900-C9C99C67900E}">
      <dgm:prSet/>
      <dgm:spPr/>
    </dgm:pt>
    <dgm:pt modelId="{80445B47-AB79-46AC-9F80-3CDC2770A373}" type="sibTrans" cxnId="{AE59A2C5-64A0-42FB-A900-C9C99C67900E}">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B4FE2134-C8C1-4F27-8562-883B527BE2AB}" type="presOf" srcId="{804F8AF1-612F-4CEE-A684-278B5FB908C0}" destId="{05BE5D02-8470-4663-8771-1FA3327D54CF}" srcOrd="0" destOrd="1" presId="urn:microsoft.com/office/officeart/2005/8/layout/list1"/>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F951E3B7-3BC3-4C27-BC33-6E95E4D3CD92}" type="presOf" srcId="{63BD3907-AF58-4012-A137-D95EC18B4E0C}" destId="{05BE5D02-8470-4663-8771-1FA3327D54CF}" srcOrd="0" destOrd="2" presId="urn:microsoft.com/office/officeart/2005/8/layout/list1"/>
    <dgm:cxn modelId="{AE59A2C5-64A0-42FB-A900-C9C99C67900E}" srcId="{CAF75882-B369-4E3C-9A27-B1D08B9FB9F3}" destId="{804F8AF1-612F-4CEE-A684-278B5FB908C0}" srcOrd="1" destOrd="0" parTransId="{C9BD0C0D-A6A4-4C0C-A46B-CC724FC9E794}" sibTransId="{80445B47-AB79-46AC-9F80-3CDC2770A373}"/>
    <dgm:cxn modelId="{67944FF7-836D-4C9A-B0A5-14CDE68ABDC9}" srcId="{CAF75882-B369-4E3C-9A27-B1D08B9FB9F3}" destId="{63BD3907-AF58-4012-A137-D95EC18B4E0C}" srcOrd="2" destOrd="0" parTransId="{01C957B2-D69C-4698-8EE1-B6D8F1AF7D9C}" sibTransId="{3CFFD845-C9F9-4195-8F0B-3B95E11ABE64}"/>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6.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0" i="0" dirty="0">
              <a:solidFill>
                <a:schemeClr val="tx1"/>
              </a:solidFill>
              <a:effectLst/>
              <a:latin typeface="Segoe UI Light" panose="020B0502040204020203" pitchFamily="34" charset="0"/>
              <a:cs typeface="Segoe UI Light" panose="020B0502040204020203" pitchFamily="34" charset="0"/>
            </a:rPr>
            <a:t>Una buena práctica en el prototipado, es agregar un índice que permita la revisión fluida al desarrollo realizado. </a:t>
          </a:r>
          <a:endParaRPr lang="es-PE" b="0"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6. El Prototipado</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7.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i="0" dirty="0">
              <a:solidFill>
                <a:schemeClr val="tx1"/>
              </a:solidFill>
              <a:effectLst/>
              <a:latin typeface="Segoe UI Light" panose="020B0502040204020203" pitchFamily="34" charset="0"/>
              <a:cs typeface="Segoe UI Light" panose="020B0502040204020203" pitchFamily="34" charset="0"/>
            </a:rPr>
            <a:t>Terminar el Diseño no termina el proceso del desarrollo del producto</a:t>
          </a:r>
          <a:r>
            <a:rPr lang="es-MX" b="0" i="0" dirty="0">
              <a:solidFill>
                <a:schemeClr val="tx1"/>
              </a:solidFill>
              <a:effectLst/>
              <a:latin typeface="Segoe UI Light" panose="020B0502040204020203" pitchFamily="34" charset="0"/>
              <a:cs typeface="Segoe UI Light" panose="020B0502040204020203" pitchFamily="34" charset="0"/>
            </a:rPr>
            <a:t>.</a:t>
          </a:r>
          <a:endParaRPr lang="es-PE" b="0"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3FB25350-AE44-42AF-A7EA-03126B1E5C84}">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Nuestros proyectos tendrán interacción con diferentes áreas y personas, para los cuales debemos preparar distintos elementos según sea el caso.</a:t>
          </a:r>
          <a:endParaRPr lang="es-PE" b="0" dirty="0">
            <a:solidFill>
              <a:schemeClr val="tx1"/>
            </a:solidFill>
            <a:latin typeface="Segoe UI Light" panose="020B0502040204020203" pitchFamily="34" charset="0"/>
            <a:cs typeface="Segoe UI Light" panose="020B0502040204020203" pitchFamily="34" charset="0"/>
          </a:endParaRPr>
        </a:p>
      </dgm:t>
    </dgm:pt>
    <dgm:pt modelId="{D232FE57-0C90-4A02-96E4-88B389B7D447}" type="parTrans" cxnId="{958B95C6-FA94-472F-91EF-0F7AA70C76D5}">
      <dgm:prSet/>
      <dgm:spPr/>
      <dgm:t>
        <a:bodyPr/>
        <a:lstStyle/>
        <a:p>
          <a:endParaRPr lang="es-PE"/>
        </a:p>
      </dgm:t>
    </dgm:pt>
    <dgm:pt modelId="{11A4ECA3-FEFC-4674-A7B9-AF43DED03E7D}" type="sibTrans" cxnId="{958B95C6-FA94-472F-91EF-0F7AA70C76D5}">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A2F367B0-53E4-4E73-A6B0-D86D86F9E175}" type="presOf" srcId="{CAF75882-B369-4E3C-9A27-B1D08B9FB9F3}" destId="{90DF8371-C9F4-40C7-AA24-BFAE745C0D97}" srcOrd="1" destOrd="0" presId="urn:microsoft.com/office/officeart/2005/8/layout/list1"/>
    <dgm:cxn modelId="{958B95C6-FA94-472F-91EF-0F7AA70C76D5}" srcId="{CAF75882-B369-4E3C-9A27-B1D08B9FB9F3}" destId="{3FB25350-AE44-42AF-A7EA-03126B1E5C84}" srcOrd="1" destOrd="0" parTransId="{D232FE57-0C90-4A02-96E4-88B389B7D447}" sibTransId="{11A4ECA3-FEFC-4674-A7B9-AF43DED03E7D}"/>
    <dgm:cxn modelId="{8F88F7D9-6F40-4548-B2A6-C4AA00D61BBB}" type="presOf" srcId="{3FB25350-AE44-42AF-A7EA-03126B1E5C84}" destId="{05BE5D02-8470-4663-8771-1FA3327D54CF}" srcOrd="0" destOrd="1"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8.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i="0" dirty="0">
              <a:solidFill>
                <a:schemeClr val="tx1"/>
              </a:solidFill>
              <a:effectLst/>
              <a:latin typeface="Segoe UI Light" panose="020B0502040204020203" pitchFamily="34" charset="0"/>
              <a:cs typeface="Segoe UI Light" panose="020B0502040204020203" pitchFamily="34" charset="0"/>
            </a:rPr>
            <a:t>1.- Diseño de Pantallas.</a:t>
          </a:r>
          <a:endParaRPr lang="es-PE" b="0"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Cada una de nuestras pantallas de diseño se debe entregar como archivo individual.</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pt>
    <dgm:pt modelId="{4FF452FF-C762-4DD4-AE0C-0DF85815B22C}" type="sibTrans" cxnId="{316A27A4-6DDB-45F9-83F8-D759A1466D03}">
      <dgm:prSet/>
      <dgm:spPr/>
    </dgm:pt>
    <dgm:pt modelId="{24169DF1-BDDB-45DB-A6C7-B72C553190E2}">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
</a:t>
          </a:r>
          <a:endParaRPr lang="es-PE" b="0" dirty="0">
            <a:solidFill>
              <a:schemeClr val="tx1"/>
            </a:solidFill>
            <a:latin typeface="Segoe UI Light" panose="020B0502040204020203" pitchFamily="34" charset="0"/>
            <a:cs typeface="Segoe UI Light" panose="020B0502040204020203" pitchFamily="34" charset="0"/>
          </a:endParaRPr>
        </a:p>
      </dgm:t>
    </dgm:pt>
    <dgm:pt modelId="{02720C3C-B5D2-4F65-A987-AD1958DC3623}" type="parTrans" cxnId="{9204F45E-1038-4F82-B41A-11166022F042}">
      <dgm:prSet/>
      <dgm:spPr/>
    </dgm:pt>
    <dgm:pt modelId="{45837711-2B00-44C0-8E3F-D1C557734607}" type="sibTrans" cxnId="{9204F45E-1038-4F82-B41A-11166022F042}">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B94C5012-E0D8-49C5-82AC-CFCA2B3E1780}" type="presOf" srcId="{24169DF1-BDDB-45DB-A6C7-B72C553190E2}" destId="{05BE5D02-8470-4663-8771-1FA3327D54CF}" srcOrd="0" destOrd="2" presId="urn:microsoft.com/office/officeart/2005/8/layout/list1"/>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9204F45E-1038-4F82-B41A-11166022F042}" srcId="{CAF75882-B369-4E3C-9A27-B1D08B9FB9F3}" destId="{24169DF1-BDDB-45DB-A6C7-B72C553190E2}" srcOrd="2" destOrd="0" parTransId="{02720C3C-B5D2-4F65-A987-AD1958DC3623}" sibTransId="{45837711-2B00-44C0-8E3F-D1C557734607}"/>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9.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i="0" dirty="0">
              <a:solidFill>
                <a:schemeClr val="tx1"/>
              </a:solidFill>
              <a:effectLst/>
              <a:latin typeface="Segoe UI Light" panose="020B0502040204020203" pitchFamily="34" charset="0"/>
              <a:cs typeface="Segoe UI Light" panose="020B0502040204020203" pitchFamily="34" charset="0"/>
            </a:rPr>
            <a:t>1.- Diseño de Pantallas.</a:t>
          </a:r>
          <a:endParaRPr lang="es-PE" b="0"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Se debe exportar cada una de las pantallas como un archivo de imagen, sea </a:t>
          </a:r>
          <a:r>
            <a:rPr lang="es-MX" b="0" dirty="0" err="1">
              <a:solidFill>
                <a:schemeClr val="tx1"/>
              </a:solidFill>
              <a:latin typeface="Segoe UI Light" panose="020B0502040204020203" pitchFamily="34" charset="0"/>
              <a:cs typeface="Segoe UI Light" panose="020B0502040204020203" pitchFamily="34" charset="0"/>
            </a:rPr>
            <a:t>jpg</a:t>
          </a:r>
          <a:r>
            <a:rPr lang="es-MX" b="0" dirty="0">
              <a:solidFill>
                <a:schemeClr val="tx1"/>
              </a:solidFill>
              <a:latin typeface="Segoe UI Light" panose="020B0502040204020203" pitchFamily="34" charset="0"/>
              <a:cs typeface="Segoe UI Light" panose="020B0502040204020203" pitchFamily="34" charset="0"/>
            </a:rPr>
            <a:t>. como png.</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pt>
    <dgm:pt modelId="{4FF452FF-C762-4DD4-AE0C-0DF85815B22C}" type="sibTrans" cxnId="{316A27A4-6DDB-45F9-83F8-D759A1466D03}">
      <dgm:prSet/>
      <dgm:spPr/>
    </dgm:pt>
    <dgm:pt modelId="{2312C3C1-94E3-4B95-86FE-8316A33EF751}">
      <dgm:prSet/>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Sirve como registro informativo y a la vez guía visual para futuros desarrollos o escalabilidad del producto.</a:t>
          </a:r>
          <a:endParaRPr lang="es-PE" b="0" dirty="0">
            <a:solidFill>
              <a:schemeClr val="tx1"/>
            </a:solidFill>
            <a:latin typeface="Segoe UI Light" panose="020B0502040204020203" pitchFamily="34" charset="0"/>
            <a:cs typeface="Segoe UI Light" panose="020B0502040204020203" pitchFamily="34" charset="0"/>
          </a:endParaRPr>
        </a:p>
      </dgm:t>
    </dgm:pt>
    <dgm:pt modelId="{571BE6F1-5303-4342-8229-0B85D668BA56}" type="parTrans" cxnId="{DA5002FC-79CE-450B-A008-C6D48992ABAF}">
      <dgm:prSet/>
      <dgm:spPr/>
      <dgm:t>
        <a:bodyPr/>
        <a:lstStyle/>
        <a:p>
          <a:endParaRPr lang="es-PE"/>
        </a:p>
      </dgm:t>
    </dgm:pt>
    <dgm:pt modelId="{A8CF67DE-09F0-46C4-8840-29FF5B2B34D6}" type="sibTrans" cxnId="{DA5002FC-79CE-450B-A008-C6D48992ABAF}">
      <dgm:prSet/>
      <dgm:spPr/>
      <dgm:t>
        <a:bodyPr/>
        <a:lstStyle/>
        <a:p>
          <a:endParaRPr lang="es-PE"/>
        </a:p>
      </dgm:t>
    </dgm:pt>
    <dgm:pt modelId="{F26A1964-EF52-4EC3-9B26-13B63DF2B649}">
      <dgm:prSet phldrT="[Texto]"/>
      <dgm:spPr>
        <a:solidFill>
          <a:schemeClr val="bg1"/>
        </a:solidFill>
      </dgm:spPr>
      <dgm:t>
        <a:bodyPr/>
        <a:lstStyle/>
        <a:p>
          <a:pPr marL="0" indent="0">
            <a:buNone/>
          </a:pPr>
          <a:endParaRPr lang="es-PE" b="0" dirty="0">
            <a:solidFill>
              <a:schemeClr val="tx1"/>
            </a:solidFill>
            <a:latin typeface="Segoe UI Light" panose="020B0502040204020203" pitchFamily="34" charset="0"/>
            <a:cs typeface="Segoe UI Light" panose="020B0502040204020203" pitchFamily="34" charset="0"/>
          </a:endParaRPr>
        </a:p>
      </dgm:t>
    </dgm:pt>
    <dgm:pt modelId="{8EF9D86D-FDCE-4A50-BD00-605199192FC8}" type="parTrans" cxnId="{B859FF88-7DF1-4AB0-8461-95C27BB176E8}">
      <dgm:prSet/>
      <dgm:spPr/>
    </dgm:pt>
    <dgm:pt modelId="{4D4A548A-AC77-4C9A-970E-F238722B68F5}" type="sibTrans" cxnId="{B859FF88-7DF1-4AB0-8461-95C27BB176E8}">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B3B4F45B-3E2C-45D9-AEF7-36EAA8F947D7}" type="presOf" srcId="{2312C3C1-94E3-4B95-86FE-8316A33EF751}" destId="{05BE5D02-8470-4663-8771-1FA3327D54CF}" srcOrd="0" destOrd="3" presId="urn:microsoft.com/office/officeart/2005/8/layout/list1"/>
    <dgm:cxn modelId="{CF4F3D60-0CA6-479E-8EF3-590261078F5A}" type="presOf" srcId="{F26A1964-EF52-4EC3-9B26-13B63DF2B649}" destId="{05BE5D02-8470-4663-8771-1FA3327D54CF}" srcOrd="0" destOrd="2"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B859FF88-7DF1-4AB0-8461-95C27BB176E8}" srcId="{CAF75882-B369-4E3C-9A27-B1D08B9FB9F3}" destId="{F26A1964-EF52-4EC3-9B26-13B63DF2B649}" srcOrd="2" destOrd="0" parTransId="{8EF9D86D-FDCE-4A50-BD00-605199192FC8}" sibTransId="{4D4A548A-AC77-4C9A-970E-F238722B68F5}"/>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DA5002FC-79CE-450B-A008-C6D48992ABAF}" srcId="{CAF75882-B369-4E3C-9A27-B1D08B9FB9F3}" destId="{2312C3C1-94E3-4B95-86FE-8316A33EF751}" srcOrd="3" destOrd="0" parTransId="{571BE6F1-5303-4342-8229-0B85D668BA56}" sibTransId="{A8CF67DE-09F0-46C4-8840-29FF5B2B34D6}"/>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0.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2.- Exportar Recursos</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Los archivos de imagen y recursos vectoriales necesarios para el desarrollo del </a:t>
          </a:r>
          <a:r>
            <a:rPr lang="es-MX" b="0" dirty="0" err="1">
              <a:solidFill>
                <a:schemeClr val="tx1"/>
              </a:solidFill>
              <a:latin typeface="Segoe UI Light" panose="020B0502040204020203" pitchFamily="34" charset="0"/>
              <a:cs typeface="Segoe UI Light" panose="020B0502040204020203" pitchFamily="34" charset="0"/>
            </a:rPr>
            <a:t>font-end</a:t>
          </a:r>
          <a:r>
            <a:rPr lang="es-MX" b="0" dirty="0">
              <a:solidFill>
                <a:schemeClr val="tx1"/>
              </a:solidFill>
              <a:latin typeface="Segoe UI Light" panose="020B0502040204020203" pitchFamily="34" charset="0"/>
              <a:cs typeface="Segoe UI Light" panose="020B0502040204020203" pitchFamily="34" charset="0"/>
            </a:rPr>
            <a:t>.</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BBEA778E-366C-4BF9-B8D8-EDFA4F8A1E80}">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Aquí es donde debemos incluir cualquier elemento necesario para la construcción del producto digital.</a:t>
          </a:r>
          <a:endParaRPr lang="es-PE" b="0" dirty="0">
            <a:solidFill>
              <a:schemeClr val="tx1"/>
            </a:solidFill>
            <a:latin typeface="Segoe UI Light" panose="020B0502040204020203" pitchFamily="34" charset="0"/>
            <a:cs typeface="Segoe UI Light" panose="020B0502040204020203" pitchFamily="34" charset="0"/>
          </a:endParaRPr>
        </a:p>
      </dgm:t>
    </dgm:pt>
    <dgm:pt modelId="{55532E30-5C4B-4E73-9FED-E759D7EACCCF}" type="parTrans" cxnId="{8C93E49A-0441-4C49-9B1D-2F67B6E14F42}">
      <dgm:prSet/>
      <dgm:spPr/>
    </dgm:pt>
    <dgm:pt modelId="{1C6D38DE-450C-4FBE-97CA-990AB8A88F81}" type="sibTrans" cxnId="{8C93E49A-0441-4C49-9B1D-2F67B6E14F42}">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EF69154C-B1A3-4594-8977-B114D87D5B8D}" type="presOf" srcId="{BBEA778E-366C-4BF9-B8D8-EDFA4F8A1E80}" destId="{05BE5D02-8470-4663-8771-1FA3327D54CF}" srcOrd="0" destOrd="2"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8C93E49A-0441-4C49-9B1D-2F67B6E14F42}" srcId="{CAF75882-B369-4E3C-9A27-B1D08B9FB9F3}" destId="{BBEA778E-366C-4BF9-B8D8-EDFA4F8A1E80}" srcOrd="2" destOrd="0" parTransId="{55532E30-5C4B-4E73-9FED-E759D7EACCCF}" sibTransId="{1C6D38DE-450C-4FBE-97CA-990AB8A88F81}"/>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1.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2.- Exportar Recursos</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PE" b="0" dirty="0">
              <a:solidFill>
                <a:schemeClr val="tx1"/>
              </a:solidFill>
              <a:latin typeface="Segoe UI Light" panose="020B0502040204020203" pitchFamily="34" charset="0"/>
              <a:cs typeface="Segoe UI Light" panose="020B0502040204020203" pitchFamily="34" charset="0"/>
            </a:rPr>
            <a:t>Fotos, logos, iconos, tipografías por instalar, variantes de recursos, incluso los diferentes tamaños de imágenes a utilizar.</a:t>
          </a: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2.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3.- </a:t>
          </a:r>
          <a:r>
            <a:rPr lang="es-MX" b="1">
              <a:solidFill>
                <a:schemeClr val="tx1"/>
              </a:solidFill>
              <a:latin typeface="Segoe UI Light" panose="020B0502040204020203" pitchFamily="34" charset="0"/>
              <a:cs typeface="Segoe UI Light" panose="020B0502040204020203" pitchFamily="34" charset="0"/>
            </a:rPr>
            <a:t>Prototipo Interactivo</a:t>
          </a:r>
          <a:r>
            <a:rPr lang="es-MX" b="1" dirty="0">
              <a:solidFill>
                <a:schemeClr val="tx1"/>
              </a:solidFill>
              <a:latin typeface="Segoe UI Light" panose="020B0502040204020203" pitchFamily="34" charset="0"/>
              <a:cs typeface="Segoe UI Light" panose="020B0502040204020203" pitchFamily="34" charset="0"/>
            </a:rPr>
            <a:t>.</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Además de compartir el prototipo vía enlace o archivo editable, es útil capturar la simulación de nuestro prototipo, llevando a cabo el flujo desarrollado.</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3.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3.- Prototipo </a:t>
          </a:r>
          <a:r>
            <a:rPr lang="es-MX" b="1" dirty="0" err="1">
              <a:solidFill>
                <a:schemeClr val="tx1"/>
              </a:solidFill>
              <a:latin typeface="Segoe UI Light" panose="020B0502040204020203" pitchFamily="34" charset="0"/>
              <a:cs typeface="Segoe UI Light" panose="020B0502040204020203" pitchFamily="34" charset="0"/>
            </a:rPr>
            <a:t>Iteractivo</a:t>
          </a:r>
          <a:r>
            <a:rPr lang="es-MX" b="1" dirty="0">
              <a:solidFill>
                <a:schemeClr val="tx1"/>
              </a:solidFill>
              <a:latin typeface="Segoe UI Light" panose="020B0502040204020203" pitchFamily="34" charset="0"/>
              <a:cs typeface="Segoe UI Light" panose="020B0502040204020203" pitchFamily="34" charset="0"/>
            </a:rPr>
            <a:t>.</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Esto también permitirá un contenido inicial si algún área desea producir alguna publicación o animación para fines publicitarios o capacitación de uso.</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4.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4.- La Guía de Estilos.</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 una guía con las definiciones estilísticas de los elementos esenciales del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5.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4.- La Guía de Estilos.</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Si lo vemos conveniente, podemos incluir en esta parte una guía de especificaciones de diseño y componentes</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83166F5D-B94C-4032-8EC8-2055787662AE}">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Aquí colocaríamos tamaño de espaciados, proporciones, estilos y tamaños de borde, interlineado e Inter letrado, etc.</a:t>
          </a:r>
          <a:endParaRPr lang="es-PE" b="0" dirty="0">
            <a:solidFill>
              <a:schemeClr val="tx1"/>
            </a:solidFill>
            <a:latin typeface="Segoe UI Light" panose="020B0502040204020203" pitchFamily="34" charset="0"/>
            <a:cs typeface="Segoe UI Light" panose="020B0502040204020203" pitchFamily="34" charset="0"/>
          </a:endParaRPr>
        </a:p>
      </dgm:t>
    </dgm:pt>
    <dgm:pt modelId="{54398F78-85BC-485B-8980-A9D7C0553E39}" type="parTrans" cxnId="{F4FB569B-A110-45C7-9C77-00E2564B8FE0}">
      <dgm:prSet/>
      <dgm:spPr/>
    </dgm:pt>
    <dgm:pt modelId="{0E004CF2-BECF-470B-B69B-0DE8AA563E32}" type="sibTrans" cxnId="{F4FB569B-A110-45C7-9C77-00E2564B8FE0}">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2A7C6735-B36A-47A0-AD07-0E6FFB2586E9}" type="presOf" srcId="{83166F5D-B94C-4032-8EC8-2055787662AE}" destId="{05BE5D02-8470-4663-8771-1FA3327D54CF}" srcOrd="0" destOrd="2" presId="urn:microsoft.com/office/officeart/2005/8/layout/list1"/>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F4FB569B-A110-45C7-9C77-00E2564B8FE0}" srcId="{CAF75882-B369-4E3C-9A27-B1D08B9FB9F3}" destId="{83166F5D-B94C-4032-8EC8-2055787662AE}" srcOrd="2" destOrd="0" parTransId="{54398F78-85BC-485B-8980-A9D7C0553E39}" sibTransId="{0E004CF2-BECF-470B-B69B-0DE8AA563E32}"/>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6.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5.- Definiciones Funcionales.</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Si el diseño es muy complejo, debemos incluir ciertas precisiones en la funcionalidad de nuestros medios interactivos, parámetros, efectos, animaciones, entre otras cosas que pueda incluir el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F89FBECD-0415-41F4-83EC-D8009B18BF80}">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Esto también incluye un Glosario de los términos y nombres usados en e desarrollo del producto hasta esta etapa.</a:t>
          </a:r>
          <a:endParaRPr lang="es-PE" b="0" dirty="0">
            <a:solidFill>
              <a:schemeClr val="tx1"/>
            </a:solidFill>
            <a:latin typeface="Segoe UI Light" panose="020B0502040204020203" pitchFamily="34" charset="0"/>
            <a:cs typeface="Segoe UI Light" panose="020B0502040204020203" pitchFamily="34" charset="0"/>
          </a:endParaRPr>
        </a:p>
      </dgm:t>
    </dgm:pt>
    <dgm:pt modelId="{9B9DB3A2-9D60-4893-926E-6E91F5F61A27}" type="parTrans" cxnId="{4A3FC736-7D6C-4C22-B5AA-6D02C2580904}">
      <dgm:prSet/>
      <dgm:spPr/>
      <dgm:t>
        <a:bodyPr/>
        <a:lstStyle/>
        <a:p>
          <a:endParaRPr lang="es-PE"/>
        </a:p>
      </dgm:t>
    </dgm:pt>
    <dgm:pt modelId="{81EACFC2-81EE-411F-B926-87242CEB8B11}" type="sibTrans" cxnId="{4A3FC736-7D6C-4C22-B5AA-6D02C2580904}">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84D08D0F-5CDD-432F-B48E-F364739ACEB3}" type="presOf" srcId="{F89FBECD-0415-41F4-83EC-D8009B18BF80}" destId="{05BE5D02-8470-4663-8771-1FA3327D54CF}" srcOrd="0" destOrd="2" presId="urn:microsoft.com/office/officeart/2005/8/layout/list1"/>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4A3FC736-7D6C-4C22-B5AA-6D02C2580904}" srcId="{CAF75882-B369-4E3C-9A27-B1D08B9FB9F3}" destId="{F89FBECD-0415-41F4-83EC-D8009B18BF80}" srcOrd="2" destOrd="0" parTransId="{9B9DB3A2-9D60-4893-926E-6E91F5F61A27}" sibTransId="{81EACFC2-81EE-411F-B926-87242CEB8B11}"/>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7.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6.- Documentación de Entrega.</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Es necesario y cubre la etapa de formalidad, la entrega de un documento descriptivo del proyecto, o de su etapa como tal.</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8.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6.- Documentación de Entrega.</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El mismo que debe incluir un índice mínimo donde figure</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FB452BBD-8715-4145-B686-6BD5EEDE91D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La empresa o área de desarrollo.</a:t>
          </a:r>
          <a:endParaRPr lang="es-PE" b="0" dirty="0">
            <a:solidFill>
              <a:schemeClr val="tx1"/>
            </a:solidFill>
            <a:latin typeface="Segoe UI Light" panose="020B0502040204020203" pitchFamily="34" charset="0"/>
            <a:cs typeface="Segoe UI Light" panose="020B0502040204020203" pitchFamily="34" charset="0"/>
          </a:endParaRPr>
        </a:p>
      </dgm:t>
    </dgm:pt>
    <dgm:pt modelId="{68CC3BAD-DEE7-4363-9E43-3C340592424B}" type="parTrans" cxnId="{2F6D6F51-6172-40F7-B080-1720AAED975E}">
      <dgm:prSet/>
      <dgm:spPr/>
    </dgm:pt>
    <dgm:pt modelId="{B12E678D-E3F0-4324-83F5-1D9148B99062}" type="sibTrans" cxnId="{2F6D6F51-6172-40F7-B080-1720AAED975E}">
      <dgm:prSet/>
      <dgm:spPr/>
    </dgm:pt>
    <dgm:pt modelId="{E2A22741-3B3F-4D0C-B25E-48B129761EDA}">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La fecha y contacto para consultas posteriores.</a:t>
          </a:r>
          <a:endParaRPr lang="es-PE" b="0" dirty="0">
            <a:solidFill>
              <a:schemeClr val="tx1"/>
            </a:solidFill>
            <a:latin typeface="Segoe UI Light" panose="020B0502040204020203" pitchFamily="34" charset="0"/>
            <a:cs typeface="Segoe UI Light" panose="020B0502040204020203" pitchFamily="34" charset="0"/>
          </a:endParaRPr>
        </a:p>
      </dgm:t>
    </dgm:pt>
    <dgm:pt modelId="{6A55E649-B2A7-4EC4-BE1A-DF7F09840594}" type="parTrans" cxnId="{4323E370-F339-48C4-92F8-C7CCF87C247B}">
      <dgm:prSet/>
      <dgm:spPr/>
    </dgm:pt>
    <dgm:pt modelId="{02E9F89D-38DA-431D-902A-464C482C0881}" type="sibTrans" cxnId="{4323E370-F339-48C4-92F8-C7CCF87C247B}">
      <dgm:prSet/>
      <dgm:spPr/>
    </dgm:pt>
    <dgm:pt modelId="{295E61E0-6525-4AFE-87DE-AED668D3E3A4}">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Descripción de contenido e información de cada parte o etapas de producto, como son Objetivo – Iteracción – Flujo – validaciones, etc.</a:t>
          </a:r>
          <a:endParaRPr lang="es-PE" b="0" dirty="0">
            <a:solidFill>
              <a:schemeClr val="tx1"/>
            </a:solidFill>
            <a:latin typeface="Segoe UI Light" panose="020B0502040204020203" pitchFamily="34" charset="0"/>
            <a:cs typeface="Segoe UI Light" panose="020B0502040204020203" pitchFamily="34" charset="0"/>
          </a:endParaRPr>
        </a:p>
      </dgm:t>
    </dgm:pt>
    <dgm:pt modelId="{C98DF4DE-DE61-4C49-BD70-894773AC9B5C}" type="parTrans" cxnId="{792AF0A3-3D30-43E3-9FB0-F066D7C00308}">
      <dgm:prSet/>
      <dgm:spPr/>
    </dgm:pt>
    <dgm:pt modelId="{B7EE5D16-992B-4180-AF6D-9791484B96E5}" type="sibTrans" cxnId="{792AF0A3-3D30-43E3-9FB0-F066D7C00308}">
      <dgm:prSet/>
      <dgm:spPr/>
    </dgm:pt>
    <dgm:pt modelId="{620A4266-AB67-45DC-A1AC-DDFCD5123955}">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Todo esto según la naturaleza y Alcance del PMV.</a:t>
          </a:r>
          <a:endParaRPr lang="es-PE" b="0" dirty="0">
            <a:solidFill>
              <a:schemeClr val="tx1"/>
            </a:solidFill>
            <a:latin typeface="Segoe UI Light" panose="020B0502040204020203" pitchFamily="34" charset="0"/>
            <a:cs typeface="Segoe UI Light" panose="020B0502040204020203" pitchFamily="34" charset="0"/>
          </a:endParaRPr>
        </a:p>
      </dgm:t>
    </dgm:pt>
    <dgm:pt modelId="{2F49AD7E-CC17-4339-BBB2-7169FFC68A94}" type="parTrans" cxnId="{E6D74606-E457-4E8C-B70C-894DAE4FEED7}">
      <dgm:prSet/>
      <dgm:spPr/>
    </dgm:pt>
    <dgm:pt modelId="{11F954FF-A7F0-4B50-9D3B-3275A3A502E6}" type="sibTrans" cxnId="{E6D74606-E457-4E8C-B70C-894DAE4FEED7}">
      <dgm:prSet/>
      <dgm:spPr/>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E6D74606-E457-4E8C-B70C-894DAE4FEED7}" srcId="{CAF75882-B369-4E3C-9A27-B1D08B9FB9F3}" destId="{620A4266-AB67-45DC-A1AC-DDFCD5123955}" srcOrd="5" destOrd="0" parTransId="{2F49AD7E-CC17-4339-BBB2-7169FFC68A94}" sibTransId="{11F954FF-A7F0-4B50-9D3B-3275A3A502E6}"/>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4323E370-F339-48C4-92F8-C7CCF87C247B}" srcId="{CAF75882-B369-4E3C-9A27-B1D08B9FB9F3}" destId="{E2A22741-3B3F-4D0C-B25E-48B129761EDA}" srcOrd="3" destOrd="0" parTransId="{6A55E649-B2A7-4EC4-BE1A-DF7F09840594}" sibTransId="{02E9F89D-38DA-431D-902A-464C482C0881}"/>
    <dgm:cxn modelId="{2F6D6F51-6172-40F7-B080-1720AAED975E}" srcId="{CAF75882-B369-4E3C-9A27-B1D08B9FB9F3}" destId="{FB452BBD-8715-4145-B686-6BD5EEDE91D7}" srcOrd="2" destOrd="0" parTransId="{68CC3BAD-DEE7-4363-9E43-3C340592424B}" sibTransId="{B12E678D-E3F0-4324-83F5-1D9148B99062}"/>
    <dgm:cxn modelId="{6DD9B156-C810-42B5-BFCF-9C2AD3934BC8}" type="presOf" srcId="{E2A22741-3B3F-4D0C-B25E-48B129761EDA}" destId="{05BE5D02-8470-4663-8771-1FA3327D54CF}" srcOrd="0" destOrd="3" presId="urn:microsoft.com/office/officeart/2005/8/layout/list1"/>
    <dgm:cxn modelId="{6084A77A-3F9A-4917-9B06-955B4FC8B094}" type="presOf" srcId="{620A4266-AB67-45DC-A1AC-DDFCD5123955}" destId="{05BE5D02-8470-4663-8771-1FA3327D54CF}" srcOrd="0" destOrd="5"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9592EA8D-231C-4DC2-AFF3-9CFECE92A0B1}" type="presOf" srcId="{295E61E0-6525-4AFE-87DE-AED668D3E3A4}" destId="{05BE5D02-8470-4663-8771-1FA3327D54CF}" srcOrd="0" destOrd="4" presId="urn:microsoft.com/office/officeart/2005/8/layout/list1"/>
    <dgm:cxn modelId="{792AF0A3-3D30-43E3-9FB0-F066D7C00308}" srcId="{CAF75882-B369-4E3C-9A27-B1D08B9FB9F3}" destId="{295E61E0-6525-4AFE-87DE-AED668D3E3A4}" srcOrd="4" destOrd="0" parTransId="{C98DF4DE-DE61-4C49-BD70-894773AC9B5C}" sibTransId="{B7EE5D16-992B-4180-AF6D-9791484B96E5}"/>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DADA6D4-50D4-4DFF-81A4-F9598835BA64}" type="presOf" srcId="{FB452BBD-8715-4145-B686-6BD5EEDE91D7}" destId="{05BE5D02-8470-4663-8771-1FA3327D54CF}" srcOrd="0" destOrd="2"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9.xml><?xml version="1.0" encoding="utf-8"?>
<dgm:dataModel xmlns:dgm="http://schemas.openxmlformats.org/drawingml/2006/diagram" xmlns:a="http://schemas.openxmlformats.org/drawingml/2006/main">
  <dgm:ptLst>
    <dgm:pt modelId="{A70D0096-86DF-4CAF-9E38-268D386BB5E8}"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s-PE"/>
        </a:p>
      </dgm:t>
    </dgm:pt>
    <dgm:pt modelId="{BCFC16EB-5CE6-4B30-BC93-13367F99EE7A}">
      <dgm:prSet phldrT="[Texto]"/>
      <dgm:spPr>
        <a:solidFill>
          <a:schemeClr val="bg1"/>
        </a:solidFill>
      </dgm:spPr>
      <dgm:t>
        <a:bodyPr/>
        <a:lstStyle/>
        <a:p>
          <a:pPr marL="0" indent="0">
            <a:buNone/>
          </a:pPr>
          <a:r>
            <a:rPr lang="es-MX" b="1" dirty="0">
              <a:solidFill>
                <a:schemeClr val="tx1"/>
              </a:solidFill>
              <a:latin typeface="Segoe UI Light" panose="020B0502040204020203" pitchFamily="34" charset="0"/>
              <a:cs typeface="Segoe UI Light" panose="020B0502040204020203" pitchFamily="34" charset="0"/>
            </a:rPr>
            <a:t>6.- Documentación de Entrega.</a:t>
          </a:r>
          <a:endParaRPr lang="es-PE" b="1" dirty="0">
            <a:solidFill>
              <a:schemeClr val="tx1"/>
            </a:solidFill>
            <a:latin typeface="Segoe UI Light" panose="020B0502040204020203" pitchFamily="34" charset="0"/>
            <a:cs typeface="Segoe UI Light" panose="020B0502040204020203" pitchFamily="34" charset="0"/>
          </a:endParaRPr>
        </a:p>
      </dgm:t>
    </dgm:pt>
    <dgm:pt modelId="{3E03D1A8-0C51-4AED-806C-5BBC70E6F843}" type="sibTrans" cxnId="{5FE6D57C-D558-4D24-AA92-1FE3C97F690C}">
      <dgm:prSet/>
      <dgm:spPr/>
      <dgm:t>
        <a:bodyPr/>
        <a:lstStyle/>
        <a:p>
          <a:endParaRPr lang="es-PE"/>
        </a:p>
      </dgm:t>
    </dgm:pt>
    <dgm:pt modelId="{FE7A82F0-2807-4FBB-89D7-12B9D1FFDA1F}" type="parTrans" cxnId="{5FE6D57C-D558-4D24-AA92-1FE3C97F690C}">
      <dgm:prSet/>
      <dgm:spPr/>
      <dgm:t>
        <a:bodyPr/>
        <a:lstStyle/>
        <a:p>
          <a:endParaRPr lang="es-PE"/>
        </a:p>
      </dgm:t>
    </dgm:pt>
    <dgm:pt modelId="{CAF75882-B369-4E3C-9A27-B1D08B9FB9F3}">
      <dgm:prSet phldrT="[Texto]" custT="1"/>
      <dgm:spPr>
        <a:solidFill>
          <a:srgbClr val="0000CC"/>
        </a:solidFill>
      </dgm:spPr>
      <dgm:t>
        <a:bodyPr/>
        <a:lstStyle/>
        <a:p>
          <a:r>
            <a:rPr lang="es-PE" sz="2400" dirty="0">
              <a:latin typeface="Oswald" panose="00000500000000000000" pitchFamily="2" charset="0"/>
            </a:rPr>
            <a:t>Paso 7. La Documentación</a:t>
          </a:r>
        </a:p>
      </dgm:t>
    </dgm:pt>
    <dgm:pt modelId="{CF94D752-905A-4FA1-9250-BC5BFD1320DD}" type="sibTrans" cxnId="{76177428-16EF-42F6-9BEB-3147D29CE1A3}">
      <dgm:prSet/>
      <dgm:spPr/>
      <dgm:t>
        <a:bodyPr/>
        <a:lstStyle/>
        <a:p>
          <a:endParaRPr lang="es-PE">
            <a:latin typeface="Oswald" panose="00000500000000000000" pitchFamily="2" charset="0"/>
          </a:endParaRPr>
        </a:p>
      </dgm:t>
    </dgm:pt>
    <dgm:pt modelId="{371CD6F9-5DA6-45AC-BC4C-C85E32E453A6}" type="parTrans" cxnId="{76177428-16EF-42F6-9BEB-3147D29CE1A3}">
      <dgm:prSet/>
      <dgm:spPr/>
      <dgm:t>
        <a:bodyPr/>
        <a:lstStyle/>
        <a:p>
          <a:endParaRPr lang="es-PE">
            <a:latin typeface="Oswald" panose="00000500000000000000" pitchFamily="2" charset="0"/>
          </a:endParaRPr>
        </a:p>
      </dgm:t>
    </dgm:pt>
    <dgm:pt modelId="{046D35AF-2B8A-414A-BD50-BB185C8A71B7}">
      <dgm:prSet phldrT="[Texto]"/>
      <dgm:spPr>
        <a:solidFill>
          <a:schemeClr val="bg1"/>
        </a:solidFill>
      </dgm:spPr>
      <dgm:t>
        <a:bodyPr/>
        <a:lstStyle/>
        <a:p>
          <a:pPr marL="0" indent="0">
            <a:buNone/>
          </a:pPr>
          <a:r>
            <a:rPr lang="es-MX" b="0" dirty="0">
              <a:solidFill>
                <a:schemeClr val="tx1"/>
              </a:solidFill>
              <a:latin typeface="Segoe UI Light" panose="020B0502040204020203" pitchFamily="34" charset="0"/>
              <a:cs typeface="Segoe UI Light" panose="020B0502040204020203" pitchFamily="34" charset="0"/>
            </a:rPr>
            <a:t>Tener presente que los entregables de cada proyecto dependerán también de: </a:t>
          </a:r>
          <a:endParaRPr lang="es-PE" b="0" dirty="0">
            <a:solidFill>
              <a:schemeClr val="tx1"/>
            </a:solidFill>
            <a:latin typeface="Segoe UI Light" panose="020B0502040204020203" pitchFamily="34" charset="0"/>
            <a:cs typeface="Segoe UI Light" panose="020B0502040204020203" pitchFamily="34" charset="0"/>
          </a:endParaRPr>
        </a:p>
      </dgm:t>
    </dgm:pt>
    <dgm:pt modelId="{41849EBF-D938-414F-A00A-889315F0A282}" type="parTrans" cxnId="{316A27A4-6DDB-45F9-83F8-D759A1466D03}">
      <dgm:prSet/>
      <dgm:spPr/>
      <dgm:t>
        <a:bodyPr/>
        <a:lstStyle/>
        <a:p>
          <a:endParaRPr lang="es-PE"/>
        </a:p>
      </dgm:t>
    </dgm:pt>
    <dgm:pt modelId="{4FF452FF-C762-4DD4-AE0C-0DF85815B22C}" type="sibTrans" cxnId="{316A27A4-6DDB-45F9-83F8-D759A1466D03}">
      <dgm:prSet/>
      <dgm:spPr/>
      <dgm:t>
        <a:bodyPr/>
        <a:lstStyle/>
        <a:p>
          <a:endParaRPr lang="es-PE"/>
        </a:p>
      </dgm:t>
    </dgm:pt>
    <dgm:pt modelId="{36C8B6F0-90CB-4631-AF26-92FBFCF6D66A}">
      <dgm:prSet phldrT="[Texto]"/>
      <dgm:spPr>
        <a:solidFill>
          <a:schemeClr val="bg1"/>
        </a:solidFill>
      </dgm:spPr>
      <dgm:t>
        <a:bodyPr/>
        <a:lstStyle/>
        <a:p>
          <a:pPr marL="0" indent="0">
            <a:buFont typeface="Arial" panose="020B0604020202020204" pitchFamily="34" charset="0"/>
            <a:buChar char="•"/>
          </a:pPr>
          <a:r>
            <a:rPr lang="es-MX" b="0" dirty="0">
              <a:solidFill>
                <a:schemeClr val="tx1"/>
              </a:solidFill>
              <a:latin typeface="Segoe UI Light" panose="020B0502040204020203" pitchFamily="34" charset="0"/>
              <a:cs typeface="Segoe UI Light" panose="020B0502040204020203" pitchFamily="34" charset="0"/>
            </a:rPr>
            <a:t>Los acuerdos con el cliente
El equipo de trabajo y desarrollo
Los estándares de la organización
La complejidad del proyecto.</a:t>
          </a:r>
          <a:endParaRPr lang="es-PE" b="0" dirty="0">
            <a:solidFill>
              <a:schemeClr val="tx1"/>
            </a:solidFill>
            <a:latin typeface="Segoe UI Light" panose="020B0502040204020203" pitchFamily="34" charset="0"/>
            <a:cs typeface="Segoe UI Light" panose="020B0502040204020203" pitchFamily="34" charset="0"/>
          </a:endParaRPr>
        </a:p>
      </dgm:t>
    </dgm:pt>
    <dgm:pt modelId="{A85DE21D-427F-441D-8065-BEFA4903EE07}" type="parTrans" cxnId="{3A6C8D0C-1B52-4053-A7B7-88A3185F4715}">
      <dgm:prSet/>
      <dgm:spPr/>
      <dgm:t>
        <a:bodyPr/>
        <a:lstStyle/>
        <a:p>
          <a:endParaRPr lang="es-PE"/>
        </a:p>
      </dgm:t>
    </dgm:pt>
    <dgm:pt modelId="{13B06752-0AC4-4DAF-BC9B-C4F2CA858E57}" type="sibTrans" cxnId="{3A6C8D0C-1B52-4053-A7B7-88A3185F4715}">
      <dgm:prSet/>
      <dgm:spPr/>
      <dgm:t>
        <a:bodyPr/>
        <a:lstStyle/>
        <a:p>
          <a:endParaRPr lang="es-PE"/>
        </a:p>
      </dgm:t>
    </dgm:pt>
    <dgm:pt modelId="{5B278544-B8B0-430E-A0F7-8B08C849778E}" type="pres">
      <dgm:prSet presAssocID="{A70D0096-86DF-4CAF-9E38-268D386BB5E8}" presName="linear" presStyleCnt="0">
        <dgm:presLayoutVars>
          <dgm:dir/>
          <dgm:animLvl val="lvl"/>
          <dgm:resizeHandles val="exact"/>
        </dgm:presLayoutVars>
      </dgm:prSet>
      <dgm:spPr/>
    </dgm:pt>
    <dgm:pt modelId="{6E992C42-669D-410D-A14A-D3899E1625AA}" type="pres">
      <dgm:prSet presAssocID="{CAF75882-B369-4E3C-9A27-B1D08B9FB9F3}" presName="parentLin" presStyleCnt="0"/>
      <dgm:spPr/>
    </dgm:pt>
    <dgm:pt modelId="{D33FE4A7-3BFC-4EC4-A215-9E6BA9AF7A62}" type="pres">
      <dgm:prSet presAssocID="{CAF75882-B369-4E3C-9A27-B1D08B9FB9F3}" presName="parentLeftMargin" presStyleLbl="node1" presStyleIdx="0" presStyleCnt="1"/>
      <dgm:spPr/>
    </dgm:pt>
    <dgm:pt modelId="{90DF8371-C9F4-40C7-AA24-BFAE745C0D97}" type="pres">
      <dgm:prSet presAssocID="{CAF75882-B369-4E3C-9A27-B1D08B9FB9F3}" presName="parentText" presStyleLbl="node1" presStyleIdx="0" presStyleCnt="1" custScaleX="124059" custScaleY="77269" custLinFactNeighborX="423" custLinFactNeighborY="179">
        <dgm:presLayoutVars>
          <dgm:chMax val="0"/>
          <dgm:bulletEnabled val="1"/>
        </dgm:presLayoutVars>
      </dgm:prSet>
      <dgm:spPr/>
    </dgm:pt>
    <dgm:pt modelId="{EFFAC948-F5AC-4427-AAAA-2332CB62A92A}" type="pres">
      <dgm:prSet presAssocID="{CAF75882-B369-4E3C-9A27-B1D08B9FB9F3}" presName="negativeSpace" presStyleCnt="0"/>
      <dgm:spPr/>
    </dgm:pt>
    <dgm:pt modelId="{05BE5D02-8470-4663-8771-1FA3327D54CF}" type="pres">
      <dgm:prSet presAssocID="{CAF75882-B369-4E3C-9A27-B1D08B9FB9F3}" presName="childText" presStyleLbl="conFgAcc1" presStyleIdx="0" presStyleCnt="1" custScaleY="75058" custLinFactNeighborX="184" custLinFactNeighborY="5800">
        <dgm:presLayoutVars>
          <dgm:bulletEnabled val="1"/>
        </dgm:presLayoutVars>
      </dgm:prSet>
      <dgm:spPr/>
    </dgm:pt>
  </dgm:ptLst>
  <dgm:cxnLst>
    <dgm:cxn modelId="{3A6C8D0C-1B52-4053-A7B7-88A3185F4715}" srcId="{CAF75882-B369-4E3C-9A27-B1D08B9FB9F3}" destId="{36C8B6F0-90CB-4631-AF26-92FBFCF6D66A}" srcOrd="2" destOrd="0" parTransId="{A85DE21D-427F-441D-8065-BEFA4903EE07}" sibTransId="{13B06752-0AC4-4DAF-BC9B-C4F2CA858E57}"/>
    <dgm:cxn modelId="{47833019-97C1-461F-9A46-FCB74980A8D4}" type="presOf" srcId="{BCFC16EB-5CE6-4B30-BC93-13367F99EE7A}" destId="{05BE5D02-8470-4663-8771-1FA3327D54CF}" srcOrd="0" destOrd="0" presId="urn:microsoft.com/office/officeart/2005/8/layout/list1"/>
    <dgm:cxn modelId="{76177428-16EF-42F6-9BEB-3147D29CE1A3}" srcId="{A70D0096-86DF-4CAF-9E38-268D386BB5E8}" destId="{CAF75882-B369-4E3C-9A27-B1D08B9FB9F3}" srcOrd="0" destOrd="0" parTransId="{371CD6F9-5DA6-45AC-BC4C-C85E32E453A6}" sibTransId="{CF94D752-905A-4FA1-9250-BC5BFD1320DD}"/>
    <dgm:cxn modelId="{1908403F-E91A-4579-9520-7AEAF9507FF4}" type="presOf" srcId="{CAF75882-B369-4E3C-9A27-B1D08B9FB9F3}" destId="{D33FE4A7-3BFC-4EC4-A215-9E6BA9AF7A62}" srcOrd="0" destOrd="0" presId="urn:microsoft.com/office/officeart/2005/8/layout/list1"/>
    <dgm:cxn modelId="{AE8E5940-38F9-4A6B-90DD-F1C4D3FDB820}" type="presOf" srcId="{046D35AF-2B8A-414A-BD50-BB185C8A71B7}" destId="{05BE5D02-8470-4663-8771-1FA3327D54CF}" srcOrd="0" destOrd="1" presId="urn:microsoft.com/office/officeart/2005/8/layout/list1"/>
    <dgm:cxn modelId="{4003C167-2532-4012-81B5-3524DF75AEEC}" type="presOf" srcId="{A70D0096-86DF-4CAF-9E38-268D386BB5E8}" destId="{5B278544-B8B0-430E-A0F7-8B08C849778E}" srcOrd="0" destOrd="0" presId="urn:microsoft.com/office/officeart/2005/8/layout/list1"/>
    <dgm:cxn modelId="{5FE6D57C-D558-4D24-AA92-1FE3C97F690C}" srcId="{CAF75882-B369-4E3C-9A27-B1D08B9FB9F3}" destId="{BCFC16EB-5CE6-4B30-BC93-13367F99EE7A}" srcOrd="0" destOrd="0" parTransId="{FE7A82F0-2807-4FBB-89D7-12B9D1FFDA1F}" sibTransId="{3E03D1A8-0C51-4AED-806C-5BBC70E6F843}"/>
    <dgm:cxn modelId="{EB1CE486-7654-4758-9035-4BCA1A75796B}" type="presOf" srcId="{36C8B6F0-90CB-4631-AF26-92FBFCF6D66A}" destId="{05BE5D02-8470-4663-8771-1FA3327D54CF}" srcOrd="0" destOrd="2" presId="urn:microsoft.com/office/officeart/2005/8/layout/list1"/>
    <dgm:cxn modelId="{316A27A4-6DDB-45F9-83F8-D759A1466D03}" srcId="{CAF75882-B369-4E3C-9A27-B1D08B9FB9F3}" destId="{046D35AF-2B8A-414A-BD50-BB185C8A71B7}" srcOrd="1" destOrd="0" parTransId="{41849EBF-D938-414F-A00A-889315F0A282}" sibTransId="{4FF452FF-C762-4DD4-AE0C-0DF85815B22C}"/>
    <dgm:cxn modelId="{A2F367B0-53E4-4E73-A6B0-D86D86F9E175}" type="presOf" srcId="{CAF75882-B369-4E3C-9A27-B1D08B9FB9F3}" destId="{90DF8371-C9F4-40C7-AA24-BFAE745C0D97}" srcOrd="1" destOrd="0" presId="urn:microsoft.com/office/officeart/2005/8/layout/list1"/>
    <dgm:cxn modelId="{067278B0-84DF-4A5B-93F2-1E27E722D5CB}" type="presParOf" srcId="{5B278544-B8B0-430E-A0F7-8B08C849778E}" destId="{6E992C42-669D-410D-A14A-D3899E1625AA}" srcOrd="0" destOrd="0" presId="urn:microsoft.com/office/officeart/2005/8/layout/list1"/>
    <dgm:cxn modelId="{1A5232CE-791D-4428-ACAE-5B8B453BB44C}" type="presParOf" srcId="{6E992C42-669D-410D-A14A-D3899E1625AA}" destId="{D33FE4A7-3BFC-4EC4-A215-9E6BA9AF7A62}" srcOrd="0" destOrd="0" presId="urn:microsoft.com/office/officeart/2005/8/layout/list1"/>
    <dgm:cxn modelId="{957DDE4B-E626-4BBC-A44A-E76840FAE2E2}" type="presParOf" srcId="{6E992C42-669D-410D-A14A-D3899E1625AA}" destId="{90DF8371-C9F4-40C7-AA24-BFAE745C0D97}" srcOrd="1" destOrd="0" presId="urn:microsoft.com/office/officeart/2005/8/layout/list1"/>
    <dgm:cxn modelId="{D769D5CB-9A41-49A2-BE19-4F62D14E4EC4}" type="presParOf" srcId="{5B278544-B8B0-430E-A0F7-8B08C849778E}" destId="{EFFAC948-F5AC-4427-AAAA-2332CB62A92A}" srcOrd="1" destOrd="0" presId="urn:microsoft.com/office/officeart/2005/8/layout/list1"/>
    <dgm:cxn modelId="{2E167E0F-BA98-4E52-8E5F-378A82B6C829}" type="presParOf" srcId="{5B278544-B8B0-430E-A0F7-8B08C849778E}" destId="{05BE5D02-8470-4663-8771-1FA3327D54CF}" srcOrd="2"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58488"/>
          <a:ext cx="5759026" cy="5179021"/>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446964" tIns="499872" rIns="446964" bIns="170688" numCol="1" spcCol="1270" anchor="t" anchorCtr="0">
          <a:noAutofit/>
        </a:bodyPr>
        <a:lstStyle/>
        <a:p>
          <a:pPr marL="228600" lvl="1" indent="-228600" algn="l" defTabSz="1066800">
            <a:lnSpc>
              <a:spcPct val="90000"/>
            </a:lnSpc>
            <a:spcBef>
              <a:spcPct val="0"/>
            </a:spcBef>
            <a:spcAft>
              <a:spcPct val="15000"/>
            </a:spcAft>
            <a:buChar char="•"/>
          </a:pPr>
          <a:r>
            <a:rPr lang="es-MX" sz="2400" b="1" kern="1200" dirty="0">
              <a:solidFill>
                <a:schemeClr val="tx1"/>
              </a:solidFill>
              <a:latin typeface="Segoe UI Light" panose="020B0502040204020203" pitchFamily="34" charset="0"/>
              <a:cs typeface="Segoe UI Light" panose="020B0502040204020203" pitchFamily="34" charset="0"/>
            </a:rPr>
            <a:t>Al finalizar la sesión de aprendizaje y haciendo uso de los recursos proporcionados en clase, </a:t>
          </a:r>
          <a:r>
            <a:rPr lang="es-MX" sz="2400" b="1" kern="1200" dirty="0">
              <a:solidFill>
                <a:srgbClr val="1E2BFF"/>
              </a:solidFill>
              <a:latin typeface="Segoe UI Light" panose="020B0502040204020203" pitchFamily="34" charset="0"/>
              <a:cs typeface="Segoe UI Light" panose="020B0502040204020203" pitchFamily="34" charset="0"/>
            </a:rPr>
            <a:t>el participante será capaz de desarrollar las etapas del proceso de diseño de un producto digital </a:t>
          </a:r>
          <a:r>
            <a:rPr lang="es-MX" sz="2400" b="1" kern="1200" dirty="0">
              <a:solidFill>
                <a:srgbClr val="05A78E"/>
              </a:solidFill>
              <a:latin typeface="Segoe UI Light" panose="020B0502040204020203" pitchFamily="34" charset="0"/>
              <a:cs typeface="Segoe UI Light" panose="020B0502040204020203" pitchFamily="34" charset="0"/>
            </a:rPr>
            <a:t>para la creación de un sitio web responsive, </a:t>
          </a:r>
          <a:r>
            <a:rPr lang="es-MX" sz="2400" b="1" kern="1200" dirty="0">
              <a:solidFill>
                <a:srgbClr val="00B0F0"/>
              </a:solidFill>
              <a:latin typeface="Segoe UI Light" panose="020B0502040204020203" pitchFamily="34" charset="0"/>
              <a:cs typeface="Segoe UI Light" panose="020B0502040204020203" pitchFamily="34" charset="0"/>
            </a:rPr>
            <a:t>siendo capaz de organizar la información de manera lógica y aplicando principios de UX/UI con coherencia funcional y visual</a:t>
          </a:r>
          <a:endParaRPr lang="es-PE" sz="2400" b="1" kern="1200" dirty="0">
            <a:solidFill>
              <a:srgbClr val="00B0F0"/>
            </a:solidFill>
            <a:latin typeface="Segoe UI Light" panose="020B0502040204020203" pitchFamily="34" charset="0"/>
            <a:cs typeface="Segoe UI Light" panose="020B0502040204020203" pitchFamily="34" charset="0"/>
          </a:endParaRPr>
        </a:p>
      </dsp:txBody>
      <dsp:txXfrm>
        <a:off x="0" y="358488"/>
        <a:ext cx="5759026" cy="5179021"/>
      </dsp:txXfrm>
    </dsp:sp>
    <dsp:sp modelId="{90DF8371-C9F4-40C7-AA24-BFAE745C0D97}">
      <dsp:nvSpPr>
        <dsp:cNvPr id="0" name=""/>
        <dsp:cNvSpPr/>
      </dsp:nvSpPr>
      <dsp:spPr>
        <a:xfrm>
          <a:off x="289169" y="128308"/>
          <a:ext cx="5001213" cy="59305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52374" tIns="0" rIns="152374" bIns="0" numCol="1" spcCol="1270" anchor="ctr" anchorCtr="0">
          <a:noAutofit/>
        </a:bodyPr>
        <a:lstStyle/>
        <a:p>
          <a:pPr marL="0" lvl="0" indent="0" algn="l" defTabSz="1066800">
            <a:lnSpc>
              <a:spcPct val="90000"/>
            </a:lnSpc>
            <a:spcBef>
              <a:spcPct val="0"/>
            </a:spcBef>
            <a:spcAft>
              <a:spcPct val="35000"/>
            </a:spcAft>
            <a:buNone/>
          </a:pPr>
          <a:r>
            <a:rPr lang="es-MX" sz="2400" kern="1200" dirty="0">
              <a:latin typeface="Oswald" panose="00000500000000000000" pitchFamily="2" charset="0"/>
            </a:rPr>
            <a:t>Objetivo de Clase</a:t>
          </a:r>
          <a:endParaRPr lang="es-PE" sz="2400" kern="1200" dirty="0">
            <a:latin typeface="Oswald" panose="00000500000000000000" pitchFamily="2" charset="0"/>
          </a:endParaRPr>
        </a:p>
      </dsp:txBody>
      <dsp:txXfrm>
        <a:off x="318120" y="157259"/>
        <a:ext cx="4943311" cy="53515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514427"/>
          <a:ext cx="3272119" cy="412446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3953" tIns="624840" rIns="253953" bIns="213360" numCol="1" spcCol="1270" anchor="t" anchorCtr="0">
          <a:noAutofit/>
        </a:bodyPr>
        <a:lstStyle/>
        <a:p>
          <a:pPr marL="0" lvl="1" indent="0" algn="l" defTabSz="1333500">
            <a:lnSpc>
              <a:spcPct val="90000"/>
            </a:lnSpc>
            <a:spcBef>
              <a:spcPct val="0"/>
            </a:spcBef>
            <a:spcAft>
              <a:spcPct val="15000"/>
            </a:spcAft>
            <a:buNone/>
          </a:pPr>
          <a:r>
            <a:rPr lang="es-PE" sz="3000" b="1" i="0" kern="1200" dirty="0">
              <a:effectLst/>
              <a:latin typeface="Segoe UI Light" panose="020B0502040204020203" pitchFamily="34" charset="0"/>
              <a:cs typeface="Segoe UI Light" panose="020B0502040204020203" pitchFamily="34" charset="0"/>
            </a:rPr>
            <a:t>Diseñemos nuestro proyecto digital.</a:t>
          </a:r>
          <a:endParaRPr lang="es-PE" sz="3000" b="0" kern="1200" dirty="0">
            <a:solidFill>
              <a:srgbClr val="0000CC"/>
            </a:solidFill>
            <a:latin typeface="Segoe UI Light" panose="020B0502040204020203" pitchFamily="34" charset="0"/>
            <a:cs typeface="Segoe UI Light" panose="020B0502040204020203" pitchFamily="34" charset="0"/>
          </a:endParaRPr>
        </a:p>
        <a:p>
          <a:pPr marL="0" lvl="1" indent="0" algn="l" defTabSz="1333500">
            <a:lnSpc>
              <a:spcPct val="90000"/>
            </a:lnSpc>
            <a:spcBef>
              <a:spcPct val="0"/>
            </a:spcBef>
            <a:spcAft>
              <a:spcPct val="15000"/>
            </a:spcAft>
            <a:buNone/>
          </a:pPr>
          <a:r>
            <a:rPr lang="es-MX" sz="3000" b="0" kern="1200" dirty="0">
              <a:solidFill>
                <a:srgbClr val="0000CC"/>
              </a:solidFill>
              <a:latin typeface="Segoe UI Light" panose="020B0502040204020203" pitchFamily="34" charset="0"/>
              <a:cs typeface="Segoe UI Light" panose="020B0502040204020203" pitchFamily="34" charset="0"/>
            </a:rPr>
            <a:t>Desarrollemos una aplicativo para una clínica de mascotas.</a:t>
          </a:r>
          <a:endParaRPr lang="es-PE" sz="3000" b="0" kern="1200" dirty="0">
            <a:solidFill>
              <a:srgbClr val="0000CC"/>
            </a:solidFill>
            <a:latin typeface="Segoe UI Light" panose="020B0502040204020203" pitchFamily="34" charset="0"/>
            <a:cs typeface="Segoe UI Light" panose="020B0502040204020203" pitchFamily="34" charset="0"/>
          </a:endParaRPr>
        </a:p>
      </dsp:txBody>
      <dsp:txXfrm>
        <a:off x="0" y="514427"/>
        <a:ext cx="3272119" cy="4124469"/>
      </dsp:txXfrm>
    </dsp:sp>
    <dsp:sp modelId="{90DF8371-C9F4-40C7-AA24-BFAE745C0D97}">
      <dsp:nvSpPr>
        <dsp:cNvPr id="0" name=""/>
        <dsp:cNvSpPr/>
      </dsp:nvSpPr>
      <dsp:spPr>
        <a:xfrm>
          <a:off x="164298" y="231130"/>
          <a:ext cx="2841550" cy="72991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6575" tIns="0" rIns="86575" bIns="0" numCol="1" spcCol="1270" anchor="ctr" anchorCtr="0">
          <a:noAutofit/>
        </a:bodyPr>
        <a:lstStyle/>
        <a:p>
          <a:pPr marL="0" lvl="0" indent="0" algn="l" defTabSz="1066800">
            <a:lnSpc>
              <a:spcPct val="90000"/>
            </a:lnSpc>
            <a:spcBef>
              <a:spcPct val="0"/>
            </a:spcBef>
            <a:spcAft>
              <a:spcPct val="35000"/>
            </a:spcAft>
            <a:buNone/>
          </a:pPr>
          <a:r>
            <a:rPr lang="es-MX" sz="2400" kern="1200" dirty="0">
              <a:latin typeface="Oswald" panose="00000500000000000000" pitchFamily="2" charset="0"/>
            </a:rPr>
            <a:t>PET - CLINIC</a:t>
          </a:r>
          <a:endParaRPr lang="es-PE" sz="2400" kern="1200" dirty="0">
            <a:latin typeface="Oswald" panose="00000500000000000000" pitchFamily="2" charset="0"/>
          </a:endParaRPr>
        </a:p>
      </dsp:txBody>
      <dsp:txXfrm>
        <a:off x="199929" y="266761"/>
        <a:ext cx="2770288" cy="658651"/>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24434"/>
          <a:ext cx="4867836" cy="438224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687324" rIns="377798" bIns="234696" numCol="1" spcCol="1270" anchor="t" anchorCtr="0">
          <a:noAutofit/>
        </a:bodyPr>
        <a:lstStyle/>
        <a:p>
          <a:pPr marL="0" lvl="1" indent="0" algn="l" defTabSz="1466850">
            <a:lnSpc>
              <a:spcPct val="90000"/>
            </a:lnSpc>
            <a:spcBef>
              <a:spcPct val="0"/>
            </a:spcBef>
            <a:spcAft>
              <a:spcPct val="15000"/>
            </a:spcAft>
            <a:buNone/>
          </a:pPr>
          <a:r>
            <a:rPr lang="es-PE" sz="3300" b="1" i="0" kern="1200" dirty="0">
              <a:effectLst/>
              <a:latin typeface="Segoe UI Light" panose="020B0502040204020203" pitchFamily="34" charset="0"/>
              <a:cs typeface="Segoe UI Light" panose="020B0502040204020203" pitchFamily="34" charset="0"/>
            </a:rPr>
            <a:t>Proyecto: </a:t>
          </a:r>
          <a:r>
            <a:rPr lang="es-PE" sz="3300" b="0" i="0" kern="1200" dirty="0">
              <a:effectLst/>
              <a:latin typeface="Segoe UI Light" panose="020B0502040204020203" pitchFamily="34" charset="0"/>
              <a:cs typeface="Segoe UI Light" panose="020B0502040204020203" pitchFamily="34" charset="0"/>
            </a:rPr>
            <a:t>Aplicativo para una clínica de mascotas - </a:t>
          </a:r>
          <a:r>
            <a:rPr lang="es-PE" sz="3300" b="1" i="0" kern="1200" dirty="0">
              <a:effectLst/>
              <a:latin typeface="Segoe UI Light" panose="020B0502040204020203" pitchFamily="34" charset="0"/>
              <a:cs typeface="Segoe UI Light" panose="020B0502040204020203" pitchFamily="34" charset="0"/>
            </a:rPr>
            <a:t>Formulario de reserva de citas.</a:t>
          </a:r>
          <a:endParaRPr lang="es-PE" sz="3300" b="1" kern="1200" dirty="0">
            <a:solidFill>
              <a:srgbClr val="0000CC"/>
            </a:solidFill>
            <a:latin typeface="Segoe UI Light" panose="020B0502040204020203" pitchFamily="34" charset="0"/>
            <a:cs typeface="Segoe UI Light" panose="020B0502040204020203" pitchFamily="34" charset="0"/>
          </a:endParaRPr>
        </a:p>
        <a:p>
          <a:pPr marL="0" lvl="1" indent="0" algn="l" defTabSz="1466850">
            <a:lnSpc>
              <a:spcPct val="90000"/>
            </a:lnSpc>
            <a:spcBef>
              <a:spcPct val="0"/>
            </a:spcBef>
            <a:spcAft>
              <a:spcPct val="15000"/>
            </a:spcAft>
            <a:buNone/>
          </a:pPr>
          <a:r>
            <a:rPr lang="pt-BR" sz="3300" b="1" i="0" kern="1200" dirty="0">
              <a:effectLst/>
              <a:latin typeface="Segoe UI Light" panose="020B0502040204020203" pitchFamily="34" charset="0"/>
              <a:cs typeface="Segoe UI Light" panose="020B0502040204020203" pitchFamily="34" charset="0"/>
            </a:rPr>
            <a:t>Cliente</a:t>
          </a:r>
          <a:r>
            <a:rPr lang="pt-BR" sz="3300" b="0" i="0" kern="1200" dirty="0">
              <a:effectLst/>
              <a:latin typeface="Segoe UI Light" panose="020B0502040204020203" pitchFamily="34" charset="0"/>
              <a:cs typeface="Segoe UI Light" panose="020B0502040204020203" pitchFamily="34" charset="0"/>
            </a:rPr>
            <a:t>: </a:t>
          </a:r>
          <a:r>
            <a:rPr lang="pt-BR" sz="3300" b="1" i="0" kern="1200" dirty="0">
              <a:solidFill>
                <a:srgbClr val="05A78E"/>
              </a:solidFill>
              <a:effectLst/>
              <a:latin typeface="Segoe UI Light" panose="020B0502040204020203" pitchFamily="34" charset="0"/>
              <a:cs typeface="Segoe UI Light" panose="020B0502040204020203" pitchFamily="34" charset="0"/>
            </a:rPr>
            <a:t>Clínica de Mascotas - PET CLINIC</a:t>
          </a:r>
          <a:endParaRPr lang="es-PE" sz="3300" b="1" i="0" kern="1200" dirty="0">
            <a:solidFill>
              <a:srgbClr val="05A78E"/>
            </a:solidFill>
            <a:effectLst/>
            <a:latin typeface="Segoe UI Light" panose="020B0502040204020203" pitchFamily="34" charset="0"/>
            <a:cs typeface="Segoe UI Light" panose="020B0502040204020203" pitchFamily="34" charset="0"/>
          </a:endParaRPr>
        </a:p>
      </dsp:txBody>
      <dsp:txXfrm>
        <a:off x="0" y="424434"/>
        <a:ext cx="4867836" cy="4382249"/>
      </dsp:txXfrm>
    </dsp:sp>
    <dsp:sp modelId="{90DF8371-C9F4-40C7-AA24-BFAE745C0D97}">
      <dsp:nvSpPr>
        <dsp:cNvPr id="0" name=""/>
        <dsp:cNvSpPr/>
      </dsp:nvSpPr>
      <dsp:spPr>
        <a:xfrm>
          <a:off x="244421" y="123431"/>
          <a:ext cx="4227292" cy="77553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82279" y="161289"/>
        <a:ext cx="4151576" cy="69981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99052"/>
          <a:ext cx="4867836" cy="439396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583184" rIns="377798" bIns="199136" numCol="1" spcCol="1270" anchor="t" anchorCtr="0">
          <a:noAutofit/>
        </a:bodyPr>
        <a:lstStyle/>
        <a:p>
          <a:pPr marL="0" lvl="1" indent="0" algn="l" defTabSz="1244600">
            <a:lnSpc>
              <a:spcPct val="90000"/>
            </a:lnSpc>
            <a:spcBef>
              <a:spcPct val="0"/>
            </a:spcBef>
            <a:spcAft>
              <a:spcPct val="15000"/>
            </a:spcAft>
            <a:buNone/>
          </a:pPr>
          <a:r>
            <a:rPr lang="es-PE" sz="2800" b="1" i="0" kern="1200" dirty="0">
              <a:effectLst/>
              <a:latin typeface="Segoe UI Light" panose="020B0502040204020203" pitchFamily="34" charset="0"/>
              <a:cs typeface="Segoe UI Light" panose="020B0502040204020203" pitchFamily="34" charset="0"/>
            </a:rPr>
            <a:t>Etapas del </a:t>
          </a:r>
          <a:r>
            <a:rPr lang="es-PE" sz="2800" b="1" i="0" kern="1200" dirty="0" err="1">
              <a:effectLst/>
              <a:latin typeface="Segoe UI Light" panose="020B0502040204020203" pitchFamily="34" charset="0"/>
              <a:cs typeface="Segoe UI Light" panose="020B0502040204020203" pitchFamily="34" charset="0"/>
            </a:rPr>
            <a:t>Brief</a:t>
          </a:r>
          <a:r>
            <a:rPr lang="es-PE" sz="2800" b="1" i="0" kern="1200" dirty="0">
              <a:effectLst/>
              <a:latin typeface="Segoe UI Light" panose="020B0502040204020203" pitchFamily="34" charset="0"/>
              <a:cs typeface="Segoe UI Light" panose="020B0502040204020203" pitchFamily="34" charset="0"/>
            </a:rPr>
            <a:t>.</a:t>
          </a:r>
          <a:endParaRPr lang="es-PE" sz="2800" b="1" kern="1200" dirty="0">
            <a:solidFill>
              <a:srgbClr val="0000CC"/>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PE" sz="2800" b="1" kern="1200" dirty="0">
              <a:solidFill>
                <a:srgbClr val="0000CC"/>
              </a:solidFill>
              <a:latin typeface="Segoe UI Light" panose="020B0502040204020203" pitchFamily="34" charset="0"/>
              <a:cs typeface="Segoe UI Light" panose="020B0502040204020203" pitchFamily="34" charset="0"/>
            </a:rPr>
            <a:t>1.- El resumen</a:t>
          </a:r>
        </a:p>
        <a:p>
          <a:pPr marL="0" lvl="1" indent="0" algn="l" defTabSz="1244600">
            <a:lnSpc>
              <a:spcPct val="90000"/>
            </a:lnSpc>
            <a:spcBef>
              <a:spcPct val="0"/>
            </a:spcBef>
            <a:spcAft>
              <a:spcPct val="15000"/>
            </a:spcAft>
            <a:buNone/>
          </a:pPr>
          <a:r>
            <a:rPr lang="es-MX" sz="2800" b="0" kern="1200" dirty="0">
              <a:solidFill>
                <a:schemeClr val="tx1"/>
              </a:solidFill>
              <a:latin typeface="Segoe UI Light" panose="020B0502040204020203" pitchFamily="34" charset="0"/>
              <a:cs typeface="Segoe UI Light" panose="020B0502040204020203" pitchFamily="34" charset="0"/>
            </a:rPr>
            <a:t>De ser posible, comienza el </a:t>
          </a:r>
          <a:r>
            <a:rPr lang="es-MX" sz="2800" b="0" kern="1200" dirty="0" err="1">
              <a:solidFill>
                <a:schemeClr val="tx1"/>
              </a:solidFill>
              <a:latin typeface="Segoe UI Light" panose="020B0502040204020203" pitchFamily="34" charset="0"/>
              <a:cs typeface="Segoe UI Light" panose="020B0502040204020203" pitchFamily="34" charset="0"/>
            </a:rPr>
            <a:t>brief</a:t>
          </a:r>
          <a:r>
            <a:rPr lang="es-MX" sz="2800" b="0" kern="1200" dirty="0">
              <a:solidFill>
                <a:schemeClr val="tx1"/>
              </a:solidFill>
              <a:latin typeface="Segoe UI Light" panose="020B0502040204020203" pitchFamily="34" charset="0"/>
              <a:cs typeface="Segoe UI Light" panose="020B0502040204020203" pitchFamily="34" charset="0"/>
            </a:rPr>
            <a:t> con un resumen que permita entender rápidamente, en uno o dos párrafos, de qué se va a tratar el proyecto.</a:t>
          </a:r>
          <a:endParaRPr lang="es-PE" sz="2800" b="0" kern="1200" dirty="0">
            <a:solidFill>
              <a:schemeClr val="tx1"/>
            </a:solidFill>
            <a:latin typeface="Segoe UI Light" panose="020B0502040204020203" pitchFamily="34" charset="0"/>
            <a:cs typeface="Segoe UI Light" panose="020B0502040204020203" pitchFamily="34" charset="0"/>
          </a:endParaRPr>
        </a:p>
      </dsp:txBody>
      <dsp:txXfrm>
        <a:off x="0" y="399052"/>
        <a:ext cx="4867836" cy="4393966"/>
      </dsp:txXfrm>
    </dsp:sp>
    <dsp:sp modelId="{90DF8371-C9F4-40C7-AA24-BFAE745C0D97}">
      <dsp:nvSpPr>
        <dsp:cNvPr id="0" name=""/>
        <dsp:cNvSpPr/>
      </dsp:nvSpPr>
      <dsp:spPr>
        <a:xfrm>
          <a:off x="244421" y="133460"/>
          <a:ext cx="4227292" cy="68429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7825" y="166864"/>
        <a:ext cx="4160484" cy="61748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0700"/>
          <a:ext cx="4867836" cy="454043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604012" rIns="377798" bIns="206248" numCol="1" spcCol="1270" anchor="t" anchorCtr="0">
          <a:noAutofit/>
        </a:bodyPr>
        <a:lstStyle/>
        <a:p>
          <a:pPr marL="0" lvl="1" indent="0" algn="l" defTabSz="1289050">
            <a:lnSpc>
              <a:spcPct val="90000"/>
            </a:lnSpc>
            <a:spcBef>
              <a:spcPct val="0"/>
            </a:spcBef>
            <a:spcAft>
              <a:spcPct val="15000"/>
            </a:spcAft>
            <a:buNone/>
          </a:pPr>
          <a:r>
            <a:rPr lang="es-PE" sz="2900" b="1" i="0" kern="1200" dirty="0">
              <a:effectLst/>
              <a:latin typeface="Segoe UI Light" panose="020B0502040204020203" pitchFamily="34" charset="0"/>
              <a:cs typeface="Segoe UI Light" panose="020B0502040204020203" pitchFamily="34" charset="0"/>
            </a:rPr>
            <a:t>Etapas del </a:t>
          </a:r>
          <a:r>
            <a:rPr lang="es-PE" sz="2900" b="1" i="0" kern="1200" dirty="0" err="1">
              <a:effectLst/>
              <a:latin typeface="Segoe UI Light" panose="020B0502040204020203" pitchFamily="34" charset="0"/>
              <a:cs typeface="Segoe UI Light" panose="020B0502040204020203" pitchFamily="34" charset="0"/>
            </a:rPr>
            <a:t>Brief</a:t>
          </a:r>
          <a:r>
            <a:rPr lang="es-PE" sz="2900" b="1" i="0" kern="1200" dirty="0">
              <a:effectLst/>
              <a:latin typeface="Segoe UI Light" panose="020B0502040204020203" pitchFamily="34" charset="0"/>
              <a:cs typeface="Segoe UI Light" panose="020B0502040204020203" pitchFamily="34" charset="0"/>
            </a:rPr>
            <a:t>.</a:t>
          </a:r>
          <a:endParaRPr lang="es-PE" sz="2900" b="1" kern="1200" dirty="0">
            <a:solidFill>
              <a:srgbClr val="0000CC"/>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PE" sz="2900" b="1" kern="1200" dirty="0">
              <a:solidFill>
                <a:srgbClr val="0000CC"/>
              </a:solidFill>
              <a:latin typeface="Segoe UI Light" panose="020B0502040204020203" pitchFamily="34" charset="0"/>
              <a:cs typeface="Segoe UI Light" panose="020B0502040204020203" pitchFamily="34" charset="0"/>
            </a:rPr>
            <a:t>2.- El cliente</a:t>
          </a: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Es útil incluir una descripción general de tu cliente, su negocio y el propósito de los productos o servicios que ofrecen.</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330700"/>
        <a:ext cx="4867836" cy="4540432"/>
      </dsp:txXfrm>
    </dsp:sp>
    <dsp:sp modelId="{90DF8371-C9F4-40C7-AA24-BFAE745C0D97}">
      <dsp:nvSpPr>
        <dsp:cNvPr id="0" name=""/>
        <dsp:cNvSpPr/>
      </dsp:nvSpPr>
      <dsp:spPr>
        <a:xfrm>
          <a:off x="244421" y="56256"/>
          <a:ext cx="4227292" cy="70710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8939" y="90774"/>
        <a:ext cx="4158256" cy="638068"/>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0700"/>
          <a:ext cx="4867836" cy="454043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583184" rIns="377798" bIns="199136" numCol="1" spcCol="1270" anchor="t" anchorCtr="0">
          <a:noAutofit/>
        </a:bodyPr>
        <a:lstStyle/>
        <a:p>
          <a:pPr marL="0" lvl="1" indent="0" algn="l" defTabSz="1244600">
            <a:lnSpc>
              <a:spcPct val="90000"/>
            </a:lnSpc>
            <a:spcBef>
              <a:spcPct val="0"/>
            </a:spcBef>
            <a:spcAft>
              <a:spcPct val="15000"/>
            </a:spcAft>
            <a:buNone/>
          </a:pPr>
          <a:r>
            <a:rPr lang="es-PE" sz="2800" b="1" i="0" kern="1200" dirty="0">
              <a:effectLst/>
              <a:latin typeface="Segoe UI Light" panose="020B0502040204020203" pitchFamily="34" charset="0"/>
              <a:cs typeface="Segoe UI Light" panose="020B0502040204020203" pitchFamily="34" charset="0"/>
            </a:rPr>
            <a:t>Etapas del </a:t>
          </a:r>
          <a:r>
            <a:rPr lang="es-PE" sz="2800" b="1" i="0" kern="1200" dirty="0" err="1">
              <a:effectLst/>
              <a:latin typeface="Segoe UI Light" panose="020B0502040204020203" pitchFamily="34" charset="0"/>
              <a:cs typeface="Segoe UI Light" panose="020B0502040204020203" pitchFamily="34" charset="0"/>
            </a:rPr>
            <a:t>Brief</a:t>
          </a:r>
          <a:r>
            <a:rPr lang="es-PE" sz="2800" b="1" i="0" kern="1200" dirty="0">
              <a:effectLst/>
              <a:latin typeface="Segoe UI Light" panose="020B0502040204020203" pitchFamily="34" charset="0"/>
              <a:cs typeface="Segoe UI Light" panose="020B0502040204020203" pitchFamily="34" charset="0"/>
            </a:rPr>
            <a:t>.</a:t>
          </a:r>
          <a:endParaRPr lang="es-PE" sz="2800" b="1" kern="1200" dirty="0">
            <a:solidFill>
              <a:srgbClr val="0000CC"/>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PE" sz="2800" b="1" kern="1200" dirty="0">
              <a:solidFill>
                <a:srgbClr val="0000CC"/>
              </a:solidFill>
              <a:latin typeface="Segoe UI Light" panose="020B0502040204020203" pitchFamily="34" charset="0"/>
              <a:cs typeface="Segoe UI Light" panose="020B0502040204020203" pitchFamily="34" charset="0"/>
            </a:rPr>
            <a:t>3.- El problema</a:t>
          </a:r>
        </a:p>
        <a:p>
          <a:pPr marL="0" lvl="1" indent="0" algn="l" defTabSz="1244600">
            <a:lnSpc>
              <a:spcPct val="90000"/>
            </a:lnSpc>
            <a:spcBef>
              <a:spcPct val="0"/>
            </a:spcBef>
            <a:spcAft>
              <a:spcPct val="15000"/>
            </a:spcAft>
            <a:buNone/>
          </a:pPr>
          <a:r>
            <a:rPr lang="es-MX" sz="2800" b="0" kern="1200" dirty="0">
              <a:solidFill>
                <a:schemeClr val="tx1"/>
              </a:solidFill>
              <a:latin typeface="Segoe UI Light" panose="020B0502040204020203" pitchFamily="34" charset="0"/>
              <a:cs typeface="Segoe UI Light" panose="020B0502040204020203" pitchFamily="34" charset="0"/>
            </a:rPr>
            <a:t>Entender el problema que se busca solucionar es esencial para dar con una buena solución. </a:t>
          </a:r>
          <a:endParaRPr lang="es-PE" sz="2800" b="0" kern="1200" dirty="0">
            <a:solidFill>
              <a:schemeClr val="tx1"/>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MX" sz="2800" b="1" kern="1200" dirty="0">
              <a:solidFill>
                <a:schemeClr val="tx1"/>
              </a:solidFill>
              <a:latin typeface="Segoe UI Light" panose="020B0502040204020203" pitchFamily="34" charset="0"/>
              <a:cs typeface="Segoe UI Light" panose="020B0502040204020203" pitchFamily="34" charset="0"/>
            </a:rPr>
            <a:t>Recuerda dejarlo por escrito en el </a:t>
          </a:r>
          <a:r>
            <a:rPr lang="es-MX" sz="2800" b="1" kern="1200" dirty="0" err="1">
              <a:solidFill>
                <a:schemeClr val="tx1"/>
              </a:solidFill>
              <a:latin typeface="Segoe UI Light" panose="020B0502040204020203" pitchFamily="34" charset="0"/>
              <a:cs typeface="Segoe UI Light" panose="020B0502040204020203" pitchFamily="34" charset="0"/>
            </a:rPr>
            <a:t>brief</a:t>
          </a:r>
          <a:r>
            <a:rPr lang="es-MX" sz="2800" b="1" kern="1200" dirty="0">
              <a:solidFill>
                <a:schemeClr val="tx1"/>
              </a:solidFill>
              <a:latin typeface="Segoe UI Light" panose="020B0502040204020203" pitchFamily="34" charset="0"/>
              <a:cs typeface="Segoe UI Light" panose="020B0502040204020203" pitchFamily="34" charset="0"/>
            </a:rPr>
            <a:t>.</a:t>
          </a:r>
          <a:endParaRPr lang="es-PE" sz="2800" b="1" kern="1200" dirty="0">
            <a:solidFill>
              <a:schemeClr val="tx1"/>
            </a:solidFill>
            <a:latin typeface="Segoe UI Light" panose="020B0502040204020203" pitchFamily="34" charset="0"/>
            <a:cs typeface="Segoe UI Light" panose="020B0502040204020203" pitchFamily="34" charset="0"/>
          </a:endParaRPr>
        </a:p>
      </dsp:txBody>
      <dsp:txXfrm>
        <a:off x="0" y="330700"/>
        <a:ext cx="4867836" cy="4540432"/>
      </dsp:txXfrm>
    </dsp:sp>
    <dsp:sp modelId="{90DF8371-C9F4-40C7-AA24-BFAE745C0D97}">
      <dsp:nvSpPr>
        <dsp:cNvPr id="0" name=""/>
        <dsp:cNvSpPr/>
      </dsp:nvSpPr>
      <dsp:spPr>
        <a:xfrm>
          <a:off x="244421" y="56256"/>
          <a:ext cx="4227292" cy="70710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8939" y="90774"/>
        <a:ext cx="4158256" cy="638068"/>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0700"/>
          <a:ext cx="4867836" cy="454043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583184" rIns="377798" bIns="199136" numCol="1" spcCol="1270" anchor="t" anchorCtr="0">
          <a:noAutofit/>
        </a:bodyPr>
        <a:lstStyle/>
        <a:p>
          <a:pPr marL="0" lvl="1" indent="0" algn="l" defTabSz="1244600">
            <a:lnSpc>
              <a:spcPct val="90000"/>
            </a:lnSpc>
            <a:spcBef>
              <a:spcPct val="0"/>
            </a:spcBef>
            <a:spcAft>
              <a:spcPct val="15000"/>
            </a:spcAft>
            <a:buNone/>
          </a:pPr>
          <a:r>
            <a:rPr lang="es-PE" sz="2800" b="1" i="0" kern="1200" dirty="0">
              <a:effectLst/>
              <a:latin typeface="Segoe UI Light" panose="020B0502040204020203" pitchFamily="34" charset="0"/>
              <a:cs typeface="Segoe UI Light" panose="020B0502040204020203" pitchFamily="34" charset="0"/>
            </a:rPr>
            <a:t>Etapas del </a:t>
          </a:r>
          <a:r>
            <a:rPr lang="es-PE" sz="2800" b="1" i="0" kern="1200" dirty="0" err="1">
              <a:effectLst/>
              <a:latin typeface="Segoe UI Light" panose="020B0502040204020203" pitchFamily="34" charset="0"/>
              <a:cs typeface="Segoe UI Light" panose="020B0502040204020203" pitchFamily="34" charset="0"/>
            </a:rPr>
            <a:t>Brief</a:t>
          </a:r>
          <a:r>
            <a:rPr lang="es-PE" sz="2800" b="1" i="0" kern="1200" dirty="0">
              <a:effectLst/>
              <a:latin typeface="Segoe UI Light" panose="020B0502040204020203" pitchFamily="34" charset="0"/>
              <a:cs typeface="Segoe UI Light" panose="020B0502040204020203" pitchFamily="34" charset="0"/>
            </a:rPr>
            <a:t>.</a:t>
          </a:r>
          <a:endParaRPr lang="es-PE" sz="2800" b="1" kern="1200" dirty="0">
            <a:solidFill>
              <a:srgbClr val="0000CC"/>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PE" sz="2800" b="1" kern="1200" dirty="0">
              <a:solidFill>
                <a:srgbClr val="0000CC"/>
              </a:solidFill>
              <a:latin typeface="Segoe UI Light" panose="020B0502040204020203" pitchFamily="34" charset="0"/>
              <a:cs typeface="Segoe UI Light" panose="020B0502040204020203" pitchFamily="34" charset="0"/>
            </a:rPr>
            <a:t>3.- El problema</a:t>
          </a:r>
        </a:p>
        <a:p>
          <a:pPr marL="0" lvl="1" indent="0" algn="l" defTabSz="1244600">
            <a:lnSpc>
              <a:spcPct val="90000"/>
            </a:lnSpc>
            <a:spcBef>
              <a:spcPct val="0"/>
            </a:spcBef>
            <a:spcAft>
              <a:spcPct val="15000"/>
            </a:spcAft>
            <a:buNone/>
          </a:pPr>
          <a:r>
            <a:rPr lang="es-MX" sz="2800" b="0" kern="1200" dirty="0">
              <a:solidFill>
                <a:schemeClr val="tx1"/>
              </a:solidFill>
              <a:latin typeface="Segoe UI Light" panose="020B0502040204020203" pitchFamily="34" charset="0"/>
              <a:cs typeface="Segoe UI Light" panose="020B0502040204020203" pitchFamily="34" charset="0"/>
            </a:rPr>
            <a:t>Entender el problema que se busca solucionar es esencial para dar con una buena solución. </a:t>
          </a:r>
          <a:endParaRPr lang="es-PE" sz="2800" b="0" kern="1200" dirty="0">
            <a:solidFill>
              <a:schemeClr val="tx1"/>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MX" sz="2800" b="1" kern="1200" dirty="0">
              <a:solidFill>
                <a:schemeClr val="tx1"/>
              </a:solidFill>
              <a:latin typeface="Segoe UI Light" panose="020B0502040204020203" pitchFamily="34" charset="0"/>
              <a:cs typeface="Segoe UI Light" panose="020B0502040204020203" pitchFamily="34" charset="0"/>
            </a:rPr>
            <a:t>Recuerda dejarlo por escrito en el </a:t>
          </a:r>
          <a:r>
            <a:rPr lang="es-MX" sz="2800" b="1" kern="1200" dirty="0" err="1">
              <a:solidFill>
                <a:schemeClr val="tx1"/>
              </a:solidFill>
              <a:latin typeface="Segoe UI Light" panose="020B0502040204020203" pitchFamily="34" charset="0"/>
              <a:cs typeface="Segoe UI Light" panose="020B0502040204020203" pitchFamily="34" charset="0"/>
            </a:rPr>
            <a:t>brief</a:t>
          </a:r>
          <a:r>
            <a:rPr lang="es-MX" sz="2800" b="1" kern="1200" dirty="0">
              <a:solidFill>
                <a:schemeClr val="tx1"/>
              </a:solidFill>
              <a:latin typeface="Segoe UI Light" panose="020B0502040204020203" pitchFamily="34" charset="0"/>
              <a:cs typeface="Segoe UI Light" panose="020B0502040204020203" pitchFamily="34" charset="0"/>
            </a:rPr>
            <a:t>.</a:t>
          </a:r>
          <a:endParaRPr lang="es-PE" sz="2800" b="1" kern="1200" dirty="0">
            <a:solidFill>
              <a:schemeClr val="tx1"/>
            </a:solidFill>
            <a:latin typeface="Segoe UI Light" panose="020B0502040204020203" pitchFamily="34" charset="0"/>
            <a:cs typeface="Segoe UI Light" panose="020B0502040204020203" pitchFamily="34" charset="0"/>
          </a:endParaRPr>
        </a:p>
      </dsp:txBody>
      <dsp:txXfrm>
        <a:off x="0" y="330700"/>
        <a:ext cx="4867836" cy="4540432"/>
      </dsp:txXfrm>
    </dsp:sp>
    <dsp:sp modelId="{90DF8371-C9F4-40C7-AA24-BFAE745C0D97}">
      <dsp:nvSpPr>
        <dsp:cNvPr id="0" name=""/>
        <dsp:cNvSpPr/>
      </dsp:nvSpPr>
      <dsp:spPr>
        <a:xfrm>
          <a:off x="244421" y="56256"/>
          <a:ext cx="4227292" cy="70710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8939" y="90774"/>
        <a:ext cx="4158256" cy="638068"/>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46735"/>
          <a:ext cx="4867836" cy="4640028"/>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458216" rIns="377798" bIns="156464" numCol="1" spcCol="1270" anchor="t" anchorCtr="0">
          <a:noAutofit/>
        </a:bodyPr>
        <a:lstStyle/>
        <a:p>
          <a:pPr marL="0" lvl="1" indent="0" algn="l" defTabSz="977900">
            <a:lnSpc>
              <a:spcPct val="90000"/>
            </a:lnSpc>
            <a:spcBef>
              <a:spcPct val="0"/>
            </a:spcBef>
            <a:spcAft>
              <a:spcPct val="15000"/>
            </a:spcAft>
            <a:buNone/>
          </a:pPr>
          <a:r>
            <a:rPr lang="es-PE" sz="2200" b="1" i="0" kern="1200" dirty="0">
              <a:effectLst/>
              <a:latin typeface="Segoe UI Light" panose="020B0502040204020203" pitchFamily="34" charset="0"/>
              <a:cs typeface="Segoe UI Light" panose="020B0502040204020203" pitchFamily="34" charset="0"/>
            </a:rPr>
            <a:t>Etapas del </a:t>
          </a:r>
          <a:r>
            <a:rPr lang="es-PE" sz="2200" b="1" i="0" kern="1200" dirty="0" err="1">
              <a:effectLst/>
              <a:latin typeface="Segoe UI Light" panose="020B0502040204020203" pitchFamily="34" charset="0"/>
              <a:cs typeface="Segoe UI Light" panose="020B0502040204020203" pitchFamily="34" charset="0"/>
            </a:rPr>
            <a:t>Brief</a:t>
          </a:r>
          <a:r>
            <a:rPr lang="es-PE" sz="2200" b="1" i="0" kern="1200" dirty="0">
              <a:effectLst/>
              <a:latin typeface="Segoe UI Light" panose="020B0502040204020203" pitchFamily="34" charset="0"/>
              <a:cs typeface="Segoe UI Light" panose="020B0502040204020203" pitchFamily="34" charset="0"/>
            </a:rPr>
            <a:t>.</a:t>
          </a:r>
          <a:endParaRPr lang="es-PE" sz="2200" b="1" kern="1200" dirty="0">
            <a:solidFill>
              <a:srgbClr val="0000CC"/>
            </a:solidFill>
            <a:latin typeface="Segoe UI Light" panose="020B0502040204020203" pitchFamily="34" charset="0"/>
            <a:cs typeface="Segoe UI Light" panose="020B0502040204020203" pitchFamily="34" charset="0"/>
          </a:endParaRPr>
        </a:p>
        <a:p>
          <a:pPr marL="0" lvl="1" indent="0" algn="l" defTabSz="977900">
            <a:lnSpc>
              <a:spcPct val="90000"/>
            </a:lnSpc>
            <a:spcBef>
              <a:spcPct val="0"/>
            </a:spcBef>
            <a:spcAft>
              <a:spcPct val="15000"/>
            </a:spcAft>
            <a:buNone/>
          </a:pPr>
          <a:r>
            <a:rPr lang="es-PE" sz="2200" b="1" kern="1200" dirty="0">
              <a:solidFill>
                <a:srgbClr val="0000CC"/>
              </a:solidFill>
              <a:latin typeface="Segoe UI Light" panose="020B0502040204020203" pitchFamily="34" charset="0"/>
              <a:cs typeface="Segoe UI Light" panose="020B0502040204020203" pitchFamily="34" charset="0"/>
            </a:rPr>
            <a:t>4.- El objetivo</a:t>
          </a:r>
        </a:p>
        <a:p>
          <a:pPr marL="0" lvl="1" indent="0" algn="l" defTabSz="977900">
            <a:lnSpc>
              <a:spcPct val="90000"/>
            </a:lnSpc>
            <a:spcBef>
              <a:spcPct val="0"/>
            </a:spcBef>
            <a:spcAft>
              <a:spcPct val="15000"/>
            </a:spcAft>
            <a:buNone/>
          </a:pPr>
          <a:r>
            <a:rPr lang="es-MX" sz="2200" b="0" kern="1200" dirty="0">
              <a:solidFill>
                <a:schemeClr val="tx1"/>
              </a:solidFill>
              <a:latin typeface="Segoe UI Light" panose="020B0502040204020203" pitchFamily="34" charset="0"/>
              <a:cs typeface="Segoe UI Light" panose="020B0502040204020203" pitchFamily="34" charset="0"/>
            </a:rPr>
            <a:t>Una vez que el problema está bien definido es buena idea plantear con claridad los objetivos del proyecto. 
Puntos extra si los planteas de un modo que sea medible en el futuro, para confirmar si se cumplió o no.</a:t>
          </a:r>
          <a:endParaRPr lang="es-PE" sz="2200" b="0" kern="1200" dirty="0">
            <a:solidFill>
              <a:schemeClr val="tx1"/>
            </a:solidFill>
            <a:latin typeface="Segoe UI Light" panose="020B0502040204020203" pitchFamily="34" charset="0"/>
            <a:cs typeface="Segoe UI Light" panose="020B0502040204020203" pitchFamily="34" charset="0"/>
          </a:endParaRPr>
        </a:p>
      </dsp:txBody>
      <dsp:txXfrm>
        <a:off x="0" y="246735"/>
        <a:ext cx="4867836" cy="4640028"/>
      </dsp:txXfrm>
    </dsp:sp>
    <dsp:sp modelId="{90DF8371-C9F4-40C7-AA24-BFAE745C0D97}">
      <dsp:nvSpPr>
        <dsp:cNvPr id="0" name=""/>
        <dsp:cNvSpPr/>
      </dsp:nvSpPr>
      <dsp:spPr>
        <a:xfrm>
          <a:off x="244421" y="34262"/>
          <a:ext cx="4227292" cy="54743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1145" y="60986"/>
        <a:ext cx="4173844" cy="49398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0700"/>
          <a:ext cx="4867836" cy="454043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604012" rIns="377798" bIns="206248" numCol="1" spcCol="1270" anchor="t" anchorCtr="0">
          <a:noAutofit/>
        </a:bodyPr>
        <a:lstStyle/>
        <a:p>
          <a:pPr marL="0" lvl="1" indent="0" algn="l" defTabSz="1289050">
            <a:lnSpc>
              <a:spcPct val="90000"/>
            </a:lnSpc>
            <a:spcBef>
              <a:spcPct val="0"/>
            </a:spcBef>
            <a:spcAft>
              <a:spcPct val="15000"/>
            </a:spcAft>
            <a:buNone/>
          </a:pPr>
          <a:r>
            <a:rPr lang="es-PE" sz="2900" b="1" i="0" kern="1200" dirty="0">
              <a:effectLst/>
              <a:latin typeface="Segoe UI Light" panose="020B0502040204020203" pitchFamily="34" charset="0"/>
              <a:cs typeface="Segoe UI Light" panose="020B0502040204020203" pitchFamily="34" charset="0"/>
            </a:rPr>
            <a:t>Etapas del </a:t>
          </a:r>
          <a:r>
            <a:rPr lang="es-PE" sz="2900" b="1" i="0" kern="1200" dirty="0" err="1">
              <a:effectLst/>
              <a:latin typeface="Segoe UI Light" panose="020B0502040204020203" pitchFamily="34" charset="0"/>
              <a:cs typeface="Segoe UI Light" panose="020B0502040204020203" pitchFamily="34" charset="0"/>
            </a:rPr>
            <a:t>Brief</a:t>
          </a:r>
          <a:r>
            <a:rPr lang="es-PE" sz="2900" b="1" i="0" kern="1200" dirty="0">
              <a:effectLst/>
              <a:latin typeface="Segoe UI Light" panose="020B0502040204020203" pitchFamily="34" charset="0"/>
              <a:cs typeface="Segoe UI Light" panose="020B0502040204020203" pitchFamily="34" charset="0"/>
            </a:rPr>
            <a:t>.</a:t>
          </a:r>
          <a:endParaRPr lang="es-PE" sz="2900" b="1" kern="1200" dirty="0">
            <a:solidFill>
              <a:srgbClr val="0000CC"/>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PE" sz="2900" b="1" kern="1200" dirty="0">
              <a:solidFill>
                <a:srgbClr val="0000CC"/>
              </a:solidFill>
              <a:latin typeface="Segoe UI Light" panose="020B0502040204020203" pitchFamily="34" charset="0"/>
              <a:cs typeface="Segoe UI Light" panose="020B0502040204020203" pitchFamily="34" charset="0"/>
            </a:rPr>
            <a:t>5.- Requerimiento</a:t>
          </a: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Una descripción tan detallada como sea posible del trabajo que se realizará para cumplir con los objetivos del proyecto.</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330700"/>
        <a:ext cx="4867836" cy="4540432"/>
      </dsp:txXfrm>
    </dsp:sp>
    <dsp:sp modelId="{90DF8371-C9F4-40C7-AA24-BFAE745C0D97}">
      <dsp:nvSpPr>
        <dsp:cNvPr id="0" name=""/>
        <dsp:cNvSpPr/>
      </dsp:nvSpPr>
      <dsp:spPr>
        <a:xfrm>
          <a:off x="244421" y="56256"/>
          <a:ext cx="4227292" cy="70710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8939" y="90774"/>
        <a:ext cx="4158256" cy="63806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89693"/>
          <a:ext cx="4867836" cy="459315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541528" rIns="377798" bIns="184912" numCol="1" spcCol="1270" anchor="t" anchorCtr="0">
          <a:noAutofit/>
        </a:bodyPr>
        <a:lstStyle/>
        <a:p>
          <a:pPr marL="0" lvl="1" indent="0" algn="l" defTabSz="1155700">
            <a:lnSpc>
              <a:spcPct val="90000"/>
            </a:lnSpc>
            <a:spcBef>
              <a:spcPct val="0"/>
            </a:spcBef>
            <a:spcAft>
              <a:spcPct val="15000"/>
            </a:spcAft>
            <a:buNone/>
          </a:pPr>
          <a:r>
            <a:rPr lang="es-PE" sz="2600" b="1" i="0" kern="1200" dirty="0">
              <a:effectLst/>
              <a:latin typeface="Segoe UI Light" panose="020B0502040204020203" pitchFamily="34" charset="0"/>
              <a:cs typeface="Segoe UI Light" panose="020B0502040204020203" pitchFamily="34" charset="0"/>
            </a:rPr>
            <a:t>Etapas del </a:t>
          </a:r>
          <a:r>
            <a:rPr lang="es-PE" sz="2600" b="1" i="0" kern="1200" dirty="0" err="1">
              <a:effectLst/>
              <a:latin typeface="Segoe UI Light" panose="020B0502040204020203" pitchFamily="34" charset="0"/>
              <a:cs typeface="Segoe UI Light" panose="020B0502040204020203" pitchFamily="34" charset="0"/>
            </a:rPr>
            <a:t>Brief</a:t>
          </a:r>
          <a:r>
            <a:rPr lang="es-PE" sz="2600" b="1" i="0" kern="1200" dirty="0">
              <a:effectLst/>
              <a:latin typeface="Segoe UI Light" panose="020B0502040204020203" pitchFamily="34" charset="0"/>
              <a:cs typeface="Segoe UI Light" panose="020B0502040204020203" pitchFamily="34" charset="0"/>
            </a:rPr>
            <a:t>.</a:t>
          </a:r>
          <a:endParaRPr lang="es-PE" sz="2600" b="1" kern="1200" dirty="0">
            <a:solidFill>
              <a:srgbClr val="0000CC"/>
            </a:solidFill>
            <a:latin typeface="Segoe UI Light" panose="020B0502040204020203" pitchFamily="34" charset="0"/>
            <a:cs typeface="Segoe UI Light" panose="020B0502040204020203" pitchFamily="34" charset="0"/>
          </a:endParaRPr>
        </a:p>
        <a:p>
          <a:pPr marL="0" lvl="1" indent="0" algn="l" defTabSz="1155700">
            <a:lnSpc>
              <a:spcPct val="90000"/>
            </a:lnSpc>
            <a:spcBef>
              <a:spcPct val="0"/>
            </a:spcBef>
            <a:spcAft>
              <a:spcPct val="15000"/>
            </a:spcAft>
            <a:buNone/>
          </a:pPr>
          <a:r>
            <a:rPr lang="es-PE" sz="2600" b="1" kern="1200" dirty="0">
              <a:solidFill>
                <a:srgbClr val="0000CC"/>
              </a:solidFill>
              <a:latin typeface="Segoe UI Light" panose="020B0502040204020203" pitchFamily="34" charset="0"/>
              <a:cs typeface="Segoe UI Light" panose="020B0502040204020203" pitchFamily="34" charset="0"/>
            </a:rPr>
            <a:t>6.- Público objetivo</a:t>
          </a:r>
        </a:p>
        <a:p>
          <a:pPr marL="0" lvl="1" indent="0" algn="l" defTabSz="1155700">
            <a:lnSpc>
              <a:spcPct val="90000"/>
            </a:lnSpc>
            <a:spcBef>
              <a:spcPct val="0"/>
            </a:spcBef>
            <a:spcAft>
              <a:spcPct val="15000"/>
            </a:spcAft>
            <a:buNone/>
          </a:pPr>
          <a:r>
            <a:rPr lang="es-MX" sz="2600" b="0" kern="1200" dirty="0">
              <a:solidFill>
                <a:schemeClr val="tx1"/>
              </a:solidFill>
              <a:latin typeface="Segoe UI Light" panose="020B0502040204020203" pitchFamily="34" charset="0"/>
              <a:cs typeface="Segoe UI Light" panose="020B0502040204020203" pitchFamily="34" charset="0"/>
            </a:rPr>
            <a:t>¿A quién va dirigido este proyecto? 
¿Quiénes serán las personas que usen este producto digital? </a:t>
          </a:r>
          <a:endParaRPr lang="es-PE" sz="2600" b="0" kern="1200" dirty="0">
            <a:solidFill>
              <a:schemeClr val="tx1"/>
            </a:solidFill>
            <a:latin typeface="Segoe UI Light" panose="020B0502040204020203" pitchFamily="34" charset="0"/>
            <a:cs typeface="Segoe UI Light" panose="020B0502040204020203" pitchFamily="34" charset="0"/>
          </a:endParaRPr>
        </a:p>
        <a:p>
          <a:pPr marL="0" lvl="1" indent="0" algn="l" defTabSz="1155700">
            <a:lnSpc>
              <a:spcPct val="90000"/>
            </a:lnSpc>
            <a:spcBef>
              <a:spcPct val="0"/>
            </a:spcBef>
            <a:spcAft>
              <a:spcPct val="15000"/>
            </a:spcAft>
            <a:buNone/>
          </a:pPr>
          <a:r>
            <a:rPr lang="es-MX" sz="2600" b="0" kern="1200" dirty="0">
              <a:solidFill>
                <a:schemeClr val="tx1"/>
              </a:solidFill>
              <a:latin typeface="Segoe UI Light" panose="020B0502040204020203" pitchFamily="34" charset="0"/>
              <a:cs typeface="Segoe UI Light" panose="020B0502040204020203" pitchFamily="34" charset="0"/>
            </a:rPr>
            <a:t>Define al público con tanto detalle como sea posible.</a:t>
          </a:r>
          <a:endParaRPr lang="es-PE" sz="2600" b="0" kern="1200" dirty="0">
            <a:solidFill>
              <a:schemeClr val="tx1"/>
            </a:solidFill>
            <a:latin typeface="Segoe UI Light" panose="020B0502040204020203" pitchFamily="34" charset="0"/>
            <a:cs typeface="Segoe UI Light" panose="020B0502040204020203" pitchFamily="34" charset="0"/>
          </a:endParaRPr>
        </a:p>
      </dsp:txBody>
      <dsp:txXfrm>
        <a:off x="0" y="289693"/>
        <a:ext cx="4867836" cy="4593159"/>
      </dsp:txXfrm>
    </dsp:sp>
    <dsp:sp modelId="{90DF8371-C9F4-40C7-AA24-BFAE745C0D97}">
      <dsp:nvSpPr>
        <dsp:cNvPr id="0" name=""/>
        <dsp:cNvSpPr/>
      </dsp:nvSpPr>
      <dsp:spPr>
        <a:xfrm>
          <a:off x="244421" y="41808"/>
          <a:ext cx="4227292" cy="63867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5598" y="72985"/>
        <a:ext cx="4164938" cy="576320"/>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99052"/>
          <a:ext cx="4867836" cy="439396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7798" tIns="562356" rIns="377798" bIns="192024" numCol="1" spcCol="1270" anchor="t" anchorCtr="0">
          <a:noAutofit/>
        </a:bodyPr>
        <a:lstStyle/>
        <a:p>
          <a:pPr marL="0" lvl="1" indent="0" algn="l" defTabSz="1200150">
            <a:lnSpc>
              <a:spcPct val="90000"/>
            </a:lnSpc>
            <a:spcBef>
              <a:spcPct val="0"/>
            </a:spcBef>
            <a:spcAft>
              <a:spcPct val="15000"/>
            </a:spcAft>
            <a:buNone/>
          </a:pPr>
          <a:r>
            <a:rPr lang="es-PE" sz="2700" b="1" i="0" kern="1200" dirty="0">
              <a:effectLst/>
              <a:latin typeface="Segoe UI Light" panose="020B0502040204020203" pitchFamily="34" charset="0"/>
              <a:cs typeface="Segoe UI Light" panose="020B0502040204020203" pitchFamily="34" charset="0"/>
            </a:rPr>
            <a:t>Etapas del </a:t>
          </a:r>
          <a:r>
            <a:rPr lang="es-PE" sz="2700" b="1" i="0" kern="1200" dirty="0" err="1">
              <a:effectLst/>
              <a:latin typeface="Segoe UI Light" panose="020B0502040204020203" pitchFamily="34" charset="0"/>
              <a:cs typeface="Segoe UI Light" panose="020B0502040204020203" pitchFamily="34" charset="0"/>
            </a:rPr>
            <a:t>Brief</a:t>
          </a:r>
          <a:r>
            <a:rPr lang="es-PE" sz="2700" b="1" i="0" kern="1200" dirty="0">
              <a:effectLst/>
              <a:latin typeface="Segoe UI Light" panose="020B0502040204020203" pitchFamily="34" charset="0"/>
              <a:cs typeface="Segoe UI Light" panose="020B0502040204020203" pitchFamily="34" charset="0"/>
            </a:rPr>
            <a:t>.</a:t>
          </a:r>
          <a:endParaRPr lang="es-PE" sz="2700" b="1" kern="1200" dirty="0">
            <a:solidFill>
              <a:srgbClr val="0000CC"/>
            </a:solidFill>
            <a:latin typeface="Segoe UI Light" panose="020B0502040204020203" pitchFamily="34" charset="0"/>
            <a:cs typeface="Segoe UI Light" panose="020B0502040204020203" pitchFamily="34" charset="0"/>
          </a:endParaRPr>
        </a:p>
        <a:p>
          <a:pPr marL="0" lvl="1" indent="0" algn="l" defTabSz="1200150">
            <a:lnSpc>
              <a:spcPct val="90000"/>
            </a:lnSpc>
            <a:spcBef>
              <a:spcPct val="0"/>
            </a:spcBef>
            <a:spcAft>
              <a:spcPct val="15000"/>
            </a:spcAft>
            <a:buNone/>
          </a:pPr>
          <a:r>
            <a:rPr lang="es-PE" sz="2700" b="1" kern="1200" dirty="0">
              <a:solidFill>
                <a:srgbClr val="0000CC"/>
              </a:solidFill>
              <a:latin typeface="Segoe UI Light" panose="020B0502040204020203" pitchFamily="34" charset="0"/>
              <a:cs typeface="Segoe UI Light" panose="020B0502040204020203" pitchFamily="34" charset="0"/>
            </a:rPr>
            <a:t>7.- Recursos y referencias</a:t>
          </a:r>
        </a:p>
        <a:p>
          <a:pPr marL="0" lvl="1" indent="0" algn="l" defTabSz="1200150">
            <a:lnSpc>
              <a:spcPct val="90000"/>
            </a:lnSpc>
            <a:spcBef>
              <a:spcPct val="0"/>
            </a:spcBef>
            <a:spcAft>
              <a:spcPct val="15000"/>
            </a:spcAft>
            <a:buNone/>
          </a:pPr>
          <a:r>
            <a:rPr lang="es-MX" sz="2700" b="0" kern="1200" dirty="0">
              <a:solidFill>
                <a:schemeClr val="tx1"/>
              </a:solidFill>
              <a:latin typeface="Segoe UI Light" panose="020B0502040204020203" pitchFamily="34" charset="0"/>
              <a:cs typeface="Segoe UI Light" panose="020B0502040204020203" pitchFamily="34" charset="0"/>
            </a:rPr>
            <a:t>Incluye en el </a:t>
          </a:r>
          <a:r>
            <a:rPr lang="es-MX" sz="2700" b="0" kern="1200" dirty="0" err="1">
              <a:solidFill>
                <a:schemeClr val="tx1"/>
              </a:solidFill>
              <a:latin typeface="Segoe UI Light" panose="020B0502040204020203" pitchFamily="34" charset="0"/>
              <a:cs typeface="Segoe UI Light" panose="020B0502040204020203" pitchFamily="34" charset="0"/>
            </a:rPr>
            <a:t>brief</a:t>
          </a:r>
          <a:r>
            <a:rPr lang="es-MX" sz="2700" b="0" kern="1200" dirty="0">
              <a:solidFill>
                <a:schemeClr val="tx1"/>
              </a:solidFill>
              <a:latin typeface="Segoe UI Light" panose="020B0502040204020203" pitchFamily="34" charset="0"/>
              <a:cs typeface="Segoe UI Light" panose="020B0502040204020203" pitchFamily="34" charset="0"/>
            </a:rPr>
            <a:t> todos los referentes y/o recursos gráficos que pueden ser útiles para dar forma al proyecto.</a:t>
          </a:r>
          <a:endParaRPr lang="es-PE" sz="2700" b="0" kern="1200" dirty="0">
            <a:solidFill>
              <a:schemeClr val="tx1"/>
            </a:solidFill>
            <a:latin typeface="Segoe UI Light" panose="020B0502040204020203" pitchFamily="34" charset="0"/>
            <a:cs typeface="Segoe UI Light" panose="020B0502040204020203" pitchFamily="34" charset="0"/>
          </a:endParaRPr>
        </a:p>
        <a:p>
          <a:pPr marL="0" lvl="1" indent="0" algn="l" defTabSz="1200150">
            <a:lnSpc>
              <a:spcPct val="90000"/>
            </a:lnSpc>
            <a:spcBef>
              <a:spcPct val="0"/>
            </a:spcBef>
            <a:spcAft>
              <a:spcPct val="15000"/>
            </a:spcAft>
            <a:buNone/>
          </a:pPr>
          <a:endParaRPr lang="es-PE" sz="2700" b="0" kern="1200" dirty="0">
            <a:solidFill>
              <a:schemeClr val="tx1"/>
            </a:solidFill>
            <a:latin typeface="Segoe UI Light" panose="020B0502040204020203" pitchFamily="34" charset="0"/>
            <a:cs typeface="Segoe UI Light" panose="020B0502040204020203" pitchFamily="34" charset="0"/>
          </a:endParaRPr>
        </a:p>
      </dsp:txBody>
      <dsp:txXfrm>
        <a:off x="0" y="399052"/>
        <a:ext cx="4867836" cy="4393966"/>
      </dsp:txXfrm>
    </dsp:sp>
    <dsp:sp modelId="{90DF8371-C9F4-40C7-AA24-BFAE745C0D97}">
      <dsp:nvSpPr>
        <dsp:cNvPr id="0" name=""/>
        <dsp:cNvSpPr/>
      </dsp:nvSpPr>
      <dsp:spPr>
        <a:xfrm>
          <a:off x="244421" y="133460"/>
          <a:ext cx="4227292" cy="68429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8795" tIns="0" rIns="12879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1. El </a:t>
          </a:r>
          <a:r>
            <a:rPr lang="es-PE" sz="2400" kern="1200" dirty="0" err="1">
              <a:latin typeface="Oswald" panose="00000500000000000000" pitchFamily="2" charset="0"/>
            </a:rPr>
            <a:t>Brief</a:t>
          </a:r>
          <a:endParaRPr lang="es-PE" sz="2400" kern="1200" dirty="0">
            <a:latin typeface="Oswald" panose="00000500000000000000" pitchFamily="2" charset="0"/>
          </a:endParaRPr>
        </a:p>
      </dsp:txBody>
      <dsp:txXfrm>
        <a:off x="277825" y="166864"/>
        <a:ext cx="4160484" cy="617486"/>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27961"/>
          <a:ext cx="4884484" cy="4917800"/>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9090" tIns="458216" rIns="379090" bIns="156464" numCol="1" spcCol="1270" anchor="t" anchorCtr="0">
          <a:noAutofit/>
        </a:bodyPr>
        <a:lstStyle/>
        <a:p>
          <a:pPr marL="0" lvl="1" indent="0" algn="l" defTabSz="977900">
            <a:lnSpc>
              <a:spcPct val="90000"/>
            </a:lnSpc>
            <a:spcBef>
              <a:spcPct val="0"/>
            </a:spcBef>
            <a:spcAft>
              <a:spcPct val="15000"/>
            </a:spcAft>
            <a:buNone/>
          </a:pPr>
          <a:r>
            <a:rPr lang="es-MX" sz="2200" b="0" i="0" kern="1200" dirty="0">
              <a:effectLst/>
              <a:latin typeface="Segoe UI Light" panose="020B0502040204020203" pitchFamily="34" charset="0"/>
              <a:cs typeface="Segoe UI Light" panose="020B0502040204020203" pitchFamily="34" charset="0"/>
            </a:rPr>
            <a:t>Es la </a:t>
          </a:r>
          <a:r>
            <a:rPr lang="es-MX" sz="2200" b="1" i="0" kern="1200" dirty="0">
              <a:solidFill>
                <a:srgbClr val="1E2BFF"/>
              </a:solidFill>
              <a:effectLst/>
              <a:latin typeface="Segoe UI Light" panose="020B0502040204020203" pitchFamily="34" charset="0"/>
              <a:cs typeface="Segoe UI Light" panose="020B0502040204020203" pitchFamily="34" charset="0"/>
            </a:rPr>
            <a:t>secuencia visual de pasos </a:t>
          </a:r>
          <a:r>
            <a:rPr lang="es-MX" sz="2200" b="0" i="0" kern="1200" dirty="0">
              <a:effectLst/>
              <a:latin typeface="Segoe UI Light" panose="020B0502040204020203" pitchFamily="34" charset="0"/>
              <a:cs typeface="Segoe UI Light" panose="020B0502040204020203" pitchFamily="34" charset="0"/>
            </a:rPr>
            <a:t>que un usuario sigue dentro de una aplicación o sitio web </a:t>
          </a:r>
          <a:r>
            <a:rPr lang="es-MX" sz="2200" b="1" i="0" kern="1200" dirty="0">
              <a:solidFill>
                <a:srgbClr val="1E2BFF"/>
              </a:solidFill>
              <a:effectLst/>
              <a:latin typeface="Segoe UI Light" panose="020B0502040204020203" pitchFamily="34" charset="0"/>
              <a:cs typeface="Segoe UI Light" panose="020B0502040204020203" pitchFamily="34" charset="0"/>
            </a:rPr>
            <a:t>para completar una tarea específica </a:t>
          </a:r>
          <a:r>
            <a:rPr lang="es-MX" sz="2200" b="0" i="0" kern="1200" dirty="0">
              <a:effectLst/>
              <a:latin typeface="Segoe UI Light" panose="020B0502040204020203" pitchFamily="34" charset="0"/>
              <a:cs typeface="Segoe UI Light" panose="020B0502040204020203" pitchFamily="34" charset="0"/>
            </a:rPr>
            <a:t>(como iniciar sesión, comprar un producto o registrarse).
Muestra el camino lógico desde el punto de inicio hasta la meta final, mapeando cada pantalla, decisión (Sí / No) y acción que realiza la persona.</a:t>
          </a:r>
          <a:endParaRPr lang="es-PE" sz="2200" b="0" kern="1200" dirty="0">
            <a:solidFill>
              <a:srgbClr val="0000CC"/>
            </a:solidFill>
            <a:latin typeface="Segoe UI Light" panose="020B0502040204020203" pitchFamily="34" charset="0"/>
            <a:cs typeface="Segoe UI Light" panose="020B0502040204020203" pitchFamily="34" charset="0"/>
          </a:endParaRPr>
        </a:p>
      </dsp:txBody>
      <dsp:txXfrm>
        <a:off x="0" y="327961"/>
        <a:ext cx="4884484" cy="4917800"/>
      </dsp:txXfrm>
    </dsp:sp>
    <dsp:sp modelId="{90DF8371-C9F4-40C7-AA24-BFAE745C0D97}">
      <dsp:nvSpPr>
        <dsp:cNvPr id="0" name=""/>
        <dsp:cNvSpPr/>
      </dsp:nvSpPr>
      <dsp:spPr>
        <a:xfrm>
          <a:off x="245257" y="97782"/>
          <a:ext cx="4241750" cy="59305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235" tIns="0" rIns="12923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2. Flujo de Usuario</a:t>
          </a:r>
        </a:p>
      </dsp:txBody>
      <dsp:txXfrm>
        <a:off x="274208" y="126733"/>
        <a:ext cx="4183848" cy="535153"/>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25140"/>
          <a:ext cx="4884484" cy="489415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79090" tIns="395732" rIns="379090" bIns="135128" numCol="1" spcCol="1270" anchor="t" anchorCtr="0">
          <a:noAutofit/>
        </a:bodyPr>
        <a:lstStyle/>
        <a:p>
          <a:pPr marL="0" lvl="1" indent="0" algn="l" defTabSz="844550">
            <a:lnSpc>
              <a:spcPct val="90000"/>
            </a:lnSpc>
            <a:spcBef>
              <a:spcPct val="0"/>
            </a:spcBef>
            <a:spcAft>
              <a:spcPct val="15000"/>
            </a:spcAft>
            <a:buNone/>
          </a:pPr>
          <a:r>
            <a:rPr lang="es-PE" sz="1900" b="0" i="0" kern="1200" dirty="0">
              <a:effectLst/>
              <a:latin typeface="Segoe UI Light" panose="020B0502040204020203" pitchFamily="34" charset="0"/>
              <a:cs typeface="Segoe UI Light" panose="020B0502040204020203" pitchFamily="34" charset="0"/>
            </a:rPr>
            <a:t>Tres puntos clave:</a:t>
          </a:r>
          <a:endParaRPr lang="es-PE" sz="1900" b="0" kern="1200" dirty="0">
            <a:solidFill>
              <a:srgbClr val="0000CC"/>
            </a:solidFill>
            <a:latin typeface="Segoe UI Light" panose="020B0502040204020203" pitchFamily="34" charset="0"/>
            <a:cs typeface="Segoe UI Light" panose="020B0502040204020203" pitchFamily="34" charset="0"/>
          </a:endParaRPr>
        </a:p>
        <a:p>
          <a:pPr marL="0" lvl="1" indent="0" algn="l" defTabSz="844550">
            <a:lnSpc>
              <a:spcPct val="90000"/>
            </a:lnSpc>
            <a:spcBef>
              <a:spcPct val="0"/>
            </a:spcBef>
            <a:spcAft>
              <a:spcPct val="15000"/>
            </a:spcAft>
            <a:buNone/>
          </a:pPr>
          <a:r>
            <a:rPr lang="es-MX" sz="1900" b="1" kern="1200" dirty="0">
              <a:solidFill>
                <a:srgbClr val="1E2BFF"/>
              </a:solidFill>
              <a:latin typeface="Segoe UI Light" panose="020B0502040204020203" pitchFamily="34" charset="0"/>
              <a:cs typeface="Segoe UI Light" panose="020B0502040204020203" pitchFamily="34" charset="0"/>
            </a:rPr>
            <a:t>El Enfoque (UX): </a:t>
          </a:r>
          <a:r>
            <a:rPr lang="es-MX" sz="1900" b="0" kern="1200" dirty="0">
              <a:solidFill>
                <a:schemeClr val="tx1"/>
              </a:solidFill>
              <a:latin typeface="Segoe UI Light" panose="020B0502040204020203" pitchFamily="34" charset="0"/>
              <a:cs typeface="Segoe UI Light" panose="020B0502040204020203" pitchFamily="34" charset="0"/>
            </a:rPr>
            <a:t>Ayuda a garantizar que la navegación sea intuitiva, rápida y sin fricciones, anticipando las decisiones del usuario.
</a:t>
          </a:r>
          <a:r>
            <a:rPr lang="es-MX" sz="1900" b="1" kern="1200" dirty="0">
              <a:solidFill>
                <a:srgbClr val="1E2BFF"/>
              </a:solidFill>
              <a:latin typeface="Segoe UI Light" panose="020B0502040204020203" pitchFamily="34" charset="0"/>
              <a:cs typeface="Segoe UI Light" panose="020B0502040204020203" pitchFamily="34" charset="0"/>
            </a:rPr>
            <a:t>La Estructura (UI): </a:t>
          </a:r>
          <a:r>
            <a:rPr lang="es-MX" sz="1900" b="0" kern="1200" dirty="0">
              <a:solidFill>
                <a:schemeClr val="tx1"/>
              </a:solidFill>
              <a:latin typeface="Segoe UI Light" panose="020B0502040204020203" pitchFamily="34" charset="0"/>
              <a:cs typeface="Segoe UI Light" panose="020B0502040204020203" pitchFamily="34" charset="0"/>
            </a:rPr>
            <a:t>Funciona como el mapa técnico antes de diseñar las pantallas finales; define qué interfaces se necesitan y cómo se conectan entre sí.
</a:t>
          </a:r>
          <a:r>
            <a:rPr lang="es-MX" sz="1900" b="1" kern="1200" dirty="0">
              <a:solidFill>
                <a:srgbClr val="1E2BFF"/>
              </a:solidFill>
              <a:latin typeface="Segoe UI Light" panose="020B0502040204020203" pitchFamily="34" charset="0"/>
              <a:cs typeface="Segoe UI Light" panose="020B0502040204020203" pitchFamily="34" charset="0"/>
            </a:rPr>
            <a:t>El Objetivo: </a:t>
          </a:r>
          <a:r>
            <a:rPr lang="es-MX" sz="1900" b="0" kern="1200" dirty="0">
              <a:solidFill>
                <a:schemeClr val="tx1"/>
              </a:solidFill>
              <a:latin typeface="Segoe UI Light" panose="020B0502040204020203" pitchFamily="34" charset="0"/>
              <a:cs typeface="Segoe UI Light" panose="020B0502040204020203" pitchFamily="34" charset="0"/>
            </a:rPr>
            <a:t>Evitar callejones sin salida y optimizar la experiencia para que el usuario logre su meta con el menor número de clics posible.</a:t>
          </a:r>
          <a:endParaRPr lang="es-PE" sz="1900" b="0" kern="1200" dirty="0">
            <a:solidFill>
              <a:schemeClr val="tx1"/>
            </a:solidFill>
            <a:latin typeface="Segoe UI Light" panose="020B0502040204020203" pitchFamily="34" charset="0"/>
            <a:cs typeface="Segoe UI Light" panose="020B0502040204020203" pitchFamily="34" charset="0"/>
          </a:endParaRPr>
        </a:p>
      </dsp:txBody>
      <dsp:txXfrm>
        <a:off x="0" y="325140"/>
        <a:ext cx="4884484" cy="4894156"/>
      </dsp:txXfrm>
    </dsp:sp>
    <dsp:sp modelId="{90DF8371-C9F4-40C7-AA24-BFAE745C0D97}">
      <dsp:nvSpPr>
        <dsp:cNvPr id="0" name=""/>
        <dsp:cNvSpPr/>
      </dsp:nvSpPr>
      <dsp:spPr>
        <a:xfrm>
          <a:off x="245257" y="121520"/>
          <a:ext cx="4241750" cy="52462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235" tIns="0" rIns="12923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2. Flujo de Usuario</a:t>
          </a:r>
        </a:p>
      </dsp:txBody>
      <dsp:txXfrm>
        <a:off x="270867" y="147130"/>
        <a:ext cx="4190530" cy="47340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43794"/>
          <a:ext cx="4069978" cy="3354980"/>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5876" tIns="770636" rIns="315876" bIns="263144" numCol="1" spcCol="1270" anchor="t" anchorCtr="0">
          <a:noAutofit/>
        </a:bodyPr>
        <a:lstStyle/>
        <a:p>
          <a:pPr marL="0" lvl="1" indent="0" algn="l" defTabSz="1644650">
            <a:lnSpc>
              <a:spcPct val="90000"/>
            </a:lnSpc>
            <a:spcBef>
              <a:spcPct val="0"/>
            </a:spcBef>
            <a:spcAft>
              <a:spcPct val="15000"/>
            </a:spcAft>
            <a:buNone/>
          </a:pPr>
          <a:r>
            <a:rPr lang="es-MX" sz="3700" b="0" i="0" kern="1200" dirty="0">
              <a:effectLst/>
              <a:latin typeface="Segoe UI Light" panose="020B0502040204020203" pitchFamily="34" charset="0"/>
              <a:cs typeface="Segoe UI Light" panose="020B0502040204020203" pitchFamily="34" charset="0"/>
            </a:rPr>
            <a:t>Secuencia de Flujo para una operación de registro de cita.</a:t>
          </a:r>
          <a:endParaRPr lang="es-PE" sz="3700" b="0" kern="1200" dirty="0">
            <a:solidFill>
              <a:srgbClr val="0000CC"/>
            </a:solidFill>
            <a:latin typeface="Segoe UI Light" panose="020B0502040204020203" pitchFamily="34" charset="0"/>
            <a:cs typeface="Segoe UI Light" panose="020B0502040204020203" pitchFamily="34" charset="0"/>
          </a:endParaRPr>
        </a:p>
      </dsp:txBody>
      <dsp:txXfrm>
        <a:off x="0" y="443794"/>
        <a:ext cx="4069978" cy="3354980"/>
      </dsp:txXfrm>
    </dsp:sp>
    <dsp:sp modelId="{90DF8371-C9F4-40C7-AA24-BFAE745C0D97}">
      <dsp:nvSpPr>
        <dsp:cNvPr id="0" name=""/>
        <dsp:cNvSpPr/>
      </dsp:nvSpPr>
      <dsp:spPr>
        <a:xfrm>
          <a:off x="204359" y="63113"/>
          <a:ext cx="3534421" cy="980821"/>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7685" tIns="0" rIns="10768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2. Flujo de Usuario</a:t>
          </a:r>
        </a:p>
      </dsp:txBody>
      <dsp:txXfrm>
        <a:off x="252239" y="110993"/>
        <a:ext cx="3438661" cy="88506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565591"/>
          <a:ext cx="3971367" cy="4539507"/>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8222" tIns="666496" rIns="308222" bIns="227584" numCol="1" spcCol="1270" anchor="t" anchorCtr="0">
          <a:noAutofit/>
        </a:bodyPr>
        <a:lstStyle/>
        <a:p>
          <a:pPr marL="0" lvl="1" indent="0" algn="l" defTabSz="1422400">
            <a:lnSpc>
              <a:spcPct val="90000"/>
            </a:lnSpc>
            <a:spcBef>
              <a:spcPct val="0"/>
            </a:spcBef>
            <a:spcAft>
              <a:spcPct val="15000"/>
            </a:spcAft>
            <a:buNone/>
          </a:pPr>
          <a:r>
            <a:rPr lang="es-MX" sz="3200" b="0" i="0" kern="1200" dirty="0">
              <a:effectLst/>
              <a:latin typeface="Segoe UI Light" panose="020B0502040204020203" pitchFamily="34" charset="0"/>
              <a:cs typeface="Segoe UI Light" panose="020B0502040204020203" pitchFamily="34" charset="0"/>
            </a:rPr>
            <a:t>Nos ayuda a </a:t>
          </a:r>
          <a:r>
            <a:rPr lang="es-MX" sz="3200" b="1" i="0" kern="1200" dirty="0">
              <a:solidFill>
                <a:srgbClr val="1E2BFF"/>
              </a:solidFill>
              <a:effectLst/>
              <a:latin typeface="Segoe UI Light" panose="020B0502040204020203" pitchFamily="34" charset="0"/>
              <a:cs typeface="Segoe UI Light" panose="020B0502040204020203" pitchFamily="34" charset="0"/>
            </a:rPr>
            <a:t>organizar todas las secciones y subsecciones </a:t>
          </a:r>
          <a:r>
            <a:rPr lang="es-MX" sz="3200" b="0" i="0" kern="1200" dirty="0">
              <a:effectLst/>
              <a:latin typeface="Segoe UI Light" panose="020B0502040204020203" pitchFamily="34" charset="0"/>
              <a:cs typeface="Segoe UI Light" panose="020B0502040204020203" pitchFamily="34" charset="0"/>
            </a:rPr>
            <a:t>que tendrá el producto, y cómo estarán conectadas.</a:t>
          </a:r>
          <a:endParaRPr lang="es-PE" sz="3200" b="0" kern="1200" dirty="0">
            <a:solidFill>
              <a:srgbClr val="0000CC"/>
            </a:solidFill>
            <a:latin typeface="Segoe UI Light" panose="020B0502040204020203" pitchFamily="34" charset="0"/>
            <a:cs typeface="Segoe UI Light" panose="020B0502040204020203" pitchFamily="34" charset="0"/>
          </a:endParaRPr>
        </a:p>
      </dsp:txBody>
      <dsp:txXfrm>
        <a:off x="0" y="565591"/>
        <a:ext cx="3971367" cy="4539507"/>
      </dsp:txXfrm>
    </dsp:sp>
    <dsp:sp modelId="{90DF8371-C9F4-40C7-AA24-BFAE745C0D97}">
      <dsp:nvSpPr>
        <dsp:cNvPr id="0" name=""/>
        <dsp:cNvSpPr/>
      </dsp:nvSpPr>
      <dsp:spPr>
        <a:xfrm>
          <a:off x="199408" y="211470"/>
          <a:ext cx="3448786" cy="912392"/>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076" tIns="0" rIns="105076"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3. Mapa del Sitio</a:t>
          </a:r>
        </a:p>
      </dsp:txBody>
      <dsp:txXfrm>
        <a:off x="243947" y="256009"/>
        <a:ext cx="3359708" cy="82331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04680"/>
          <a:ext cx="3989297" cy="542376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9614" tIns="666496" rIns="309614" bIns="227584" numCol="1" spcCol="1270" anchor="t" anchorCtr="0">
          <a:noAutofit/>
        </a:bodyPr>
        <a:lstStyle/>
        <a:p>
          <a:pPr marL="0" lvl="1" indent="0" algn="l" defTabSz="1422400">
            <a:lnSpc>
              <a:spcPct val="90000"/>
            </a:lnSpc>
            <a:spcBef>
              <a:spcPct val="0"/>
            </a:spcBef>
            <a:spcAft>
              <a:spcPct val="15000"/>
            </a:spcAft>
            <a:buNone/>
          </a:pPr>
          <a:r>
            <a:rPr lang="es-MX" sz="3200" b="0" i="0" kern="1200" dirty="0">
              <a:effectLst/>
              <a:latin typeface="Segoe UI Light" panose="020B0502040204020203" pitchFamily="34" charset="0"/>
              <a:cs typeface="Segoe UI Light" panose="020B0502040204020203" pitchFamily="34" charset="0"/>
            </a:rPr>
            <a:t>Si el </a:t>
          </a:r>
          <a:r>
            <a:rPr lang="es-MX" sz="3200" b="1" i="0" kern="1200" dirty="0">
              <a:solidFill>
                <a:srgbClr val="1E2BFF"/>
              </a:solidFill>
              <a:effectLst/>
              <a:latin typeface="Segoe UI Light" panose="020B0502040204020203" pitchFamily="34" charset="0"/>
              <a:cs typeface="Segoe UI Light" panose="020B0502040204020203" pitchFamily="34" charset="0"/>
            </a:rPr>
            <a:t>Mapa de Sitio define la estructura </a:t>
          </a:r>
          <a:r>
            <a:rPr lang="es-MX" sz="3200" b="0" i="0" kern="1200" dirty="0">
              <a:effectLst/>
              <a:latin typeface="Segoe UI Light" panose="020B0502040204020203" pitchFamily="34" charset="0"/>
              <a:cs typeface="Segoe UI Light" panose="020B0502040204020203" pitchFamily="34" charset="0"/>
            </a:rPr>
            <a:t>estática del producto (el "qué hay"), el </a:t>
          </a:r>
          <a:r>
            <a:rPr lang="es-MX" sz="3200" b="1" i="0" kern="1200" dirty="0">
              <a:solidFill>
                <a:srgbClr val="1E2BFF"/>
              </a:solidFill>
              <a:effectLst/>
              <a:latin typeface="Segoe UI Light" panose="020B0502040204020203" pitchFamily="34" charset="0"/>
              <a:cs typeface="Segoe UI Light" panose="020B0502040204020203" pitchFamily="34" charset="0"/>
            </a:rPr>
            <a:t>Flujo de Usuario define la experiencia </a:t>
          </a:r>
          <a:r>
            <a:rPr lang="es-MX" sz="3200" b="0" i="0" kern="1200" dirty="0">
              <a:effectLst/>
              <a:latin typeface="Segoe UI Light" panose="020B0502040204020203" pitchFamily="34" charset="0"/>
              <a:cs typeface="Segoe UI Light" panose="020B0502040204020203" pitchFamily="34" charset="0"/>
            </a:rPr>
            <a:t>dinámica (el "cómo se usa").</a:t>
          </a:r>
          <a:endParaRPr lang="es-PE" sz="3200" b="0" kern="1200" dirty="0">
            <a:solidFill>
              <a:srgbClr val="0000CC"/>
            </a:solidFill>
            <a:latin typeface="Segoe UI Light" panose="020B0502040204020203" pitchFamily="34" charset="0"/>
            <a:cs typeface="Segoe UI Light" panose="020B0502040204020203" pitchFamily="34" charset="0"/>
          </a:endParaRPr>
        </a:p>
      </dsp:txBody>
      <dsp:txXfrm>
        <a:off x="0" y="304680"/>
        <a:ext cx="3989297" cy="5423766"/>
      </dsp:txXfrm>
    </dsp:sp>
    <dsp:sp modelId="{90DF8371-C9F4-40C7-AA24-BFAE745C0D97}">
      <dsp:nvSpPr>
        <dsp:cNvPr id="0" name=""/>
        <dsp:cNvSpPr/>
      </dsp:nvSpPr>
      <dsp:spPr>
        <a:xfrm>
          <a:off x="200308" y="5374"/>
          <a:ext cx="3464357" cy="843962"/>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50" tIns="0" rIns="105550"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3. Mapa del Sitio</a:t>
          </a:r>
        </a:p>
      </dsp:txBody>
      <dsp:txXfrm>
        <a:off x="241507" y="46573"/>
        <a:ext cx="3381959" cy="761564"/>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85488"/>
          <a:ext cx="3989297" cy="520151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9614" tIns="437388" rIns="309614" bIns="149352" numCol="1" spcCol="1270" anchor="t" anchorCtr="0">
          <a:noAutofit/>
        </a:bodyPr>
        <a:lstStyle/>
        <a:p>
          <a:pPr marL="0" lvl="1" indent="0" algn="l" defTabSz="933450">
            <a:lnSpc>
              <a:spcPct val="90000"/>
            </a:lnSpc>
            <a:spcBef>
              <a:spcPct val="0"/>
            </a:spcBef>
            <a:spcAft>
              <a:spcPct val="15000"/>
            </a:spcAft>
            <a:buNone/>
          </a:pPr>
          <a:r>
            <a:rPr lang="es-MX" sz="2100" b="1" i="0" kern="1200" dirty="0">
              <a:effectLst/>
              <a:latin typeface="Segoe UI Light" panose="020B0502040204020203" pitchFamily="34" charset="0"/>
              <a:cs typeface="Segoe UI Light" panose="020B0502040204020203" pitchFamily="34" charset="0"/>
            </a:rPr>
            <a:t>¿Qué es un </a:t>
          </a:r>
          <a:r>
            <a:rPr lang="es-MX" sz="2100" b="1" i="0" kern="1200" dirty="0" err="1">
              <a:effectLst/>
              <a:latin typeface="Segoe UI Light" panose="020B0502040204020203" pitchFamily="34" charset="0"/>
              <a:cs typeface="Segoe UI Light" panose="020B0502040204020203" pitchFamily="34" charset="0"/>
            </a:rPr>
            <a:t>Wireframe</a:t>
          </a:r>
          <a:r>
            <a:rPr lang="es-MX" sz="2100" b="1" i="0" kern="1200" dirty="0">
              <a:effectLst/>
              <a:latin typeface="Segoe UI Light" panose="020B0502040204020203" pitchFamily="34" charset="0"/>
              <a:cs typeface="Segoe UI Light" panose="020B0502040204020203" pitchFamily="34" charset="0"/>
            </a:rPr>
            <a:t>?</a:t>
          </a:r>
          <a:r>
            <a:rPr lang="es-MX" sz="2100" b="0" i="0" kern="1200" dirty="0">
              <a:effectLst/>
              <a:latin typeface="Segoe UI Light" panose="020B0502040204020203" pitchFamily="34" charset="0"/>
              <a:cs typeface="Segoe UI Light" panose="020B0502040204020203" pitchFamily="34" charset="0"/>
            </a:rPr>
            <a:t>
</a:t>
          </a:r>
          <a:r>
            <a:rPr lang="es-MX" sz="2100" b="1" i="0" kern="1200" dirty="0">
              <a:solidFill>
                <a:srgbClr val="1E2BFF"/>
              </a:solidFill>
              <a:effectLst/>
              <a:latin typeface="Segoe UI Light" panose="020B0502040204020203" pitchFamily="34" charset="0"/>
              <a:cs typeface="Segoe UI Light" panose="020B0502040204020203" pitchFamily="34" charset="0"/>
            </a:rPr>
            <a:t>Es un esquema o boceto en baja fidelidad que representa la estructura visual </a:t>
          </a:r>
          <a:r>
            <a:rPr lang="es-MX" sz="2100" b="0" i="0" kern="1200" dirty="0">
              <a:effectLst/>
              <a:latin typeface="Segoe UI Light" panose="020B0502040204020203" pitchFamily="34" charset="0"/>
              <a:cs typeface="Segoe UI Light" panose="020B0502040204020203" pitchFamily="34" charset="0"/>
            </a:rPr>
            <a:t>e industrial de una interfaz digital (sitio web o aplicación). </a:t>
          </a:r>
          <a:endParaRPr lang="es-PE" sz="2100" b="0" kern="1200" dirty="0">
            <a:solidFill>
              <a:srgbClr val="0000CC"/>
            </a:solidFill>
            <a:latin typeface="Segoe UI Light" panose="020B0502040204020203" pitchFamily="34" charset="0"/>
            <a:cs typeface="Segoe UI Light" panose="020B0502040204020203" pitchFamily="34" charset="0"/>
          </a:endParaRPr>
        </a:p>
        <a:p>
          <a:pPr marL="0" lvl="1" indent="0" algn="l" defTabSz="933450">
            <a:lnSpc>
              <a:spcPct val="90000"/>
            </a:lnSpc>
            <a:spcBef>
              <a:spcPct val="0"/>
            </a:spcBef>
            <a:spcAft>
              <a:spcPct val="15000"/>
            </a:spcAft>
            <a:buNone/>
          </a:pPr>
          <a:r>
            <a:rPr lang="es-MX" sz="2100" b="0" i="0" kern="1200" dirty="0">
              <a:effectLst/>
              <a:latin typeface="Segoe UI Light" panose="020B0502040204020203" pitchFamily="34" charset="0"/>
              <a:cs typeface="Segoe UI Light" panose="020B0502040204020203" pitchFamily="34" charset="0"/>
            </a:rPr>
            <a:t>Se centra exclusivamente en la organización del contenido, la jerarquía de la información y la funcionalidad, </a:t>
          </a:r>
          <a:r>
            <a:rPr lang="es-MX" sz="2100" b="1" i="0" kern="1200" dirty="0">
              <a:solidFill>
                <a:srgbClr val="1E2BFF"/>
              </a:solidFill>
              <a:effectLst/>
              <a:latin typeface="Segoe UI Light" panose="020B0502040204020203" pitchFamily="34" charset="0"/>
              <a:cs typeface="Segoe UI Light" panose="020B0502040204020203" pitchFamily="34" charset="0"/>
            </a:rPr>
            <a:t>dejando de lado por completo los elementos estéticos</a:t>
          </a:r>
          <a:r>
            <a:rPr lang="es-MX" sz="2100" b="0" i="0" kern="1200" dirty="0">
              <a:effectLst/>
              <a:latin typeface="Segoe UI Light" panose="020B0502040204020203" pitchFamily="34" charset="0"/>
              <a:cs typeface="Segoe UI Light" panose="020B0502040204020203" pitchFamily="34" charset="0"/>
            </a:rPr>
            <a:t> como colores, tipografías finales o imágenes.</a:t>
          </a:r>
          <a:endParaRPr lang="es-PE" sz="2100" b="0" kern="1200" dirty="0">
            <a:solidFill>
              <a:srgbClr val="0000CC"/>
            </a:solidFill>
            <a:latin typeface="Segoe UI Light" panose="020B0502040204020203" pitchFamily="34" charset="0"/>
            <a:cs typeface="Segoe UI Light" panose="020B0502040204020203" pitchFamily="34" charset="0"/>
          </a:endParaRPr>
        </a:p>
      </dsp:txBody>
      <dsp:txXfrm>
        <a:off x="0" y="385488"/>
        <a:ext cx="3989297" cy="5201519"/>
      </dsp:txXfrm>
    </dsp:sp>
    <dsp:sp modelId="{90DF8371-C9F4-40C7-AA24-BFAE745C0D97}">
      <dsp:nvSpPr>
        <dsp:cNvPr id="0" name=""/>
        <dsp:cNvSpPr/>
      </dsp:nvSpPr>
      <dsp:spPr>
        <a:xfrm>
          <a:off x="200308" y="164162"/>
          <a:ext cx="3464357" cy="57024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5550" tIns="0" rIns="105550"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4. El </a:t>
          </a:r>
          <a:r>
            <a:rPr lang="es-PE" sz="2400" kern="1200" dirty="0" err="1">
              <a:latin typeface="Oswald" panose="00000500000000000000" pitchFamily="2" charset="0"/>
            </a:rPr>
            <a:t>Wireframe</a:t>
          </a:r>
          <a:endParaRPr lang="es-PE" sz="2400" kern="1200" dirty="0">
            <a:latin typeface="Oswald" panose="00000500000000000000" pitchFamily="2" charset="0"/>
          </a:endParaRPr>
        </a:p>
      </dsp:txBody>
      <dsp:txXfrm>
        <a:off x="228145" y="191999"/>
        <a:ext cx="3408683" cy="514571"/>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96335"/>
          <a:ext cx="3881720" cy="4319625"/>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01265" tIns="499872" rIns="301265" bIns="170688" numCol="1" spcCol="1270" anchor="t" anchorCtr="0">
          <a:noAutofit/>
        </a:bodyPr>
        <a:lstStyle/>
        <a:p>
          <a:pPr marL="0" lvl="1" indent="0" algn="l" defTabSz="1066800">
            <a:lnSpc>
              <a:spcPct val="90000"/>
            </a:lnSpc>
            <a:spcBef>
              <a:spcPct val="0"/>
            </a:spcBef>
            <a:spcAft>
              <a:spcPct val="15000"/>
            </a:spcAft>
            <a:buNone/>
          </a:pPr>
          <a:r>
            <a:rPr lang="es-MX" sz="2400" b="0" i="0" kern="1200" dirty="0">
              <a:effectLst/>
              <a:latin typeface="Segoe UI Light" panose="020B0502040204020203" pitchFamily="34" charset="0"/>
              <a:cs typeface="Segoe UI Light" panose="020B0502040204020203" pitchFamily="34" charset="0"/>
            </a:rPr>
            <a:t>Podemos plasmarlo a través de cualquier medio, desde un Lápiz y papel hasta un diseño elaborado por Software.</a:t>
          </a:r>
          <a:endParaRPr lang="es-PE" sz="2400" b="0" kern="1200" dirty="0">
            <a:solidFill>
              <a:srgbClr val="0000CC"/>
            </a:solidFill>
            <a:latin typeface="Segoe UI Light" panose="020B0502040204020203" pitchFamily="34" charset="0"/>
            <a:cs typeface="Segoe UI Light" panose="020B0502040204020203" pitchFamily="34" charset="0"/>
          </a:endParaRPr>
        </a:p>
        <a:p>
          <a:pPr marL="0" lvl="1" indent="0" algn="l" defTabSz="1066800">
            <a:lnSpc>
              <a:spcPct val="90000"/>
            </a:lnSpc>
            <a:spcBef>
              <a:spcPct val="0"/>
            </a:spcBef>
            <a:spcAft>
              <a:spcPct val="15000"/>
            </a:spcAft>
            <a:buNone/>
          </a:pPr>
          <a:r>
            <a:rPr lang="es-MX" sz="2400" b="0" kern="1200" dirty="0">
              <a:solidFill>
                <a:schemeClr val="tx1"/>
              </a:solidFill>
              <a:latin typeface="Segoe UI Light" panose="020B0502040204020203" pitchFamily="34" charset="0"/>
              <a:cs typeface="Segoe UI Light" panose="020B0502040204020203" pitchFamily="34" charset="0"/>
            </a:rPr>
            <a:t>Incluso podemos ir más allá, ir definiendo colores, tamaños, tipografías específicos, etc.</a:t>
          </a:r>
          <a:endParaRPr lang="es-PE" sz="2400" b="0" kern="1200" dirty="0">
            <a:solidFill>
              <a:schemeClr val="tx1"/>
            </a:solidFill>
            <a:latin typeface="Segoe UI Light" panose="020B0502040204020203" pitchFamily="34" charset="0"/>
            <a:cs typeface="Segoe UI Light" panose="020B0502040204020203" pitchFamily="34" charset="0"/>
          </a:endParaRPr>
        </a:p>
      </dsp:txBody>
      <dsp:txXfrm>
        <a:off x="0" y="496335"/>
        <a:ext cx="3881720" cy="4319625"/>
      </dsp:txXfrm>
    </dsp:sp>
    <dsp:sp modelId="{90DF8371-C9F4-40C7-AA24-BFAE745C0D97}">
      <dsp:nvSpPr>
        <dsp:cNvPr id="0" name=""/>
        <dsp:cNvSpPr/>
      </dsp:nvSpPr>
      <dsp:spPr>
        <a:xfrm>
          <a:off x="194906" y="239596"/>
          <a:ext cx="3370936" cy="66148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2704" tIns="0" rIns="102704"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4. El </a:t>
          </a:r>
          <a:r>
            <a:rPr lang="es-PE" sz="2400" kern="1200" dirty="0" err="1">
              <a:latin typeface="Oswald" panose="00000500000000000000" pitchFamily="2" charset="0"/>
            </a:rPr>
            <a:t>Wireframe</a:t>
          </a:r>
          <a:endParaRPr lang="es-PE" sz="2400" kern="1200" dirty="0">
            <a:latin typeface="Oswald" panose="00000500000000000000" pitchFamily="2" charset="0"/>
          </a:endParaRPr>
        </a:p>
      </dsp:txBody>
      <dsp:txXfrm>
        <a:off x="227197" y="271887"/>
        <a:ext cx="3306354" cy="596902"/>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2873"/>
          <a:ext cx="4601247" cy="5466324"/>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7108" tIns="604012" rIns="357108" bIns="206248" numCol="1" spcCol="1270" anchor="t" anchorCtr="0">
          <a:noAutofit/>
        </a:bodyPr>
        <a:lstStyle/>
        <a:p>
          <a:pPr marL="0" lvl="1" indent="0" algn="l" defTabSz="1289050">
            <a:lnSpc>
              <a:spcPct val="90000"/>
            </a:lnSpc>
            <a:spcBef>
              <a:spcPct val="0"/>
            </a:spcBef>
            <a:spcAft>
              <a:spcPct val="15000"/>
            </a:spcAft>
            <a:buNone/>
          </a:pPr>
          <a:r>
            <a:rPr lang="es-MX" sz="2900" b="0" i="0" kern="1200" dirty="0">
              <a:effectLst/>
              <a:latin typeface="Segoe UI Light" panose="020B0502040204020203" pitchFamily="34" charset="0"/>
              <a:cs typeface="Segoe UI Light" panose="020B0502040204020203" pitchFamily="34" charset="0"/>
            </a:rPr>
            <a:t>Es aquí donde llevamos a la acción toda la planeación, además de explotar todas nuestras habilidades técnicas y creativas.</a:t>
          </a:r>
          <a:endParaRPr lang="es-PE" sz="2900" b="0" kern="1200" dirty="0">
            <a:solidFill>
              <a:srgbClr val="0000CC"/>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Es donde los elementos anteriores nos llevan a la máxima productividad.</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332873"/>
        <a:ext cx="4601247" cy="5466324"/>
      </dsp:txXfrm>
    </dsp:sp>
    <dsp:sp modelId="{90DF8371-C9F4-40C7-AA24-BFAE745C0D97}">
      <dsp:nvSpPr>
        <dsp:cNvPr id="0" name=""/>
        <dsp:cNvSpPr/>
      </dsp:nvSpPr>
      <dsp:spPr>
        <a:xfrm>
          <a:off x="231035" y="31869"/>
          <a:ext cx="3995782" cy="77553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741" tIns="0" rIns="121741"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5. Diseño de Alta Fidelidad</a:t>
          </a:r>
        </a:p>
      </dsp:txBody>
      <dsp:txXfrm>
        <a:off x="268893" y="69727"/>
        <a:ext cx="3920066" cy="699817"/>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533841"/>
          <a:ext cx="4601247" cy="5064388"/>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7108" tIns="624840" rIns="357108" bIns="213360" numCol="1" spcCol="1270" anchor="t" anchorCtr="0">
          <a:noAutofit/>
        </a:bodyPr>
        <a:lstStyle/>
        <a:p>
          <a:pPr marL="0" lvl="1" indent="0" algn="l" defTabSz="1333500">
            <a:lnSpc>
              <a:spcPct val="90000"/>
            </a:lnSpc>
            <a:spcBef>
              <a:spcPct val="0"/>
            </a:spcBef>
            <a:spcAft>
              <a:spcPct val="15000"/>
            </a:spcAft>
            <a:buNone/>
          </a:pPr>
          <a:r>
            <a:rPr lang="es-MX" sz="3000" b="0" i="0" kern="1200" dirty="0">
              <a:effectLst/>
              <a:latin typeface="Segoe UI Light" panose="020B0502040204020203" pitchFamily="34" charset="0"/>
              <a:cs typeface="Segoe UI Light" panose="020B0502040204020203" pitchFamily="34" charset="0"/>
            </a:rPr>
            <a:t>Así empezamos a diseñar directamente los elementos sin perder tiempo valioso en planeación o validación.</a:t>
          </a:r>
          <a:endParaRPr lang="es-PE" sz="3000" b="0" kern="1200" dirty="0">
            <a:solidFill>
              <a:srgbClr val="0000CC"/>
            </a:solidFill>
            <a:latin typeface="Segoe UI Light" panose="020B0502040204020203" pitchFamily="34" charset="0"/>
            <a:cs typeface="Segoe UI Light" panose="020B0502040204020203" pitchFamily="34" charset="0"/>
          </a:endParaRPr>
        </a:p>
        <a:p>
          <a:pPr marL="0" lvl="1" indent="0" algn="l" defTabSz="1333500">
            <a:lnSpc>
              <a:spcPct val="90000"/>
            </a:lnSpc>
            <a:spcBef>
              <a:spcPct val="0"/>
            </a:spcBef>
            <a:spcAft>
              <a:spcPct val="15000"/>
            </a:spcAft>
            <a:buNone/>
          </a:pPr>
          <a:r>
            <a:rPr lang="es-MX" sz="3000" b="0" i="0" kern="1200" dirty="0">
              <a:effectLst/>
              <a:latin typeface="Segoe UI Light" panose="020B0502040204020203" pitchFamily="34" charset="0"/>
              <a:cs typeface="Segoe UI Light" panose="020B0502040204020203" pitchFamily="34" charset="0"/>
            </a:rPr>
            <a:t>Para eso es indispensable contar con un Sistema de Diseño o Guía de estilos</a:t>
          </a:r>
          <a:endParaRPr lang="es-PE" sz="3000" b="0" i="0" kern="1200" dirty="0">
            <a:effectLst/>
            <a:latin typeface="Segoe UI Light" panose="020B0502040204020203" pitchFamily="34" charset="0"/>
            <a:cs typeface="Segoe UI Light" panose="020B0502040204020203" pitchFamily="34" charset="0"/>
          </a:endParaRPr>
        </a:p>
      </dsp:txBody>
      <dsp:txXfrm>
        <a:off x="0" y="533841"/>
        <a:ext cx="4601247" cy="5064388"/>
      </dsp:txXfrm>
    </dsp:sp>
    <dsp:sp modelId="{90DF8371-C9F4-40C7-AA24-BFAE745C0D97}">
      <dsp:nvSpPr>
        <dsp:cNvPr id="0" name=""/>
        <dsp:cNvSpPr/>
      </dsp:nvSpPr>
      <dsp:spPr>
        <a:xfrm>
          <a:off x="231035" y="232837"/>
          <a:ext cx="3995782" cy="77553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741" tIns="0" rIns="121741"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5. Diseño de Alta Fidelidad</a:t>
          </a:r>
        </a:p>
      </dsp:txBody>
      <dsp:txXfrm>
        <a:off x="268893" y="270695"/>
        <a:ext cx="3920066" cy="699817"/>
      </dsp:txXfrm>
    </dsp:sp>
  </dsp:spTree>
</dsp:drawing>
</file>

<file path=ppt/diagrams/drawing2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54631"/>
          <a:ext cx="4017235" cy="4984001"/>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1782" tIns="624840" rIns="311782" bIns="213360" numCol="1" spcCol="1270" anchor="t" anchorCtr="0">
          <a:noAutofit/>
        </a:bodyPr>
        <a:lstStyle/>
        <a:p>
          <a:pPr marL="0" lvl="1" indent="0" algn="l" defTabSz="1333500">
            <a:lnSpc>
              <a:spcPct val="90000"/>
            </a:lnSpc>
            <a:spcBef>
              <a:spcPct val="0"/>
            </a:spcBef>
            <a:spcAft>
              <a:spcPct val="15000"/>
            </a:spcAft>
            <a:buNone/>
          </a:pPr>
          <a:r>
            <a:rPr lang="es-MX" sz="3000" b="0" i="0" kern="1200" dirty="0">
              <a:effectLst/>
              <a:latin typeface="Segoe UI Light" panose="020B0502040204020203" pitchFamily="34" charset="0"/>
              <a:cs typeface="Segoe UI Light" panose="020B0502040204020203" pitchFamily="34" charset="0"/>
            </a:rPr>
            <a:t>Naturalmente debemos llevar el desarrollo en base a ambas versiones, colaborando con el diseño responsive, que se ejecute en la etapa de construcción.</a:t>
          </a:r>
          <a:endParaRPr lang="es-PE" sz="3000" b="0" kern="1200" dirty="0">
            <a:solidFill>
              <a:srgbClr val="0000CC"/>
            </a:solidFill>
            <a:latin typeface="Segoe UI Light" panose="020B0502040204020203" pitchFamily="34" charset="0"/>
            <a:cs typeface="Segoe UI Light" panose="020B0502040204020203" pitchFamily="34" charset="0"/>
          </a:endParaRPr>
        </a:p>
      </dsp:txBody>
      <dsp:txXfrm>
        <a:off x="0" y="354631"/>
        <a:ext cx="4017235" cy="4984001"/>
      </dsp:txXfrm>
    </dsp:sp>
    <dsp:sp modelId="{90DF8371-C9F4-40C7-AA24-BFAE745C0D97}">
      <dsp:nvSpPr>
        <dsp:cNvPr id="0" name=""/>
        <dsp:cNvSpPr/>
      </dsp:nvSpPr>
      <dsp:spPr>
        <a:xfrm>
          <a:off x="201711" y="53627"/>
          <a:ext cx="3488619" cy="77553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289" tIns="0" rIns="106289"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5. Diseño de Alta Fidelidad</a:t>
          </a:r>
        </a:p>
      </dsp:txBody>
      <dsp:txXfrm>
        <a:off x="239569" y="91485"/>
        <a:ext cx="3412903" cy="699817"/>
      </dsp:txXfrm>
    </dsp:sp>
  </dsp:spTree>
</dsp:drawing>
</file>

<file path=ppt/diagrams/drawing2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96968"/>
          <a:ext cx="4017235" cy="5064388"/>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1782" tIns="604012" rIns="311782" bIns="206248" numCol="1" spcCol="1270" anchor="t" anchorCtr="0">
          <a:noAutofit/>
        </a:bodyPr>
        <a:lstStyle/>
        <a:p>
          <a:pPr marL="0" lvl="1" indent="0" algn="l" defTabSz="1289050">
            <a:lnSpc>
              <a:spcPct val="90000"/>
            </a:lnSpc>
            <a:spcBef>
              <a:spcPct val="0"/>
            </a:spcBef>
            <a:spcAft>
              <a:spcPct val="15000"/>
            </a:spcAft>
            <a:buNone/>
          </a:pPr>
          <a:r>
            <a:rPr lang="es-MX" sz="2900" b="0" i="0" kern="1200" dirty="0">
              <a:effectLst/>
              <a:latin typeface="Segoe UI Light" panose="020B0502040204020203" pitchFamily="34" charset="0"/>
              <a:cs typeface="Segoe UI Light" panose="020B0502040204020203" pitchFamily="34" charset="0"/>
            </a:rPr>
            <a:t>Otra cosa importante es llevar los diseños orgánicamente , según el flujo lógico del usuario.
Hacer esto beneficia grandemente la etapa del prototipado.</a:t>
          </a:r>
          <a:endParaRPr lang="es-PE" sz="2900" b="0" kern="1200" dirty="0">
            <a:solidFill>
              <a:srgbClr val="0000CC"/>
            </a:solidFill>
            <a:latin typeface="Segoe UI Light" panose="020B0502040204020203" pitchFamily="34" charset="0"/>
            <a:cs typeface="Segoe UI Light" panose="020B0502040204020203" pitchFamily="34" charset="0"/>
          </a:endParaRPr>
        </a:p>
      </dsp:txBody>
      <dsp:txXfrm>
        <a:off x="0" y="296968"/>
        <a:ext cx="4017235" cy="5064388"/>
      </dsp:txXfrm>
    </dsp:sp>
    <dsp:sp modelId="{90DF8371-C9F4-40C7-AA24-BFAE745C0D97}">
      <dsp:nvSpPr>
        <dsp:cNvPr id="0" name=""/>
        <dsp:cNvSpPr/>
      </dsp:nvSpPr>
      <dsp:spPr>
        <a:xfrm>
          <a:off x="201711" y="13434"/>
          <a:ext cx="3488619" cy="77553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289" tIns="0" rIns="106289"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5. Diseño de Alta Fidelidad</a:t>
          </a:r>
        </a:p>
      </dsp:txBody>
      <dsp:txXfrm>
        <a:off x="239569" y="51292"/>
        <a:ext cx="3412903" cy="699817"/>
      </dsp:txXfrm>
    </dsp:sp>
  </dsp:spTree>
</dsp:drawing>
</file>

<file path=ppt/diagrams/drawing2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502438"/>
          <a:ext cx="4017235" cy="4766483"/>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1782" tIns="728980" rIns="311782" bIns="248920" numCol="1" spcCol="1270" anchor="t" anchorCtr="0">
          <a:noAutofit/>
        </a:bodyPr>
        <a:lstStyle/>
        <a:p>
          <a:pPr marL="0" lvl="1" indent="0" algn="l" defTabSz="1555750">
            <a:lnSpc>
              <a:spcPct val="90000"/>
            </a:lnSpc>
            <a:spcBef>
              <a:spcPct val="0"/>
            </a:spcBef>
            <a:spcAft>
              <a:spcPct val="15000"/>
            </a:spcAft>
            <a:buNone/>
          </a:pPr>
          <a:r>
            <a:rPr lang="es-MX" sz="3500" b="0" i="0" kern="1200" dirty="0">
              <a:effectLst/>
              <a:latin typeface="Segoe UI Light" panose="020B0502040204020203" pitchFamily="34" charset="0"/>
              <a:cs typeface="Segoe UI Light" panose="020B0502040204020203" pitchFamily="34" charset="0"/>
            </a:rPr>
            <a:t>Además también, que al final del flujo haya el retorno de ciclo, para no dejar estancada la </a:t>
          </a:r>
          <a:r>
            <a:rPr lang="es-MX" sz="3500" b="0" i="0" kern="1200" dirty="0" err="1">
              <a:effectLst/>
              <a:latin typeface="Segoe UI Light" panose="020B0502040204020203" pitchFamily="34" charset="0"/>
              <a:cs typeface="Segoe UI Light" panose="020B0502040204020203" pitchFamily="34" charset="0"/>
            </a:rPr>
            <a:t>iteracción</a:t>
          </a:r>
          <a:r>
            <a:rPr lang="es-MX" sz="3500" b="0" i="0" kern="1200" dirty="0">
              <a:effectLst/>
              <a:latin typeface="Segoe UI Light" panose="020B0502040204020203" pitchFamily="34" charset="0"/>
              <a:cs typeface="Segoe UI Light" panose="020B0502040204020203" pitchFamily="34" charset="0"/>
            </a:rPr>
            <a:t>.</a:t>
          </a:r>
          <a:endParaRPr lang="es-PE" sz="3500" b="0" kern="1200" dirty="0">
            <a:solidFill>
              <a:srgbClr val="0000CC"/>
            </a:solidFill>
            <a:latin typeface="Segoe UI Light" panose="020B0502040204020203" pitchFamily="34" charset="0"/>
            <a:cs typeface="Segoe UI Light" panose="020B0502040204020203" pitchFamily="34" charset="0"/>
          </a:endParaRPr>
        </a:p>
      </dsp:txBody>
      <dsp:txXfrm>
        <a:off x="0" y="502438"/>
        <a:ext cx="4017235" cy="4766483"/>
      </dsp:txXfrm>
    </dsp:sp>
    <dsp:sp modelId="{90DF8371-C9F4-40C7-AA24-BFAE745C0D97}">
      <dsp:nvSpPr>
        <dsp:cNvPr id="0" name=""/>
        <dsp:cNvSpPr/>
      </dsp:nvSpPr>
      <dsp:spPr>
        <a:xfrm>
          <a:off x="201711" y="130610"/>
          <a:ext cx="3488619" cy="958011"/>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6289" tIns="0" rIns="106289"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5. Diseño de Alta Fidelidad</a:t>
          </a:r>
        </a:p>
      </dsp:txBody>
      <dsp:txXfrm>
        <a:off x="248477" y="177376"/>
        <a:ext cx="3395087" cy="864479"/>
      </dsp:txXfrm>
    </dsp:sp>
  </dsp:spTree>
</dsp:drawing>
</file>

<file path=ppt/diagrams/drawing2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69983"/>
          <a:ext cx="4091149" cy="497927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37388" rIns="317519" bIns="149352" numCol="1" spcCol="1270" anchor="t" anchorCtr="0">
          <a:noAutofit/>
        </a:bodyPr>
        <a:lstStyle/>
        <a:p>
          <a:pPr marL="0" lvl="1" indent="0" algn="l" defTabSz="933450">
            <a:lnSpc>
              <a:spcPct val="90000"/>
            </a:lnSpc>
            <a:spcBef>
              <a:spcPct val="0"/>
            </a:spcBef>
            <a:spcAft>
              <a:spcPct val="15000"/>
            </a:spcAft>
            <a:buNone/>
          </a:pPr>
          <a:r>
            <a:rPr lang="es-MX" sz="2100" b="0" i="0" kern="1200" dirty="0">
              <a:effectLst/>
              <a:latin typeface="Segoe UI Light" panose="020B0502040204020203" pitchFamily="34" charset="0"/>
              <a:cs typeface="Segoe UI Light" panose="020B0502040204020203" pitchFamily="34" charset="0"/>
            </a:rPr>
            <a:t>“</a:t>
          </a:r>
          <a:r>
            <a:rPr lang="es-MX" sz="2100" b="1" i="0" kern="1200" dirty="0">
              <a:solidFill>
                <a:srgbClr val="1E2BFF"/>
              </a:solidFill>
              <a:effectLst/>
              <a:latin typeface="Segoe UI Light" panose="020B0502040204020203" pitchFamily="34" charset="0"/>
              <a:cs typeface="Segoe UI Light" panose="020B0502040204020203" pitchFamily="34" charset="0"/>
            </a:rPr>
            <a:t>Del concepto a la experiencia</a:t>
          </a:r>
          <a:r>
            <a:rPr lang="es-MX" sz="2100" b="0" i="0" kern="1200" dirty="0">
              <a:effectLst/>
              <a:latin typeface="Segoe UI Light" panose="020B0502040204020203" pitchFamily="34" charset="0"/>
              <a:cs typeface="Segoe UI Light" panose="020B0502040204020203" pitchFamily="34" charset="0"/>
            </a:rPr>
            <a:t>: el prototipo muestra el flujo real del usuario.”</a:t>
          </a:r>
          <a:endParaRPr lang="es-PE" sz="2100" b="0" kern="1200" dirty="0">
            <a:solidFill>
              <a:srgbClr val="0000CC"/>
            </a:solidFill>
            <a:latin typeface="Segoe UI Light" panose="020B0502040204020203" pitchFamily="34" charset="0"/>
            <a:cs typeface="Segoe UI Light" panose="020B0502040204020203" pitchFamily="34" charset="0"/>
          </a:endParaRPr>
        </a:p>
        <a:p>
          <a:pPr marL="0" lvl="1" indent="0" algn="l" defTabSz="933450">
            <a:lnSpc>
              <a:spcPct val="90000"/>
            </a:lnSpc>
            <a:spcBef>
              <a:spcPct val="0"/>
            </a:spcBef>
            <a:spcAft>
              <a:spcPct val="15000"/>
            </a:spcAft>
            <a:buNone/>
          </a:pPr>
          <a:r>
            <a:rPr lang="es-MX" sz="2100" b="1" kern="1200" dirty="0">
              <a:solidFill>
                <a:srgbClr val="1E2BFF"/>
              </a:solidFill>
              <a:latin typeface="Segoe UI Light" panose="020B0502040204020203" pitchFamily="34" charset="0"/>
              <a:cs typeface="Segoe UI Light" panose="020B0502040204020203" pitchFamily="34" charset="0"/>
            </a:rPr>
            <a:t>El prototipado es la etapa donde el diseño cobra vida</a:t>
          </a:r>
          <a:r>
            <a:rPr lang="es-MX" sz="2100" b="0" kern="1200" dirty="0">
              <a:solidFill>
                <a:schemeClr val="tx1"/>
              </a:solidFill>
              <a:latin typeface="Segoe UI Light" panose="020B0502040204020203" pitchFamily="34" charset="0"/>
              <a:cs typeface="Segoe UI Light" panose="020B0502040204020203" pitchFamily="34" charset="0"/>
            </a:rPr>
            <a:t>, permitiendo visualizar la interacción real del usuario con el producto y detectar posibles errores u oportunidades de mejora antes de su implementación final.</a:t>
          </a:r>
          <a:endParaRPr lang="es-PE" sz="2100" b="0" kern="1200" dirty="0">
            <a:solidFill>
              <a:schemeClr val="tx1"/>
            </a:solidFill>
            <a:latin typeface="Segoe UI Light" panose="020B0502040204020203" pitchFamily="34" charset="0"/>
            <a:cs typeface="Segoe UI Light" panose="020B0502040204020203" pitchFamily="34" charset="0"/>
          </a:endParaRPr>
        </a:p>
      </dsp:txBody>
      <dsp:txXfrm>
        <a:off x="0" y="469983"/>
        <a:ext cx="4091149" cy="4979272"/>
      </dsp:txXfrm>
    </dsp:sp>
    <dsp:sp modelId="{90DF8371-C9F4-40C7-AA24-BFAE745C0D97}">
      <dsp:nvSpPr>
        <dsp:cNvPr id="0" name=""/>
        <dsp:cNvSpPr/>
      </dsp:nvSpPr>
      <dsp:spPr>
        <a:xfrm>
          <a:off x="205422" y="230951"/>
          <a:ext cx="3552806" cy="61586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6. El Prototipado</a:t>
          </a:r>
        </a:p>
      </dsp:txBody>
      <dsp:txXfrm>
        <a:off x="235486" y="261015"/>
        <a:ext cx="3492678" cy="555736"/>
      </dsp:txXfrm>
    </dsp:sp>
  </dsp:spTree>
</dsp:drawing>
</file>

<file path=ppt/diagrams/drawing2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687233"/>
          <a:ext cx="4091149" cy="4603344"/>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562356" rIns="317519" bIns="192024" numCol="1" spcCol="1270" anchor="t" anchorCtr="0">
          <a:noAutofit/>
        </a:bodyPr>
        <a:lstStyle/>
        <a:p>
          <a:pPr marL="0" lvl="1" indent="0" algn="l" defTabSz="1200150">
            <a:lnSpc>
              <a:spcPct val="90000"/>
            </a:lnSpc>
            <a:spcBef>
              <a:spcPct val="0"/>
            </a:spcBef>
            <a:spcAft>
              <a:spcPct val="15000"/>
            </a:spcAft>
            <a:buNone/>
          </a:pPr>
          <a:r>
            <a:rPr lang="es-MX" sz="2700" b="0" i="0" kern="1200" dirty="0">
              <a:solidFill>
                <a:schemeClr val="tx1"/>
              </a:solidFill>
              <a:effectLst/>
              <a:latin typeface="Segoe UI Light" panose="020B0502040204020203" pitchFamily="34" charset="0"/>
              <a:cs typeface="Segoe UI Light" panose="020B0502040204020203" pitchFamily="34" charset="0"/>
            </a:rPr>
            <a:t>Aquí es importante conectar los elementos apropiados con el flujo de acción.</a:t>
          </a:r>
          <a:endParaRPr lang="es-PE" sz="2700" b="0" kern="1200" dirty="0">
            <a:solidFill>
              <a:schemeClr val="tx1"/>
            </a:solidFill>
            <a:latin typeface="Segoe UI Light" panose="020B0502040204020203" pitchFamily="34" charset="0"/>
            <a:cs typeface="Segoe UI Light" panose="020B0502040204020203" pitchFamily="34" charset="0"/>
          </a:endParaRPr>
        </a:p>
        <a:p>
          <a:pPr marL="0" lvl="1" indent="0" algn="l" defTabSz="1200150">
            <a:lnSpc>
              <a:spcPct val="90000"/>
            </a:lnSpc>
            <a:spcBef>
              <a:spcPct val="0"/>
            </a:spcBef>
            <a:spcAft>
              <a:spcPct val="15000"/>
            </a:spcAft>
            <a:buNone/>
          </a:pPr>
          <a:endParaRPr lang="es-PE" sz="2700" b="0" kern="1200" dirty="0">
            <a:solidFill>
              <a:schemeClr val="tx1"/>
            </a:solidFill>
            <a:latin typeface="Segoe UI Light" panose="020B0502040204020203" pitchFamily="34" charset="0"/>
            <a:cs typeface="Segoe UI Light" panose="020B0502040204020203" pitchFamily="34" charset="0"/>
          </a:endParaRPr>
        </a:p>
        <a:p>
          <a:pPr marL="0" lvl="1" indent="0" algn="l" defTabSz="1200150">
            <a:lnSpc>
              <a:spcPct val="90000"/>
            </a:lnSpc>
            <a:spcBef>
              <a:spcPct val="0"/>
            </a:spcBef>
            <a:spcAft>
              <a:spcPct val="15000"/>
            </a:spcAft>
            <a:buNone/>
          </a:pPr>
          <a:r>
            <a:rPr lang="es-MX" sz="2700" b="0" i="0" kern="1200" dirty="0">
              <a:solidFill>
                <a:schemeClr val="tx1"/>
              </a:solidFill>
              <a:effectLst/>
              <a:latin typeface="Segoe UI Light" panose="020B0502040204020203" pitchFamily="34" charset="0"/>
              <a:cs typeface="Segoe UI Light" panose="020B0502040204020203" pitchFamily="34" charset="0"/>
            </a:rPr>
            <a:t>No olvidarnos incluir lo elementos de retorno en el flujo de desarrollo.</a:t>
          </a:r>
          <a:endParaRPr lang="es-PE" sz="2700" b="0" i="0" kern="1200" dirty="0">
            <a:solidFill>
              <a:schemeClr val="tx1"/>
            </a:solidFill>
            <a:effectLst/>
            <a:latin typeface="Segoe UI Light" panose="020B0502040204020203" pitchFamily="34" charset="0"/>
            <a:cs typeface="Segoe UI Light" panose="020B0502040204020203" pitchFamily="34" charset="0"/>
          </a:endParaRPr>
        </a:p>
      </dsp:txBody>
      <dsp:txXfrm>
        <a:off x="0" y="687233"/>
        <a:ext cx="4091149" cy="4603344"/>
      </dsp:txXfrm>
    </dsp:sp>
    <dsp:sp modelId="{90DF8371-C9F4-40C7-AA24-BFAE745C0D97}">
      <dsp:nvSpPr>
        <dsp:cNvPr id="0" name=""/>
        <dsp:cNvSpPr/>
      </dsp:nvSpPr>
      <dsp:spPr>
        <a:xfrm>
          <a:off x="205422" y="395083"/>
          <a:ext cx="3552806" cy="75272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6. El Prototipado</a:t>
          </a:r>
        </a:p>
      </dsp:txBody>
      <dsp:txXfrm>
        <a:off x="242167" y="431828"/>
        <a:ext cx="3479316" cy="679233"/>
      </dsp:txXfrm>
    </dsp:sp>
  </dsp:spTree>
</dsp:drawing>
</file>

<file path=ppt/diagrams/drawing2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92675"/>
          <a:ext cx="4091149" cy="5262991"/>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728980" rIns="317519" bIns="248920" numCol="1" spcCol="1270" anchor="t" anchorCtr="0">
          <a:noAutofit/>
        </a:bodyPr>
        <a:lstStyle/>
        <a:p>
          <a:pPr marL="0" lvl="1" indent="0" algn="l" defTabSz="1555750">
            <a:lnSpc>
              <a:spcPct val="90000"/>
            </a:lnSpc>
            <a:spcBef>
              <a:spcPct val="0"/>
            </a:spcBef>
            <a:spcAft>
              <a:spcPct val="15000"/>
            </a:spcAft>
            <a:buNone/>
          </a:pPr>
          <a:r>
            <a:rPr lang="es-MX" sz="3500" b="0" i="0" kern="1200" dirty="0">
              <a:solidFill>
                <a:schemeClr val="tx1"/>
              </a:solidFill>
              <a:effectLst/>
              <a:latin typeface="Segoe UI Light" panose="020B0502040204020203" pitchFamily="34" charset="0"/>
              <a:cs typeface="Segoe UI Light" panose="020B0502040204020203" pitchFamily="34" charset="0"/>
            </a:rPr>
            <a:t>Una buena práctica en el prototipado, es agregar un índice que permita la revisión fluida al desarrollo realizado. </a:t>
          </a:r>
          <a:endParaRPr lang="es-PE" sz="3500" b="0" kern="1200" dirty="0">
            <a:solidFill>
              <a:schemeClr val="tx1"/>
            </a:solidFill>
            <a:latin typeface="Segoe UI Light" panose="020B0502040204020203" pitchFamily="34" charset="0"/>
            <a:cs typeface="Segoe UI Light" panose="020B0502040204020203" pitchFamily="34" charset="0"/>
          </a:endParaRPr>
        </a:p>
      </dsp:txBody>
      <dsp:txXfrm>
        <a:off x="0" y="392675"/>
        <a:ext cx="4091149" cy="5262991"/>
      </dsp:txXfrm>
    </dsp:sp>
    <dsp:sp modelId="{90DF8371-C9F4-40C7-AA24-BFAE745C0D97}">
      <dsp:nvSpPr>
        <dsp:cNvPr id="0" name=""/>
        <dsp:cNvSpPr/>
      </dsp:nvSpPr>
      <dsp:spPr>
        <a:xfrm>
          <a:off x="205422" y="29510"/>
          <a:ext cx="3552806" cy="958011"/>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6. El Prototipado</a:t>
          </a:r>
        </a:p>
      </dsp:txBody>
      <dsp:txXfrm>
        <a:off x="252188" y="76276"/>
        <a:ext cx="3459274" cy="864479"/>
      </dsp:txXfrm>
    </dsp:sp>
  </dsp:spTree>
</dsp:drawing>
</file>

<file path=ppt/diagrams/drawing2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49860"/>
          <a:ext cx="4091149" cy="5248805"/>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541528" rIns="317519" bIns="184912" numCol="1" spcCol="1270" anchor="t" anchorCtr="0">
          <a:noAutofit/>
        </a:bodyPr>
        <a:lstStyle/>
        <a:p>
          <a:pPr marL="0" lvl="1" indent="0" algn="l" defTabSz="1155700">
            <a:lnSpc>
              <a:spcPct val="90000"/>
            </a:lnSpc>
            <a:spcBef>
              <a:spcPct val="0"/>
            </a:spcBef>
            <a:spcAft>
              <a:spcPct val="15000"/>
            </a:spcAft>
            <a:buNone/>
          </a:pPr>
          <a:r>
            <a:rPr lang="es-MX" sz="2600" b="1" i="0" kern="1200" dirty="0">
              <a:solidFill>
                <a:schemeClr val="tx1"/>
              </a:solidFill>
              <a:effectLst/>
              <a:latin typeface="Segoe UI Light" panose="020B0502040204020203" pitchFamily="34" charset="0"/>
              <a:cs typeface="Segoe UI Light" panose="020B0502040204020203" pitchFamily="34" charset="0"/>
            </a:rPr>
            <a:t>Terminar el Diseño no termina el proceso del desarrollo del producto</a:t>
          </a:r>
          <a:r>
            <a:rPr lang="es-MX" sz="2600" b="0" i="0" kern="1200" dirty="0">
              <a:solidFill>
                <a:schemeClr val="tx1"/>
              </a:solidFill>
              <a:effectLst/>
              <a:latin typeface="Segoe UI Light" panose="020B0502040204020203" pitchFamily="34" charset="0"/>
              <a:cs typeface="Segoe UI Light" panose="020B0502040204020203" pitchFamily="34" charset="0"/>
            </a:rPr>
            <a:t>.</a:t>
          </a:r>
          <a:endParaRPr lang="es-PE" sz="2600" b="0" kern="1200" dirty="0">
            <a:solidFill>
              <a:schemeClr val="tx1"/>
            </a:solidFill>
            <a:latin typeface="Segoe UI Light" panose="020B0502040204020203" pitchFamily="34" charset="0"/>
            <a:cs typeface="Segoe UI Light" panose="020B0502040204020203" pitchFamily="34" charset="0"/>
          </a:endParaRPr>
        </a:p>
        <a:p>
          <a:pPr marL="0" lvl="1" indent="0" algn="l" defTabSz="1155700">
            <a:lnSpc>
              <a:spcPct val="90000"/>
            </a:lnSpc>
            <a:spcBef>
              <a:spcPct val="0"/>
            </a:spcBef>
            <a:spcAft>
              <a:spcPct val="15000"/>
            </a:spcAft>
            <a:buNone/>
          </a:pPr>
          <a:r>
            <a:rPr lang="es-MX" sz="2600" b="0" kern="1200" dirty="0">
              <a:solidFill>
                <a:schemeClr val="tx1"/>
              </a:solidFill>
              <a:latin typeface="Segoe UI Light" panose="020B0502040204020203" pitchFamily="34" charset="0"/>
              <a:cs typeface="Segoe UI Light" panose="020B0502040204020203" pitchFamily="34" charset="0"/>
            </a:rPr>
            <a:t>Nuestros proyectos tendrán interacción con diferentes áreas y personas, para los cuales debemos preparar distintos elementos según sea el caso.</a:t>
          </a:r>
          <a:endParaRPr lang="es-PE" sz="2600" b="0" kern="1200" dirty="0">
            <a:solidFill>
              <a:schemeClr val="tx1"/>
            </a:solidFill>
            <a:latin typeface="Segoe UI Light" panose="020B0502040204020203" pitchFamily="34" charset="0"/>
            <a:cs typeface="Segoe UI Light" panose="020B0502040204020203" pitchFamily="34" charset="0"/>
          </a:endParaRPr>
        </a:p>
      </dsp:txBody>
      <dsp:txXfrm>
        <a:off x="0" y="349860"/>
        <a:ext cx="4091149" cy="5248805"/>
      </dsp:txXfrm>
    </dsp:sp>
    <dsp:sp modelId="{90DF8371-C9F4-40C7-AA24-BFAE745C0D97}">
      <dsp:nvSpPr>
        <dsp:cNvPr id="0" name=""/>
        <dsp:cNvSpPr/>
      </dsp:nvSpPr>
      <dsp:spPr>
        <a:xfrm>
          <a:off x="205422" y="84268"/>
          <a:ext cx="3552806" cy="68429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8826" y="117672"/>
        <a:ext cx="3485998" cy="617486"/>
      </dsp:txXfrm>
    </dsp:sp>
  </dsp:spTree>
</dsp:drawing>
</file>

<file path=ppt/diagrams/drawing2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50075"/>
          <a:ext cx="4091149" cy="510694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604012" rIns="317519" bIns="206248" numCol="1" spcCol="1270" anchor="t" anchorCtr="0">
          <a:noAutofit/>
        </a:bodyPr>
        <a:lstStyle/>
        <a:p>
          <a:pPr marL="0" lvl="1" indent="0" algn="l" defTabSz="1289050">
            <a:lnSpc>
              <a:spcPct val="90000"/>
            </a:lnSpc>
            <a:spcBef>
              <a:spcPct val="0"/>
            </a:spcBef>
            <a:spcAft>
              <a:spcPct val="15000"/>
            </a:spcAft>
            <a:buNone/>
          </a:pPr>
          <a:r>
            <a:rPr lang="es-MX" sz="2900" b="1" i="0" kern="1200" dirty="0">
              <a:solidFill>
                <a:schemeClr val="tx1"/>
              </a:solidFill>
              <a:effectLst/>
              <a:latin typeface="Segoe UI Light" panose="020B0502040204020203" pitchFamily="34" charset="0"/>
              <a:cs typeface="Segoe UI Light" panose="020B0502040204020203" pitchFamily="34" charset="0"/>
            </a:rPr>
            <a:t>1.- Diseño de Pantallas.</a:t>
          </a:r>
          <a:endParaRPr lang="es-PE" sz="2900" b="0" kern="1200" dirty="0">
            <a:solidFill>
              <a:schemeClr val="tx1"/>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Cada una de nuestras pantallas de diseño se debe entregar como archivo individual.</a:t>
          </a:r>
          <a:endParaRPr lang="es-PE" sz="2900" b="0" kern="1200" dirty="0">
            <a:solidFill>
              <a:schemeClr val="tx1"/>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
</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450075"/>
        <a:ext cx="4091149" cy="5106946"/>
      </dsp:txXfrm>
    </dsp:sp>
    <dsp:sp modelId="{90DF8371-C9F4-40C7-AA24-BFAE745C0D97}">
      <dsp:nvSpPr>
        <dsp:cNvPr id="0" name=""/>
        <dsp:cNvSpPr/>
      </dsp:nvSpPr>
      <dsp:spPr>
        <a:xfrm>
          <a:off x="205422" y="131366"/>
          <a:ext cx="3552806" cy="82115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45507" y="171451"/>
        <a:ext cx="3472636" cy="740983"/>
      </dsp:txXfrm>
    </dsp:sp>
  </dsp:spTree>
</dsp:drawing>
</file>

<file path=ppt/diagrams/drawing2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48857"/>
          <a:ext cx="4091149" cy="5031287"/>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99872" rIns="317519" bIns="170688" numCol="1" spcCol="1270" anchor="t" anchorCtr="0">
          <a:noAutofit/>
        </a:bodyPr>
        <a:lstStyle/>
        <a:p>
          <a:pPr marL="0" lvl="1" indent="0" algn="l" defTabSz="1066800">
            <a:lnSpc>
              <a:spcPct val="90000"/>
            </a:lnSpc>
            <a:spcBef>
              <a:spcPct val="0"/>
            </a:spcBef>
            <a:spcAft>
              <a:spcPct val="15000"/>
            </a:spcAft>
            <a:buNone/>
          </a:pPr>
          <a:r>
            <a:rPr lang="es-MX" sz="2400" b="1" i="0" kern="1200" dirty="0">
              <a:solidFill>
                <a:schemeClr val="tx1"/>
              </a:solidFill>
              <a:effectLst/>
              <a:latin typeface="Segoe UI Light" panose="020B0502040204020203" pitchFamily="34" charset="0"/>
              <a:cs typeface="Segoe UI Light" panose="020B0502040204020203" pitchFamily="34" charset="0"/>
            </a:rPr>
            <a:t>1.- Diseño de Pantallas.</a:t>
          </a:r>
          <a:endParaRPr lang="es-PE" sz="2400" b="0" kern="1200" dirty="0">
            <a:solidFill>
              <a:schemeClr val="tx1"/>
            </a:solidFill>
            <a:latin typeface="Segoe UI Light" panose="020B0502040204020203" pitchFamily="34" charset="0"/>
            <a:cs typeface="Segoe UI Light" panose="020B0502040204020203" pitchFamily="34" charset="0"/>
          </a:endParaRPr>
        </a:p>
        <a:p>
          <a:pPr marL="0" lvl="1" indent="0" algn="l" defTabSz="1066800">
            <a:lnSpc>
              <a:spcPct val="90000"/>
            </a:lnSpc>
            <a:spcBef>
              <a:spcPct val="0"/>
            </a:spcBef>
            <a:spcAft>
              <a:spcPct val="15000"/>
            </a:spcAft>
            <a:buNone/>
          </a:pPr>
          <a:r>
            <a:rPr lang="es-MX" sz="2400" b="0" kern="1200" dirty="0">
              <a:solidFill>
                <a:schemeClr val="tx1"/>
              </a:solidFill>
              <a:latin typeface="Segoe UI Light" panose="020B0502040204020203" pitchFamily="34" charset="0"/>
              <a:cs typeface="Segoe UI Light" panose="020B0502040204020203" pitchFamily="34" charset="0"/>
            </a:rPr>
            <a:t>Se debe exportar cada una de las pantallas como un archivo de imagen, sea </a:t>
          </a:r>
          <a:r>
            <a:rPr lang="es-MX" sz="2400" b="0" kern="1200" dirty="0" err="1">
              <a:solidFill>
                <a:schemeClr val="tx1"/>
              </a:solidFill>
              <a:latin typeface="Segoe UI Light" panose="020B0502040204020203" pitchFamily="34" charset="0"/>
              <a:cs typeface="Segoe UI Light" panose="020B0502040204020203" pitchFamily="34" charset="0"/>
            </a:rPr>
            <a:t>jpg</a:t>
          </a:r>
          <a:r>
            <a:rPr lang="es-MX" sz="2400" b="0" kern="1200" dirty="0">
              <a:solidFill>
                <a:schemeClr val="tx1"/>
              </a:solidFill>
              <a:latin typeface="Segoe UI Light" panose="020B0502040204020203" pitchFamily="34" charset="0"/>
              <a:cs typeface="Segoe UI Light" panose="020B0502040204020203" pitchFamily="34" charset="0"/>
            </a:rPr>
            <a:t>. como png.</a:t>
          </a:r>
          <a:endParaRPr lang="es-PE" sz="2400" b="0" kern="1200" dirty="0">
            <a:solidFill>
              <a:schemeClr val="tx1"/>
            </a:solidFill>
            <a:latin typeface="Segoe UI Light" panose="020B0502040204020203" pitchFamily="34" charset="0"/>
            <a:cs typeface="Segoe UI Light" panose="020B0502040204020203" pitchFamily="34" charset="0"/>
          </a:endParaRPr>
        </a:p>
        <a:p>
          <a:pPr marL="0" lvl="1" indent="0" algn="l" defTabSz="1066800">
            <a:lnSpc>
              <a:spcPct val="90000"/>
            </a:lnSpc>
            <a:spcBef>
              <a:spcPct val="0"/>
            </a:spcBef>
            <a:spcAft>
              <a:spcPct val="15000"/>
            </a:spcAft>
            <a:buNone/>
          </a:pPr>
          <a:endParaRPr lang="es-PE" sz="2400" b="0" kern="1200" dirty="0">
            <a:solidFill>
              <a:schemeClr val="tx1"/>
            </a:solidFill>
            <a:latin typeface="Segoe UI Light" panose="020B0502040204020203" pitchFamily="34" charset="0"/>
            <a:cs typeface="Segoe UI Light" panose="020B0502040204020203" pitchFamily="34" charset="0"/>
          </a:endParaRPr>
        </a:p>
        <a:p>
          <a:pPr marL="0" lvl="1" indent="0" algn="l" defTabSz="1066800">
            <a:lnSpc>
              <a:spcPct val="90000"/>
            </a:lnSpc>
            <a:spcBef>
              <a:spcPct val="0"/>
            </a:spcBef>
            <a:spcAft>
              <a:spcPct val="15000"/>
            </a:spcAft>
            <a:buNone/>
          </a:pPr>
          <a:r>
            <a:rPr lang="es-MX" sz="2400" b="0" kern="1200" dirty="0">
              <a:solidFill>
                <a:schemeClr val="tx1"/>
              </a:solidFill>
              <a:latin typeface="Segoe UI Light" panose="020B0502040204020203" pitchFamily="34" charset="0"/>
              <a:cs typeface="Segoe UI Light" panose="020B0502040204020203" pitchFamily="34" charset="0"/>
            </a:rPr>
            <a:t>Sirve como registro informativo y a la vez guía visual para futuros desarrollos o escalabilidad del producto.</a:t>
          </a:r>
          <a:endParaRPr lang="es-PE" sz="2400" b="0" kern="1200" dirty="0">
            <a:solidFill>
              <a:schemeClr val="tx1"/>
            </a:solidFill>
            <a:latin typeface="Segoe UI Light" panose="020B0502040204020203" pitchFamily="34" charset="0"/>
            <a:cs typeface="Segoe UI Light" panose="020B0502040204020203" pitchFamily="34" charset="0"/>
          </a:endParaRPr>
        </a:p>
      </dsp:txBody>
      <dsp:txXfrm>
        <a:off x="0" y="448857"/>
        <a:ext cx="4091149" cy="5031287"/>
      </dsp:txXfrm>
    </dsp:sp>
    <dsp:sp modelId="{90DF8371-C9F4-40C7-AA24-BFAE745C0D97}">
      <dsp:nvSpPr>
        <dsp:cNvPr id="0" name=""/>
        <dsp:cNvSpPr/>
      </dsp:nvSpPr>
      <dsp:spPr>
        <a:xfrm>
          <a:off x="205422" y="200971"/>
          <a:ext cx="3552806" cy="63867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6599" y="232148"/>
        <a:ext cx="3490452" cy="576320"/>
      </dsp:txXfrm>
    </dsp:sp>
  </dsp:spTree>
</dsp:drawing>
</file>

<file path=ppt/diagrams/drawing3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491719"/>
          <a:ext cx="4091149" cy="4965086"/>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541528" rIns="317519" bIns="184912" numCol="1" spcCol="1270" anchor="t" anchorCtr="0">
          <a:noAutofit/>
        </a:bodyPr>
        <a:lstStyle/>
        <a:p>
          <a:pPr marL="0" lvl="1" indent="0" algn="l" defTabSz="1155700">
            <a:lnSpc>
              <a:spcPct val="90000"/>
            </a:lnSpc>
            <a:spcBef>
              <a:spcPct val="0"/>
            </a:spcBef>
            <a:spcAft>
              <a:spcPct val="15000"/>
            </a:spcAft>
            <a:buNone/>
          </a:pPr>
          <a:r>
            <a:rPr lang="es-MX" sz="2600" b="1" kern="1200" dirty="0">
              <a:solidFill>
                <a:schemeClr val="tx1"/>
              </a:solidFill>
              <a:latin typeface="Segoe UI Light" panose="020B0502040204020203" pitchFamily="34" charset="0"/>
              <a:cs typeface="Segoe UI Light" panose="020B0502040204020203" pitchFamily="34" charset="0"/>
            </a:rPr>
            <a:t>2.- Exportar Recursos</a:t>
          </a:r>
          <a:endParaRPr lang="es-PE" sz="2600" b="1" kern="1200" dirty="0">
            <a:solidFill>
              <a:schemeClr val="tx1"/>
            </a:solidFill>
            <a:latin typeface="Segoe UI Light" panose="020B0502040204020203" pitchFamily="34" charset="0"/>
            <a:cs typeface="Segoe UI Light" panose="020B0502040204020203" pitchFamily="34" charset="0"/>
          </a:endParaRPr>
        </a:p>
        <a:p>
          <a:pPr marL="0" lvl="1" indent="0" algn="l" defTabSz="1155700">
            <a:lnSpc>
              <a:spcPct val="90000"/>
            </a:lnSpc>
            <a:spcBef>
              <a:spcPct val="0"/>
            </a:spcBef>
            <a:spcAft>
              <a:spcPct val="15000"/>
            </a:spcAft>
            <a:buNone/>
          </a:pPr>
          <a:r>
            <a:rPr lang="es-MX" sz="2600" b="0" kern="1200" dirty="0">
              <a:solidFill>
                <a:schemeClr val="tx1"/>
              </a:solidFill>
              <a:latin typeface="Segoe UI Light" panose="020B0502040204020203" pitchFamily="34" charset="0"/>
              <a:cs typeface="Segoe UI Light" panose="020B0502040204020203" pitchFamily="34" charset="0"/>
            </a:rPr>
            <a:t>Los archivos de imagen y recursos vectoriales necesarios para el desarrollo del </a:t>
          </a:r>
          <a:r>
            <a:rPr lang="es-MX" sz="2600" b="0" kern="1200" dirty="0" err="1">
              <a:solidFill>
                <a:schemeClr val="tx1"/>
              </a:solidFill>
              <a:latin typeface="Segoe UI Light" panose="020B0502040204020203" pitchFamily="34" charset="0"/>
              <a:cs typeface="Segoe UI Light" panose="020B0502040204020203" pitchFamily="34" charset="0"/>
            </a:rPr>
            <a:t>font-end</a:t>
          </a:r>
          <a:r>
            <a:rPr lang="es-MX" sz="2600" b="0" kern="1200" dirty="0">
              <a:solidFill>
                <a:schemeClr val="tx1"/>
              </a:solidFill>
              <a:latin typeface="Segoe UI Light" panose="020B0502040204020203" pitchFamily="34" charset="0"/>
              <a:cs typeface="Segoe UI Light" panose="020B0502040204020203" pitchFamily="34" charset="0"/>
            </a:rPr>
            <a:t>.</a:t>
          </a:r>
          <a:endParaRPr lang="es-PE" sz="2600" b="0" kern="1200" dirty="0">
            <a:solidFill>
              <a:schemeClr val="tx1"/>
            </a:solidFill>
            <a:latin typeface="Segoe UI Light" panose="020B0502040204020203" pitchFamily="34" charset="0"/>
            <a:cs typeface="Segoe UI Light" panose="020B0502040204020203" pitchFamily="34" charset="0"/>
          </a:endParaRPr>
        </a:p>
        <a:p>
          <a:pPr marL="0" lvl="1" indent="0" algn="l" defTabSz="1155700">
            <a:lnSpc>
              <a:spcPct val="90000"/>
            </a:lnSpc>
            <a:spcBef>
              <a:spcPct val="0"/>
            </a:spcBef>
            <a:spcAft>
              <a:spcPct val="15000"/>
            </a:spcAft>
            <a:buNone/>
          </a:pPr>
          <a:r>
            <a:rPr lang="es-MX" sz="2600" b="0" kern="1200" dirty="0">
              <a:solidFill>
                <a:schemeClr val="tx1"/>
              </a:solidFill>
              <a:latin typeface="Segoe UI Light" panose="020B0502040204020203" pitchFamily="34" charset="0"/>
              <a:cs typeface="Segoe UI Light" panose="020B0502040204020203" pitchFamily="34" charset="0"/>
            </a:rPr>
            <a:t>Aquí es donde debemos incluir cualquier elemento necesario para la construcción del producto digital.</a:t>
          </a:r>
          <a:endParaRPr lang="es-PE" sz="2600" b="0" kern="1200" dirty="0">
            <a:solidFill>
              <a:schemeClr val="tx1"/>
            </a:solidFill>
            <a:latin typeface="Segoe UI Light" panose="020B0502040204020203" pitchFamily="34" charset="0"/>
            <a:cs typeface="Segoe UI Light" panose="020B0502040204020203" pitchFamily="34" charset="0"/>
          </a:endParaRPr>
        </a:p>
      </dsp:txBody>
      <dsp:txXfrm>
        <a:off x="0" y="491719"/>
        <a:ext cx="4091149" cy="4965086"/>
      </dsp:txXfrm>
    </dsp:sp>
    <dsp:sp modelId="{90DF8371-C9F4-40C7-AA24-BFAE745C0D97}">
      <dsp:nvSpPr>
        <dsp:cNvPr id="0" name=""/>
        <dsp:cNvSpPr/>
      </dsp:nvSpPr>
      <dsp:spPr>
        <a:xfrm>
          <a:off x="205422" y="226128"/>
          <a:ext cx="3552806" cy="68429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8826" y="259532"/>
        <a:ext cx="3485998" cy="617486"/>
      </dsp:txXfrm>
    </dsp:sp>
  </dsp:spTree>
</dsp:drawing>
</file>

<file path=ppt/diagrams/drawing3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91997"/>
          <a:ext cx="4091149" cy="5213341"/>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645668" rIns="317519" bIns="220472" numCol="1" spcCol="1270" anchor="t" anchorCtr="0">
          <a:noAutofit/>
        </a:bodyPr>
        <a:lstStyle/>
        <a:p>
          <a:pPr marL="0" lvl="1" indent="0" algn="l" defTabSz="1377950">
            <a:lnSpc>
              <a:spcPct val="90000"/>
            </a:lnSpc>
            <a:spcBef>
              <a:spcPct val="0"/>
            </a:spcBef>
            <a:spcAft>
              <a:spcPct val="15000"/>
            </a:spcAft>
            <a:buNone/>
          </a:pPr>
          <a:r>
            <a:rPr lang="es-MX" sz="3100" b="1" kern="1200" dirty="0">
              <a:solidFill>
                <a:schemeClr val="tx1"/>
              </a:solidFill>
              <a:latin typeface="Segoe UI Light" panose="020B0502040204020203" pitchFamily="34" charset="0"/>
              <a:cs typeface="Segoe UI Light" panose="020B0502040204020203" pitchFamily="34" charset="0"/>
            </a:rPr>
            <a:t>2.- Exportar Recursos</a:t>
          </a:r>
          <a:endParaRPr lang="es-PE" sz="3100" b="1" kern="1200" dirty="0">
            <a:solidFill>
              <a:schemeClr val="tx1"/>
            </a:solidFill>
            <a:latin typeface="Segoe UI Light" panose="020B0502040204020203" pitchFamily="34" charset="0"/>
            <a:cs typeface="Segoe UI Light" panose="020B0502040204020203" pitchFamily="34" charset="0"/>
          </a:endParaRPr>
        </a:p>
        <a:p>
          <a:pPr marL="0" lvl="1" indent="0" algn="l" defTabSz="1377950">
            <a:lnSpc>
              <a:spcPct val="90000"/>
            </a:lnSpc>
            <a:spcBef>
              <a:spcPct val="0"/>
            </a:spcBef>
            <a:spcAft>
              <a:spcPct val="15000"/>
            </a:spcAft>
            <a:buNone/>
          </a:pPr>
          <a:r>
            <a:rPr lang="es-PE" sz="3100" b="0" kern="1200" dirty="0">
              <a:solidFill>
                <a:schemeClr val="tx1"/>
              </a:solidFill>
              <a:latin typeface="Segoe UI Light" panose="020B0502040204020203" pitchFamily="34" charset="0"/>
              <a:cs typeface="Segoe UI Light" panose="020B0502040204020203" pitchFamily="34" charset="0"/>
            </a:rPr>
            <a:t>Fotos, logos, iconos, tipografías por instalar, variantes de recursos, incluso los diferentes tamaños de imágenes a utilizar.</a:t>
          </a:r>
        </a:p>
      </dsp:txBody>
      <dsp:txXfrm>
        <a:off x="0" y="391997"/>
        <a:ext cx="4091149" cy="5213341"/>
      </dsp:txXfrm>
    </dsp:sp>
    <dsp:sp modelId="{90DF8371-C9F4-40C7-AA24-BFAE745C0D97}">
      <dsp:nvSpPr>
        <dsp:cNvPr id="0" name=""/>
        <dsp:cNvSpPr/>
      </dsp:nvSpPr>
      <dsp:spPr>
        <a:xfrm>
          <a:off x="205422" y="82140"/>
          <a:ext cx="3552806" cy="79834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44394" y="121112"/>
        <a:ext cx="3474862" cy="720399"/>
      </dsp:txXfrm>
    </dsp:sp>
  </dsp:spTree>
</dsp:drawing>
</file>

<file path=ppt/diagrams/drawing3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6131"/>
          <a:ext cx="4091149" cy="530554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604012" rIns="317519" bIns="206248" numCol="1" spcCol="1270" anchor="t" anchorCtr="0">
          <a:noAutofit/>
        </a:bodyPr>
        <a:lstStyle/>
        <a:p>
          <a:pPr marL="0" lvl="1" indent="0" algn="l" defTabSz="1289050">
            <a:lnSpc>
              <a:spcPct val="90000"/>
            </a:lnSpc>
            <a:spcBef>
              <a:spcPct val="0"/>
            </a:spcBef>
            <a:spcAft>
              <a:spcPct val="15000"/>
            </a:spcAft>
            <a:buNone/>
          </a:pPr>
          <a:r>
            <a:rPr lang="es-MX" sz="2900" b="1" kern="1200" dirty="0">
              <a:solidFill>
                <a:schemeClr val="tx1"/>
              </a:solidFill>
              <a:latin typeface="Segoe UI Light" panose="020B0502040204020203" pitchFamily="34" charset="0"/>
              <a:cs typeface="Segoe UI Light" panose="020B0502040204020203" pitchFamily="34" charset="0"/>
            </a:rPr>
            <a:t>3.- </a:t>
          </a:r>
          <a:r>
            <a:rPr lang="es-MX" sz="2900" b="1" kern="1200">
              <a:solidFill>
                <a:schemeClr val="tx1"/>
              </a:solidFill>
              <a:latin typeface="Segoe UI Light" panose="020B0502040204020203" pitchFamily="34" charset="0"/>
              <a:cs typeface="Segoe UI Light" panose="020B0502040204020203" pitchFamily="34" charset="0"/>
            </a:rPr>
            <a:t>Prototipo Interactivo</a:t>
          </a:r>
          <a:r>
            <a:rPr lang="es-MX" sz="2900" b="1" kern="1200" dirty="0">
              <a:solidFill>
                <a:schemeClr val="tx1"/>
              </a:solidFill>
              <a:latin typeface="Segoe UI Light" panose="020B0502040204020203" pitchFamily="34" charset="0"/>
              <a:cs typeface="Segoe UI Light" panose="020B0502040204020203" pitchFamily="34" charset="0"/>
            </a:rPr>
            <a:t>.</a:t>
          </a:r>
          <a:endParaRPr lang="es-PE" sz="2900" b="1" kern="1200" dirty="0">
            <a:solidFill>
              <a:schemeClr val="tx1"/>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Además de compartir el prototipo vía enlace o archivo editable, es útil capturar la simulación de nuestro prototipo, llevando a cabo el flujo desarrollado.</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336131"/>
        <a:ext cx="4091149" cy="5305549"/>
      </dsp:txXfrm>
    </dsp:sp>
    <dsp:sp modelId="{90DF8371-C9F4-40C7-AA24-BFAE745C0D97}">
      <dsp:nvSpPr>
        <dsp:cNvPr id="0" name=""/>
        <dsp:cNvSpPr/>
      </dsp:nvSpPr>
      <dsp:spPr>
        <a:xfrm>
          <a:off x="205422" y="43980"/>
          <a:ext cx="3552806" cy="75272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42167" y="80725"/>
        <a:ext cx="3479316" cy="679233"/>
      </dsp:txXfrm>
    </dsp:sp>
  </dsp:spTree>
</dsp:drawing>
</file>

<file path=ppt/diagrams/drawing3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36131"/>
          <a:ext cx="4091149" cy="530554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583184" rIns="317519" bIns="199136" numCol="1" spcCol="1270" anchor="t" anchorCtr="0">
          <a:noAutofit/>
        </a:bodyPr>
        <a:lstStyle/>
        <a:p>
          <a:pPr marL="0" lvl="1" indent="0" algn="l" defTabSz="1244600">
            <a:lnSpc>
              <a:spcPct val="90000"/>
            </a:lnSpc>
            <a:spcBef>
              <a:spcPct val="0"/>
            </a:spcBef>
            <a:spcAft>
              <a:spcPct val="15000"/>
            </a:spcAft>
            <a:buNone/>
          </a:pPr>
          <a:r>
            <a:rPr lang="es-MX" sz="2800" b="1" kern="1200" dirty="0">
              <a:solidFill>
                <a:schemeClr val="tx1"/>
              </a:solidFill>
              <a:latin typeface="Segoe UI Light" panose="020B0502040204020203" pitchFamily="34" charset="0"/>
              <a:cs typeface="Segoe UI Light" panose="020B0502040204020203" pitchFamily="34" charset="0"/>
            </a:rPr>
            <a:t>3.- Prototipo </a:t>
          </a:r>
          <a:r>
            <a:rPr lang="es-MX" sz="2800" b="1" kern="1200" dirty="0" err="1">
              <a:solidFill>
                <a:schemeClr val="tx1"/>
              </a:solidFill>
              <a:latin typeface="Segoe UI Light" panose="020B0502040204020203" pitchFamily="34" charset="0"/>
              <a:cs typeface="Segoe UI Light" panose="020B0502040204020203" pitchFamily="34" charset="0"/>
            </a:rPr>
            <a:t>Iteractivo</a:t>
          </a:r>
          <a:r>
            <a:rPr lang="es-MX" sz="2800" b="1" kern="1200" dirty="0">
              <a:solidFill>
                <a:schemeClr val="tx1"/>
              </a:solidFill>
              <a:latin typeface="Segoe UI Light" panose="020B0502040204020203" pitchFamily="34" charset="0"/>
              <a:cs typeface="Segoe UI Light" panose="020B0502040204020203" pitchFamily="34" charset="0"/>
            </a:rPr>
            <a:t>.</a:t>
          </a:r>
          <a:endParaRPr lang="es-PE" sz="2800" b="1" kern="1200" dirty="0">
            <a:solidFill>
              <a:schemeClr val="tx1"/>
            </a:solidFill>
            <a:latin typeface="Segoe UI Light" panose="020B0502040204020203" pitchFamily="34" charset="0"/>
            <a:cs typeface="Segoe UI Light" panose="020B0502040204020203" pitchFamily="34" charset="0"/>
          </a:endParaRPr>
        </a:p>
        <a:p>
          <a:pPr marL="0" lvl="1" indent="0" algn="l" defTabSz="1244600">
            <a:lnSpc>
              <a:spcPct val="90000"/>
            </a:lnSpc>
            <a:spcBef>
              <a:spcPct val="0"/>
            </a:spcBef>
            <a:spcAft>
              <a:spcPct val="15000"/>
            </a:spcAft>
            <a:buNone/>
          </a:pPr>
          <a:r>
            <a:rPr lang="es-MX" sz="2800" b="0" kern="1200" dirty="0">
              <a:solidFill>
                <a:schemeClr val="tx1"/>
              </a:solidFill>
              <a:latin typeface="Segoe UI Light" panose="020B0502040204020203" pitchFamily="34" charset="0"/>
              <a:cs typeface="Segoe UI Light" panose="020B0502040204020203" pitchFamily="34" charset="0"/>
            </a:rPr>
            <a:t>Esto también permitirá un contenido inicial si algún área desea producir alguna publicación o animación para fines publicitarios o capacitación de uso.</a:t>
          </a:r>
          <a:endParaRPr lang="es-PE" sz="2800" b="0" kern="1200" dirty="0">
            <a:solidFill>
              <a:schemeClr val="tx1"/>
            </a:solidFill>
            <a:latin typeface="Segoe UI Light" panose="020B0502040204020203" pitchFamily="34" charset="0"/>
            <a:cs typeface="Segoe UI Light" panose="020B0502040204020203" pitchFamily="34" charset="0"/>
          </a:endParaRPr>
        </a:p>
      </dsp:txBody>
      <dsp:txXfrm>
        <a:off x="0" y="336131"/>
        <a:ext cx="4091149" cy="5305549"/>
      </dsp:txXfrm>
    </dsp:sp>
    <dsp:sp modelId="{90DF8371-C9F4-40C7-AA24-BFAE745C0D97}">
      <dsp:nvSpPr>
        <dsp:cNvPr id="0" name=""/>
        <dsp:cNvSpPr/>
      </dsp:nvSpPr>
      <dsp:spPr>
        <a:xfrm>
          <a:off x="205422" y="43980"/>
          <a:ext cx="3552806" cy="75272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42167" y="80725"/>
        <a:ext cx="3479316" cy="679233"/>
      </dsp:txXfrm>
    </dsp:sp>
  </dsp:spTree>
</dsp:drawing>
</file>

<file path=ppt/diagrams/drawing3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652987"/>
          <a:ext cx="4091149" cy="474993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645668" rIns="317519" bIns="220472" numCol="1" spcCol="1270" anchor="t" anchorCtr="0">
          <a:noAutofit/>
        </a:bodyPr>
        <a:lstStyle/>
        <a:p>
          <a:pPr marL="0" lvl="1" indent="0" algn="l" defTabSz="1377950">
            <a:lnSpc>
              <a:spcPct val="90000"/>
            </a:lnSpc>
            <a:spcBef>
              <a:spcPct val="0"/>
            </a:spcBef>
            <a:spcAft>
              <a:spcPct val="15000"/>
            </a:spcAft>
            <a:buNone/>
          </a:pPr>
          <a:r>
            <a:rPr lang="es-MX" sz="3100" b="1" kern="1200" dirty="0">
              <a:solidFill>
                <a:schemeClr val="tx1"/>
              </a:solidFill>
              <a:latin typeface="Segoe UI Light" panose="020B0502040204020203" pitchFamily="34" charset="0"/>
              <a:cs typeface="Segoe UI Light" panose="020B0502040204020203" pitchFamily="34" charset="0"/>
            </a:rPr>
            <a:t>4.- La Guía de Estilos.</a:t>
          </a:r>
          <a:endParaRPr lang="es-PE" sz="3100" b="1" kern="1200" dirty="0">
            <a:solidFill>
              <a:schemeClr val="tx1"/>
            </a:solidFill>
            <a:latin typeface="Segoe UI Light" panose="020B0502040204020203" pitchFamily="34" charset="0"/>
            <a:cs typeface="Segoe UI Light" panose="020B0502040204020203" pitchFamily="34" charset="0"/>
          </a:endParaRPr>
        </a:p>
        <a:p>
          <a:pPr marL="0" lvl="1" indent="0" algn="l" defTabSz="1377950">
            <a:lnSpc>
              <a:spcPct val="90000"/>
            </a:lnSpc>
            <a:spcBef>
              <a:spcPct val="0"/>
            </a:spcBef>
            <a:spcAft>
              <a:spcPct val="15000"/>
            </a:spcAft>
            <a:buNone/>
          </a:pPr>
          <a:r>
            <a:rPr lang="es-MX" sz="3100" b="0" kern="1200" dirty="0">
              <a:solidFill>
                <a:schemeClr val="tx1"/>
              </a:solidFill>
              <a:latin typeface="Segoe UI Light" panose="020B0502040204020203" pitchFamily="34" charset="0"/>
              <a:cs typeface="Segoe UI Light" panose="020B0502040204020203" pitchFamily="34" charset="0"/>
            </a:rPr>
            <a:t>Es una guía con las definiciones estilísticas de los elementos esenciales del proyecto.</a:t>
          </a:r>
          <a:endParaRPr lang="es-PE" sz="3100" b="0" kern="1200" dirty="0">
            <a:solidFill>
              <a:schemeClr val="tx1"/>
            </a:solidFill>
            <a:latin typeface="Segoe UI Light" panose="020B0502040204020203" pitchFamily="34" charset="0"/>
            <a:cs typeface="Segoe UI Light" panose="020B0502040204020203" pitchFamily="34" charset="0"/>
          </a:endParaRPr>
        </a:p>
      </dsp:txBody>
      <dsp:txXfrm>
        <a:off x="0" y="652987"/>
        <a:ext cx="4091149" cy="4749932"/>
      </dsp:txXfrm>
    </dsp:sp>
    <dsp:sp modelId="{90DF8371-C9F4-40C7-AA24-BFAE745C0D97}">
      <dsp:nvSpPr>
        <dsp:cNvPr id="0" name=""/>
        <dsp:cNvSpPr/>
      </dsp:nvSpPr>
      <dsp:spPr>
        <a:xfrm>
          <a:off x="205422" y="290012"/>
          <a:ext cx="3552806" cy="935202"/>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51075" y="335665"/>
        <a:ext cx="3461500" cy="843896"/>
      </dsp:txXfrm>
    </dsp:sp>
  </dsp:spTree>
</dsp:drawing>
</file>

<file path=ppt/diagrams/drawing3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515058"/>
          <a:ext cx="4091149" cy="4898885"/>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58216" rIns="317519" bIns="156464" numCol="1" spcCol="1270" anchor="t" anchorCtr="0">
          <a:noAutofit/>
        </a:bodyPr>
        <a:lstStyle/>
        <a:p>
          <a:pPr marL="0" lvl="1" indent="0" algn="l" defTabSz="977900">
            <a:lnSpc>
              <a:spcPct val="90000"/>
            </a:lnSpc>
            <a:spcBef>
              <a:spcPct val="0"/>
            </a:spcBef>
            <a:spcAft>
              <a:spcPct val="15000"/>
            </a:spcAft>
            <a:buNone/>
          </a:pPr>
          <a:r>
            <a:rPr lang="es-MX" sz="2200" b="1" kern="1200" dirty="0">
              <a:solidFill>
                <a:schemeClr val="tx1"/>
              </a:solidFill>
              <a:latin typeface="Segoe UI Light" panose="020B0502040204020203" pitchFamily="34" charset="0"/>
              <a:cs typeface="Segoe UI Light" panose="020B0502040204020203" pitchFamily="34" charset="0"/>
            </a:rPr>
            <a:t>4.- La Guía de Estilos.</a:t>
          </a:r>
          <a:endParaRPr lang="es-PE" sz="2200" b="1" kern="1200" dirty="0">
            <a:solidFill>
              <a:schemeClr val="tx1"/>
            </a:solidFill>
            <a:latin typeface="Segoe UI Light" panose="020B0502040204020203" pitchFamily="34" charset="0"/>
            <a:cs typeface="Segoe UI Light" panose="020B0502040204020203" pitchFamily="34" charset="0"/>
          </a:endParaRPr>
        </a:p>
        <a:p>
          <a:pPr marL="0" lvl="1" indent="0" algn="l" defTabSz="977900">
            <a:lnSpc>
              <a:spcPct val="90000"/>
            </a:lnSpc>
            <a:spcBef>
              <a:spcPct val="0"/>
            </a:spcBef>
            <a:spcAft>
              <a:spcPct val="15000"/>
            </a:spcAft>
            <a:buNone/>
          </a:pPr>
          <a:r>
            <a:rPr lang="es-MX" sz="2200" b="0" kern="1200" dirty="0">
              <a:solidFill>
                <a:schemeClr val="tx1"/>
              </a:solidFill>
              <a:latin typeface="Segoe UI Light" panose="020B0502040204020203" pitchFamily="34" charset="0"/>
              <a:cs typeface="Segoe UI Light" panose="020B0502040204020203" pitchFamily="34" charset="0"/>
            </a:rPr>
            <a:t>Si lo vemos conveniente, podemos incluir en esta parte una guía de especificaciones de diseño y componentes</a:t>
          </a:r>
          <a:endParaRPr lang="es-PE" sz="2200" b="0" kern="1200" dirty="0">
            <a:solidFill>
              <a:schemeClr val="tx1"/>
            </a:solidFill>
            <a:latin typeface="Segoe UI Light" panose="020B0502040204020203" pitchFamily="34" charset="0"/>
            <a:cs typeface="Segoe UI Light" panose="020B0502040204020203" pitchFamily="34" charset="0"/>
          </a:endParaRPr>
        </a:p>
        <a:p>
          <a:pPr marL="0" lvl="1" indent="0" algn="l" defTabSz="977900">
            <a:lnSpc>
              <a:spcPct val="90000"/>
            </a:lnSpc>
            <a:spcBef>
              <a:spcPct val="0"/>
            </a:spcBef>
            <a:spcAft>
              <a:spcPct val="15000"/>
            </a:spcAft>
            <a:buNone/>
          </a:pPr>
          <a:r>
            <a:rPr lang="es-MX" sz="2200" b="0" kern="1200" dirty="0">
              <a:solidFill>
                <a:schemeClr val="tx1"/>
              </a:solidFill>
              <a:latin typeface="Segoe UI Light" panose="020B0502040204020203" pitchFamily="34" charset="0"/>
              <a:cs typeface="Segoe UI Light" panose="020B0502040204020203" pitchFamily="34" charset="0"/>
            </a:rPr>
            <a:t>Aquí colocaríamos tamaño de espaciados, proporciones, estilos y tamaños de borde, interlineado e Inter letrado, etc.</a:t>
          </a:r>
          <a:endParaRPr lang="es-PE" sz="2200" b="0" kern="1200" dirty="0">
            <a:solidFill>
              <a:schemeClr val="tx1"/>
            </a:solidFill>
            <a:latin typeface="Segoe UI Light" panose="020B0502040204020203" pitchFamily="34" charset="0"/>
            <a:cs typeface="Segoe UI Light" panose="020B0502040204020203" pitchFamily="34" charset="0"/>
          </a:endParaRPr>
        </a:p>
      </dsp:txBody>
      <dsp:txXfrm>
        <a:off x="0" y="515058"/>
        <a:ext cx="4091149" cy="4898885"/>
      </dsp:txXfrm>
    </dsp:sp>
    <dsp:sp modelId="{90DF8371-C9F4-40C7-AA24-BFAE745C0D97}">
      <dsp:nvSpPr>
        <dsp:cNvPr id="0" name=""/>
        <dsp:cNvSpPr/>
      </dsp:nvSpPr>
      <dsp:spPr>
        <a:xfrm>
          <a:off x="205422" y="267172"/>
          <a:ext cx="3552806" cy="63867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6599" y="298349"/>
        <a:ext cx="3490452" cy="576320"/>
      </dsp:txXfrm>
    </dsp:sp>
  </dsp:spTree>
</dsp:drawing>
</file>

<file path=ppt/diagrams/drawing3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349098"/>
          <a:ext cx="4091149" cy="5201519"/>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37388" rIns="317519" bIns="149352" numCol="1" spcCol="1270" anchor="t" anchorCtr="0">
          <a:noAutofit/>
        </a:bodyPr>
        <a:lstStyle/>
        <a:p>
          <a:pPr marL="0" lvl="1" indent="0" algn="l" defTabSz="933450">
            <a:lnSpc>
              <a:spcPct val="90000"/>
            </a:lnSpc>
            <a:spcBef>
              <a:spcPct val="0"/>
            </a:spcBef>
            <a:spcAft>
              <a:spcPct val="15000"/>
            </a:spcAft>
            <a:buNone/>
          </a:pPr>
          <a:r>
            <a:rPr lang="es-MX" sz="2100" b="1" kern="1200" dirty="0">
              <a:solidFill>
                <a:schemeClr val="tx1"/>
              </a:solidFill>
              <a:latin typeface="Segoe UI Light" panose="020B0502040204020203" pitchFamily="34" charset="0"/>
              <a:cs typeface="Segoe UI Light" panose="020B0502040204020203" pitchFamily="34" charset="0"/>
            </a:rPr>
            <a:t>5.- Definiciones Funcionales.</a:t>
          </a:r>
          <a:endParaRPr lang="es-PE" sz="2100" b="1" kern="1200" dirty="0">
            <a:solidFill>
              <a:schemeClr val="tx1"/>
            </a:solidFill>
            <a:latin typeface="Segoe UI Light" panose="020B0502040204020203" pitchFamily="34" charset="0"/>
            <a:cs typeface="Segoe UI Light" panose="020B0502040204020203" pitchFamily="34" charset="0"/>
          </a:endParaRPr>
        </a:p>
        <a:p>
          <a:pPr marL="0" lvl="1" indent="0" algn="l" defTabSz="933450">
            <a:lnSpc>
              <a:spcPct val="90000"/>
            </a:lnSpc>
            <a:spcBef>
              <a:spcPct val="0"/>
            </a:spcBef>
            <a:spcAft>
              <a:spcPct val="15000"/>
            </a:spcAft>
            <a:buNone/>
          </a:pPr>
          <a:r>
            <a:rPr lang="es-MX" sz="2100" b="0" kern="1200" dirty="0">
              <a:solidFill>
                <a:schemeClr val="tx1"/>
              </a:solidFill>
              <a:latin typeface="Segoe UI Light" panose="020B0502040204020203" pitchFamily="34" charset="0"/>
              <a:cs typeface="Segoe UI Light" panose="020B0502040204020203" pitchFamily="34" charset="0"/>
            </a:rPr>
            <a:t>Si el diseño es muy complejo, debemos incluir ciertas precisiones en la funcionalidad de nuestros medios interactivos, parámetros, efectos, animaciones, entre otras cosas que pueda incluir el proyecto.</a:t>
          </a:r>
          <a:endParaRPr lang="es-PE" sz="2100" b="0" kern="1200" dirty="0">
            <a:solidFill>
              <a:schemeClr val="tx1"/>
            </a:solidFill>
            <a:latin typeface="Segoe UI Light" panose="020B0502040204020203" pitchFamily="34" charset="0"/>
            <a:cs typeface="Segoe UI Light" panose="020B0502040204020203" pitchFamily="34" charset="0"/>
          </a:endParaRPr>
        </a:p>
        <a:p>
          <a:pPr marL="0" lvl="1" indent="0" algn="l" defTabSz="933450">
            <a:lnSpc>
              <a:spcPct val="90000"/>
            </a:lnSpc>
            <a:spcBef>
              <a:spcPct val="0"/>
            </a:spcBef>
            <a:spcAft>
              <a:spcPct val="15000"/>
            </a:spcAft>
            <a:buNone/>
          </a:pPr>
          <a:r>
            <a:rPr lang="es-MX" sz="2100" b="0" kern="1200" dirty="0">
              <a:solidFill>
                <a:schemeClr val="tx1"/>
              </a:solidFill>
              <a:latin typeface="Segoe UI Light" panose="020B0502040204020203" pitchFamily="34" charset="0"/>
              <a:cs typeface="Segoe UI Light" panose="020B0502040204020203" pitchFamily="34" charset="0"/>
            </a:rPr>
            <a:t>Esto también incluye un Glosario de los términos y nombres usados en e desarrollo del producto hasta esta etapa.</a:t>
          </a:r>
          <a:endParaRPr lang="es-PE" sz="2100" b="0" kern="1200" dirty="0">
            <a:solidFill>
              <a:schemeClr val="tx1"/>
            </a:solidFill>
            <a:latin typeface="Segoe UI Light" panose="020B0502040204020203" pitchFamily="34" charset="0"/>
            <a:cs typeface="Segoe UI Light" panose="020B0502040204020203" pitchFamily="34" charset="0"/>
          </a:endParaRPr>
        </a:p>
      </dsp:txBody>
      <dsp:txXfrm>
        <a:off x="0" y="349098"/>
        <a:ext cx="4091149" cy="5201519"/>
      </dsp:txXfrm>
    </dsp:sp>
    <dsp:sp modelId="{90DF8371-C9F4-40C7-AA24-BFAE745C0D97}">
      <dsp:nvSpPr>
        <dsp:cNvPr id="0" name=""/>
        <dsp:cNvSpPr/>
      </dsp:nvSpPr>
      <dsp:spPr>
        <a:xfrm>
          <a:off x="205422" y="127772"/>
          <a:ext cx="3552806" cy="57024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3259" y="155609"/>
        <a:ext cx="3497132" cy="514571"/>
      </dsp:txXfrm>
    </dsp:sp>
  </dsp:spTree>
</dsp:drawing>
</file>

<file path=ppt/diagrams/drawing3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93373"/>
          <a:ext cx="4091149" cy="5362293"/>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604012" rIns="317519" bIns="206248" numCol="1" spcCol="1270" anchor="t" anchorCtr="0">
          <a:noAutofit/>
        </a:bodyPr>
        <a:lstStyle/>
        <a:p>
          <a:pPr marL="0" lvl="1" indent="0" algn="l" defTabSz="1289050">
            <a:lnSpc>
              <a:spcPct val="90000"/>
            </a:lnSpc>
            <a:spcBef>
              <a:spcPct val="0"/>
            </a:spcBef>
            <a:spcAft>
              <a:spcPct val="15000"/>
            </a:spcAft>
            <a:buNone/>
          </a:pPr>
          <a:r>
            <a:rPr lang="es-MX" sz="2900" b="1" kern="1200" dirty="0">
              <a:solidFill>
                <a:schemeClr val="tx1"/>
              </a:solidFill>
              <a:latin typeface="Segoe UI Light" panose="020B0502040204020203" pitchFamily="34" charset="0"/>
              <a:cs typeface="Segoe UI Light" panose="020B0502040204020203" pitchFamily="34" charset="0"/>
            </a:rPr>
            <a:t>6.- Documentación de Entrega.</a:t>
          </a:r>
          <a:endParaRPr lang="es-PE" sz="2900" b="1" kern="1200" dirty="0">
            <a:solidFill>
              <a:schemeClr val="tx1"/>
            </a:solidFill>
            <a:latin typeface="Segoe UI Light" panose="020B0502040204020203" pitchFamily="34" charset="0"/>
            <a:cs typeface="Segoe UI Light" panose="020B0502040204020203" pitchFamily="34" charset="0"/>
          </a:endParaRPr>
        </a:p>
        <a:p>
          <a:pPr marL="0" lvl="1" indent="0" algn="l" defTabSz="1289050">
            <a:lnSpc>
              <a:spcPct val="90000"/>
            </a:lnSpc>
            <a:spcBef>
              <a:spcPct val="0"/>
            </a:spcBef>
            <a:spcAft>
              <a:spcPct val="15000"/>
            </a:spcAft>
            <a:buNone/>
          </a:pPr>
          <a:r>
            <a:rPr lang="es-MX" sz="2900" b="0" kern="1200" dirty="0">
              <a:solidFill>
                <a:schemeClr val="tx1"/>
              </a:solidFill>
              <a:latin typeface="Segoe UI Light" panose="020B0502040204020203" pitchFamily="34" charset="0"/>
              <a:cs typeface="Segoe UI Light" panose="020B0502040204020203" pitchFamily="34" charset="0"/>
            </a:rPr>
            <a:t>Es necesario y cubre la etapa de formalidad, la entrega de un documento descriptivo del proyecto, o de su etapa como tal.</a:t>
          </a:r>
          <a:endParaRPr lang="es-PE" sz="2900" b="0" kern="1200" dirty="0">
            <a:solidFill>
              <a:schemeClr val="tx1"/>
            </a:solidFill>
            <a:latin typeface="Segoe UI Light" panose="020B0502040204020203" pitchFamily="34" charset="0"/>
            <a:cs typeface="Segoe UI Light" panose="020B0502040204020203" pitchFamily="34" charset="0"/>
          </a:endParaRPr>
        </a:p>
      </dsp:txBody>
      <dsp:txXfrm>
        <a:off x="0" y="293373"/>
        <a:ext cx="4091149" cy="5362293"/>
      </dsp:txXfrm>
    </dsp:sp>
    <dsp:sp modelId="{90DF8371-C9F4-40C7-AA24-BFAE745C0D97}">
      <dsp:nvSpPr>
        <dsp:cNvPr id="0" name=""/>
        <dsp:cNvSpPr/>
      </dsp:nvSpPr>
      <dsp:spPr>
        <a:xfrm>
          <a:off x="205422" y="3692"/>
          <a:ext cx="3552806" cy="821153"/>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45507" y="43777"/>
        <a:ext cx="3472636" cy="740983"/>
      </dsp:txXfrm>
    </dsp:sp>
  </dsp:spTree>
</dsp:drawing>
</file>

<file path=ppt/diagrams/drawing3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17714"/>
          <a:ext cx="4091149" cy="5437952"/>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16560" rIns="317519" bIns="142240" numCol="1" spcCol="1270" anchor="t" anchorCtr="0">
          <a:noAutofit/>
        </a:bodyPr>
        <a:lstStyle/>
        <a:p>
          <a:pPr marL="0" lvl="1" indent="0" algn="l" defTabSz="889000">
            <a:lnSpc>
              <a:spcPct val="90000"/>
            </a:lnSpc>
            <a:spcBef>
              <a:spcPct val="0"/>
            </a:spcBef>
            <a:spcAft>
              <a:spcPct val="15000"/>
            </a:spcAft>
            <a:buNone/>
          </a:pPr>
          <a:r>
            <a:rPr lang="es-MX" sz="2000" b="1" kern="1200" dirty="0">
              <a:solidFill>
                <a:schemeClr val="tx1"/>
              </a:solidFill>
              <a:latin typeface="Segoe UI Light" panose="020B0502040204020203" pitchFamily="34" charset="0"/>
              <a:cs typeface="Segoe UI Light" panose="020B0502040204020203" pitchFamily="34" charset="0"/>
            </a:rPr>
            <a:t>6.- Documentación de Entrega.</a:t>
          </a:r>
          <a:endParaRPr lang="es-PE" sz="2000" b="1" kern="1200" dirty="0">
            <a:solidFill>
              <a:schemeClr val="tx1"/>
            </a:solidFill>
            <a:latin typeface="Segoe UI Light" panose="020B0502040204020203" pitchFamily="34" charset="0"/>
            <a:cs typeface="Segoe UI Light" panose="020B0502040204020203" pitchFamily="34" charset="0"/>
          </a:endParaRPr>
        </a:p>
        <a:p>
          <a:pPr marL="0" lvl="1" indent="0" algn="l" defTabSz="889000">
            <a:lnSpc>
              <a:spcPct val="90000"/>
            </a:lnSpc>
            <a:spcBef>
              <a:spcPct val="0"/>
            </a:spcBef>
            <a:spcAft>
              <a:spcPct val="15000"/>
            </a:spcAft>
            <a:buNone/>
          </a:pPr>
          <a:r>
            <a:rPr lang="es-MX" sz="2000" b="0" kern="1200" dirty="0">
              <a:solidFill>
                <a:schemeClr val="tx1"/>
              </a:solidFill>
              <a:latin typeface="Segoe UI Light" panose="020B0502040204020203" pitchFamily="34" charset="0"/>
              <a:cs typeface="Segoe UI Light" panose="020B0502040204020203" pitchFamily="34" charset="0"/>
            </a:rPr>
            <a:t>El mismo que debe incluir un índice mínimo donde figure</a:t>
          </a:r>
          <a:endParaRPr lang="es-PE" sz="2000" b="0" kern="1200" dirty="0">
            <a:solidFill>
              <a:schemeClr val="tx1"/>
            </a:solidFill>
            <a:latin typeface="Segoe UI Light" panose="020B0502040204020203" pitchFamily="34" charset="0"/>
            <a:cs typeface="Segoe UI Light" panose="020B0502040204020203" pitchFamily="34" charset="0"/>
          </a:endParaRPr>
        </a:p>
        <a:p>
          <a:pPr marL="0" lvl="1" indent="0" algn="l" defTabSz="889000">
            <a:lnSpc>
              <a:spcPct val="90000"/>
            </a:lnSpc>
            <a:spcBef>
              <a:spcPct val="0"/>
            </a:spcBef>
            <a:spcAft>
              <a:spcPct val="15000"/>
            </a:spcAft>
            <a:buNone/>
          </a:pPr>
          <a:r>
            <a:rPr lang="es-MX" sz="2000" b="0" kern="1200" dirty="0">
              <a:solidFill>
                <a:schemeClr val="tx1"/>
              </a:solidFill>
              <a:latin typeface="Segoe UI Light" panose="020B0502040204020203" pitchFamily="34" charset="0"/>
              <a:cs typeface="Segoe UI Light" panose="020B0502040204020203" pitchFamily="34" charset="0"/>
            </a:rPr>
            <a:t>La empresa o área de desarrollo.</a:t>
          </a:r>
          <a:endParaRPr lang="es-PE" sz="2000" b="0" kern="1200" dirty="0">
            <a:solidFill>
              <a:schemeClr val="tx1"/>
            </a:solidFill>
            <a:latin typeface="Segoe UI Light" panose="020B0502040204020203" pitchFamily="34" charset="0"/>
            <a:cs typeface="Segoe UI Light" panose="020B0502040204020203" pitchFamily="34" charset="0"/>
          </a:endParaRPr>
        </a:p>
        <a:p>
          <a:pPr marL="0" lvl="1" indent="0" algn="l" defTabSz="889000">
            <a:lnSpc>
              <a:spcPct val="90000"/>
            </a:lnSpc>
            <a:spcBef>
              <a:spcPct val="0"/>
            </a:spcBef>
            <a:spcAft>
              <a:spcPct val="15000"/>
            </a:spcAft>
            <a:buNone/>
          </a:pPr>
          <a:r>
            <a:rPr lang="es-MX" sz="2000" b="0" kern="1200" dirty="0">
              <a:solidFill>
                <a:schemeClr val="tx1"/>
              </a:solidFill>
              <a:latin typeface="Segoe UI Light" panose="020B0502040204020203" pitchFamily="34" charset="0"/>
              <a:cs typeface="Segoe UI Light" panose="020B0502040204020203" pitchFamily="34" charset="0"/>
            </a:rPr>
            <a:t>La fecha y contacto para consultas posteriores.</a:t>
          </a:r>
          <a:endParaRPr lang="es-PE" sz="2000" b="0" kern="1200" dirty="0">
            <a:solidFill>
              <a:schemeClr val="tx1"/>
            </a:solidFill>
            <a:latin typeface="Segoe UI Light" panose="020B0502040204020203" pitchFamily="34" charset="0"/>
            <a:cs typeface="Segoe UI Light" panose="020B0502040204020203" pitchFamily="34" charset="0"/>
          </a:endParaRPr>
        </a:p>
        <a:p>
          <a:pPr marL="0" lvl="1" indent="0" algn="l" defTabSz="889000">
            <a:lnSpc>
              <a:spcPct val="90000"/>
            </a:lnSpc>
            <a:spcBef>
              <a:spcPct val="0"/>
            </a:spcBef>
            <a:spcAft>
              <a:spcPct val="15000"/>
            </a:spcAft>
            <a:buNone/>
          </a:pPr>
          <a:r>
            <a:rPr lang="es-MX" sz="2000" b="0" kern="1200" dirty="0">
              <a:solidFill>
                <a:schemeClr val="tx1"/>
              </a:solidFill>
              <a:latin typeface="Segoe UI Light" panose="020B0502040204020203" pitchFamily="34" charset="0"/>
              <a:cs typeface="Segoe UI Light" panose="020B0502040204020203" pitchFamily="34" charset="0"/>
            </a:rPr>
            <a:t>Descripción de contenido e información de cada parte o etapas de producto, como son Objetivo – Iteracción – Flujo – validaciones, etc.</a:t>
          </a:r>
          <a:endParaRPr lang="es-PE" sz="2000" b="0" kern="1200" dirty="0">
            <a:solidFill>
              <a:schemeClr val="tx1"/>
            </a:solidFill>
            <a:latin typeface="Segoe UI Light" panose="020B0502040204020203" pitchFamily="34" charset="0"/>
            <a:cs typeface="Segoe UI Light" panose="020B0502040204020203" pitchFamily="34" charset="0"/>
          </a:endParaRPr>
        </a:p>
        <a:p>
          <a:pPr marL="0" lvl="1" indent="0" algn="l" defTabSz="889000">
            <a:lnSpc>
              <a:spcPct val="90000"/>
            </a:lnSpc>
            <a:spcBef>
              <a:spcPct val="0"/>
            </a:spcBef>
            <a:spcAft>
              <a:spcPct val="15000"/>
            </a:spcAft>
            <a:buNone/>
          </a:pPr>
          <a:r>
            <a:rPr lang="es-MX" sz="2000" b="0" kern="1200" dirty="0">
              <a:solidFill>
                <a:schemeClr val="tx1"/>
              </a:solidFill>
              <a:latin typeface="Segoe UI Light" panose="020B0502040204020203" pitchFamily="34" charset="0"/>
              <a:cs typeface="Segoe UI Light" panose="020B0502040204020203" pitchFamily="34" charset="0"/>
            </a:rPr>
            <a:t>Todo esto según la naturaleza y Alcance del PMV.</a:t>
          </a:r>
          <a:endParaRPr lang="es-PE" sz="2000" b="0" kern="1200" dirty="0">
            <a:solidFill>
              <a:schemeClr val="tx1"/>
            </a:solidFill>
            <a:latin typeface="Segoe UI Light" panose="020B0502040204020203" pitchFamily="34" charset="0"/>
            <a:cs typeface="Segoe UI Light" panose="020B0502040204020203" pitchFamily="34" charset="0"/>
          </a:endParaRPr>
        </a:p>
      </dsp:txBody>
      <dsp:txXfrm>
        <a:off x="0" y="217714"/>
        <a:ext cx="4091149" cy="5437952"/>
      </dsp:txXfrm>
    </dsp:sp>
    <dsp:sp modelId="{90DF8371-C9F4-40C7-AA24-BFAE745C0D97}">
      <dsp:nvSpPr>
        <dsp:cNvPr id="0" name=""/>
        <dsp:cNvSpPr/>
      </dsp:nvSpPr>
      <dsp:spPr>
        <a:xfrm>
          <a:off x="205422" y="17499"/>
          <a:ext cx="3552806" cy="524625"/>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1032" y="43109"/>
        <a:ext cx="3501586" cy="473405"/>
      </dsp:txXfrm>
    </dsp:sp>
  </dsp:spTree>
</dsp:drawing>
</file>

<file path=ppt/diagrams/drawing3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BE5D02-8470-4663-8771-1FA3327D54CF}">
      <dsp:nvSpPr>
        <dsp:cNvPr id="0" name=""/>
        <dsp:cNvSpPr/>
      </dsp:nvSpPr>
      <dsp:spPr>
        <a:xfrm>
          <a:off x="0" y="227172"/>
          <a:ext cx="4091149" cy="5428494"/>
        </a:xfrm>
        <a:prstGeom prst="rect">
          <a:avLst/>
        </a:prstGeom>
        <a:solidFill>
          <a:schemeClr val="bg1"/>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17519" tIns="458216" rIns="317519" bIns="156464" numCol="1" spcCol="1270" anchor="t" anchorCtr="0">
          <a:noAutofit/>
        </a:bodyPr>
        <a:lstStyle/>
        <a:p>
          <a:pPr marL="0" lvl="1" indent="0" algn="l" defTabSz="977900">
            <a:lnSpc>
              <a:spcPct val="90000"/>
            </a:lnSpc>
            <a:spcBef>
              <a:spcPct val="0"/>
            </a:spcBef>
            <a:spcAft>
              <a:spcPct val="15000"/>
            </a:spcAft>
            <a:buNone/>
          </a:pPr>
          <a:r>
            <a:rPr lang="es-MX" sz="2200" b="1" kern="1200" dirty="0">
              <a:solidFill>
                <a:schemeClr val="tx1"/>
              </a:solidFill>
              <a:latin typeface="Segoe UI Light" panose="020B0502040204020203" pitchFamily="34" charset="0"/>
              <a:cs typeface="Segoe UI Light" panose="020B0502040204020203" pitchFamily="34" charset="0"/>
            </a:rPr>
            <a:t>6.- Documentación de Entrega.</a:t>
          </a:r>
          <a:endParaRPr lang="es-PE" sz="2200" b="1" kern="1200" dirty="0">
            <a:solidFill>
              <a:schemeClr val="tx1"/>
            </a:solidFill>
            <a:latin typeface="Segoe UI Light" panose="020B0502040204020203" pitchFamily="34" charset="0"/>
            <a:cs typeface="Segoe UI Light" panose="020B0502040204020203" pitchFamily="34" charset="0"/>
          </a:endParaRPr>
        </a:p>
        <a:p>
          <a:pPr marL="0" lvl="1" indent="0" algn="l" defTabSz="977900">
            <a:lnSpc>
              <a:spcPct val="90000"/>
            </a:lnSpc>
            <a:spcBef>
              <a:spcPct val="0"/>
            </a:spcBef>
            <a:spcAft>
              <a:spcPct val="15000"/>
            </a:spcAft>
            <a:buNone/>
          </a:pPr>
          <a:r>
            <a:rPr lang="es-MX" sz="2200" b="0" kern="1200" dirty="0">
              <a:solidFill>
                <a:schemeClr val="tx1"/>
              </a:solidFill>
              <a:latin typeface="Segoe UI Light" panose="020B0502040204020203" pitchFamily="34" charset="0"/>
              <a:cs typeface="Segoe UI Light" panose="020B0502040204020203" pitchFamily="34" charset="0"/>
            </a:rPr>
            <a:t>Tener presente que los entregables de cada proyecto dependerán también de: </a:t>
          </a:r>
          <a:endParaRPr lang="es-PE" sz="2200" b="0" kern="1200" dirty="0">
            <a:solidFill>
              <a:schemeClr val="tx1"/>
            </a:solidFill>
            <a:latin typeface="Segoe UI Light" panose="020B0502040204020203" pitchFamily="34" charset="0"/>
            <a:cs typeface="Segoe UI Light" panose="020B0502040204020203" pitchFamily="34" charset="0"/>
          </a:endParaRPr>
        </a:p>
        <a:p>
          <a:pPr marL="0" lvl="1" indent="0" algn="l" defTabSz="977900">
            <a:lnSpc>
              <a:spcPct val="90000"/>
            </a:lnSpc>
            <a:spcBef>
              <a:spcPct val="0"/>
            </a:spcBef>
            <a:spcAft>
              <a:spcPct val="15000"/>
            </a:spcAft>
            <a:buFont typeface="Arial" panose="020B0604020202020204" pitchFamily="34" charset="0"/>
            <a:buChar char="•"/>
          </a:pPr>
          <a:r>
            <a:rPr lang="es-MX" sz="2200" b="0" kern="1200" dirty="0">
              <a:solidFill>
                <a:schemeClr val="tx1"/>
              </a:solidFill>
              <a:latin typeface="Segoe UI Light" panose="020B0502040204020203" pitchFamily="34" charset="0"/>
              <a:cs typeface="Segoe UI Light" panose="020B0502040204020203" pitchFamily="34" charset="0"/>
            </a:rPr>
            <a:t>Los acuerdos con el cliente
El equipo de trabajo y desarrollo
Los estándares de la organización
La complejidad del proyecto.</a:t>
          </a:r>
          <a:endParaRPr lang="es-PE" sz="2200" b="0" kern="1200" dirty="0">
            <a:solidFill>
              <a:schemeClr val="tx1"/>
            </a:solidFill>
            <a:latin typeface="Segoe UI Light" panose="020B0502040204020203" pitchFamily="34" charset="0"/>
            <a:cs typeface="Segoe UI Light" panose="020B0502040204020203" pitchFamily="34" charset="0"/>
          </a:endParaRPr>
        </a:p>
      </dsp:txBody>
      <dsp:txXfrm>
        <a:off x="0" y="227172"/>
        <a:ext cx="4091149" cy="5428494"/>
      </dsp:txXfrm>
    </dsp:sp>
    <dsp:sp modelId="{90DF8371-C9F4-40C7-AA24-BFAE745C0D97}">
      <dsp:nvSpPr>
        <dsp:cNvPr id="0" name=""/>
        <dsp:cNvSpPr/>
      </dsp:nvSpPr>
      <dsp:spPr>
        <a:xfrm>
          <a:off x="205422" y="2368"/>
          <a:ext cx="3552806" cy="638674"/>
        </a:xfrm>
        <a:prstGeom prst="roundRect">
          <a:avLst/>
        </a:prstGeom>
        <a:solidFill>
          <a:srgbClr val="0000C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08245" tIns="0" rIns="108245" bIns="0" numCol="1" spcCol="1270" anchor="ctr" anchorCtr="0">
          <a:noAutofit/>
        </a:bodyPr>
        <a:lstStyle/>
        <a:p>
          <a:pPr marL="0" lvl="0" indent="0" algn="l" defTabSz="1066800">
            <a:lnSpc>
              <a:spcPct val="90000"/>
            </a:lnSpc>
            <a:spcBef>
              <a:spcPct val="0"/>
            </a:spcBef>
            <a:spcAft>
              <a:spcPct val="35000"/>
            </a:spcAft>
            <a:buNone/>
          </a:pPr>
          <a:r>
            <a:rPr lang="es-PE" sz="2400" kern="1200" dirty="0">
              <a:latin typeface="Oswald" panose="00000500000000000000" pitchFamily="2" charset="0"/>
            </a:rPr>
            <a:t>Paso 7. La Documentación</a:t>
          </a:r>
        </a:p>
      </dsp:txBody>
      <dsp:txXfrm>
        <a:off x="236599" y="33545"/>
        <a:ext cx="3490452" cy="576320"/>
      </dsp:txXfrm>
    </dsp:sp>
  </dsp:spTree>
</dsp:drawing>
</file>

<file path=ppt/diagrams/layout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2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1.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3.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5.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6.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7.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8.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9.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799BDC-0764-4CC7-9CEC-AF5E432A27EF}"/>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s-ES"/>
              <a:t>Haga clic para modificar el estilo de título del patrón</a:t>
            </a:r>
            <a:endParaRPr lang="es-PE"/>
          </a:p>
        </p:txBody>
      </p:sp>
      <p:sp>
        <p:nvSpPr>
          <p:cNvPr id="3" name="Subtítulo 2">
            <a:extLst>
              <a:ext uri="{FF2B5EF4-FFF2-40B4-BE49-F238E27FC236}">
                <a16:creationId xmlns:a16="http://schemas.microsoft.com/office/drawing/2014/main" id="{4767CD98-5130-4FF9-BD8C-C2031A43C7F2}"/>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PE"/>
          </a:p>
        </p:txBody>
      </p:sp>
      <p:sp>
        <p:nvSpPr>
          <p:cNvPr id="4" name="Marcador de fecha 3">
            <a:extLst>
              <a:ext uri="{FF2B5EF4-FFF2-40B4-BE49-F238E27FC236}">
                <a16:creationId xmlns:a16="http://schemas.microsoft.com/office/drawing/2014/main" id="{E939ABB8-D12A-4EC1-BB8B-33B00758C48C}"/>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5" name="Marcador de pie de página 4">
            <a:extLst>
              <a:ext uri="{FF2B5EF4-FFF2-40B4-BE49-F238E27FC236}">
                <a16:creationId xmlns:a16="http://schemas.microsoft.com/office/drawing/2014/main" id="{80AAC212-BD1F-4CBF-84B5-EA0DA342C1FB}"/>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6" name="Marcador de número de diapositiva 5">
            <a:extLst>
              <a:ext uri="{FF2B5EF4-FFF2-40B4-BE49-F238E27FC236}">
                <a16:creationId xmlns:a16="http://schemas.microsoft.com/office/drawing/2014/main" id="{C7C36EFB-7F96-4B3A-BCED-456B7E73D9F3}"/>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13537494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3E670D-2D08-472F-B8B7-E62C5E00FD45}"/>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2C65731E-5C64-4ADA-8832-72276B57CEAC}"/>
              </a:ext>
            </a:extLst>
          </p:cNvPr>
          <p:cNvSpPr>
            <a:spLocks noGrp="1"/>
          </p:cNvSpPr>
          <p:nvPr>
            <p:ph idx="1"/>
          </p:nvPr>
        </p:nvSpPr>
        <p:spPr>
          <a:xfrm>
            <a:off x="838200" y="1825625"/>
            <a:ext cx="10515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9E369536-13D7-4455-A1D5-6316D412D634}"/>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5" name="Marcador de pie de página 4">
            <a:extLst>
              <a:ext uri="{FF2B5EF4-FFF2-40B4-BE49-F238E27FC236}">
                <a16:creationId xmlns:a16="http://schemas.microsoft.com/office/drawing/2014/main" id="{71C30800-14CE-43A8-98B9-B123D396C1D2}"/>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6" name="Marcador de número de diapositiva 5">
            <a:extLst>
              <a:ext uri="{FF2B5EF4-FFF2-40B4-BE49-F238E27FC236}">
                <a16:creationId xmlns:a16="http://schemas.microsoft.com/office/drawing/2014/main" id="{C64CC98B-9241-4C7A-9AC2-0E5DB65C2916}"/>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9539019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E616D-D68F-45DB-B210-D2C479323949}"/>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31075ED-051A-4163-A303-71EF2F30C147}"/>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B8093808-4912-4C44-98C3-3667F64E2941}"/>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5" name="Marcador de pie de página 4">
            <a:extLst>
              <a:ext uri="{FF2B5EF4-FFF2-40B4-BE49-F238E27FC236}">
                <a16:creationId xmlns:a16="http://schemas.microsoft.com/office/drawing/2014/main" id="{3FEE4CB5-D29F-4415-AC7F-1BECB0E0DD4D}"/>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6" name="Marcador de número de diapositiva 5">
            <a:extLst>
              <a:ext uri="{FF2B5EF4-FFF2-40B4-BE49-F238E27FC236}">
                <a16:creationId xmlns:a16="http://schemas.microsoft.com/office/drawing/2014/main" id="{D82C7F77-BC75-485A-83EE-34AE8C399CED}"/>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15832824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4736636-E858-4597-B898-23F2232FEBFF}"/>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454C90EE-7C44-4FA3-AACB-D773B2BAAA04}"/>
              </a:ext>
            </a:extLst>
          </p:cNvPr>
          <p:cNvSpPr>
            <a:spLocks noGrp="1"/>
          </p:cNvSpPr>
          <p:nvPr>
            <p:ph sz="half" idx="1"/>
          </p:nvPr>
        </p:nvSpPr>
        <p:spPr>
          <a:xfrm>
            <a:off x="838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contenido 3">
            <a:extLst>
              <a:ext uri="{FF2B5EF4-FFF2-40B4-BE49-F238E27FC236}">
                <a16:creationId xmlns:a16="http://schemas.microsoft.com/office/drawing/2014/main" id="{AEF33019-5D5D-4756-ADB3-5D4776301111}"/>
              </a:ext>
            </a:extLst>
          </p:cNvPr>
          <p:cNvSpPr>
            <a:spLocks noGrp="1"/>
          </p:cNvSpPr>
          <p:nvPr>
            <p:ph sz="half" idx="2"/>
          </p:nvPr>
        </p:nvSpPr>
        <p:spPr>
          <a:xfrm>
            <a:off x="6172200" y="1825625"/>
            <a:ext cx="5181600" cy="435133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fecha 4">
            <a:extLst>
              <a:ext uri="{FF2B5EF4-FFF2-40B4-BE49-F238E27FC236}">
                <a16:creationId xmlns:a16="http://schemas.microsoft.com/office/drawing/2014/main" id="{AF05F357-90C3-4FBF-8E92-A0093368FDB4}"/>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6" name="Marcador de pie de página 5">
            <a:extLst>
              <a:ext uri="{FF2B5EF4-FFF2-40B4-BE49-F238E27FC236}">
                <a16:creationId xmlns:a16="http://schemas.microsoft.com/office/drawing/2014/main" id="{AE74C0F6-E6C7-49E4-A909-13CF57540804}"/>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7" name="Marcador de número de diapositiva 6">
            <a:extLst>
              <a:ext uri="{FF2B5EF4-FFF2-40B4-BE49-F238E27FC236}">
                <a16:creationId xmlns:a16="http://schemas.microsoft.com/office/drawing/2014/main" id="{5A0055D4-AE5C-4DE3-996B-18B0B88D9584}"/>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147134527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25AAD85-9425-4DD4-A29B-5B26491AFA48}"/>
              </a:ext>
            </a:extLst>
          </p:cNvPr>
          <p:cNvSpPr>
            <a:spLocks noGrp="1"/>
          </p:cNvSpPr>
          <p:nvPr>
            <p:ph type="title"/>
          </p:nvPr>
        </p:nvSpPr>
        <p:spPr>
          <a:xfrm>
            <a:off x="839788" y="365125"/>
            <a:ext cx="10515600" cy="1325563"/>
          </a:xfrm>
          <a:prstGeom prst="rect">
            <a:avLst/>
          </a:prstGeom>
        </p:spPr>
        <p:txBody>
          <a:bodyPr/>
          <a:lstStyle/>
          <a:p>
            <a:r>
              <a:rPr lang="es-ES"/>
              <a:t>Haga clic para modificar el estilo de título del patrón</a:t>
            </a:r>
            <a:endParaRPr lang="es-PE"/>
          </a:p>
        </p:txBody>
      </p:sp>
      <p:sp>
        <p:nvSpPr>
          <p:cNvPr id="3" name="Marcador de texto 2">
            <a:extLst>
              <a:ext uri="{FF2B5EF4-FFF2-40B4-BE49-F238E27FC236}">
                <a16:creationId xmlns:a16="http://schemas.microsoft.com/office/drawing/2014/main" id="{F52ECD89-8EB9-48E9-97D9-DBBDC91FA09B}"/>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38C4E33-45EC-4591-9B2B-DDBBC324A09F}"/>
              </a:ext>
            </a:extLst>
          </p:cNvPr>
          <p:cNvSpPr>
            <a:spLocks noGrp="1"/>
          </p:cNvSpPr>
          <p:nvPr>
            <p:ph sz="half" idx="2"/>
          </p:nvPr>
        </p:nvSpPr>
        <p:spPr>
          <a:xfrm>
            <a:off x="839788" y="2505075"/>
            <a:ext cx="5157787"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5" name="Marcador de texto 4">
            <a:extLst>
              <a:ext uri="{FF2B5EF4-FFF2-40B4-BE49-F238E27FC236}">
                <a16:creationId xmlns:a16="http://schemas.microsoft.com/office/drawing/2014/main" id="{1A0AA648-5CA4-4B3C-8AC0-4BABCFE8E5E2}"/>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77A9629B-1E2B-42D9-B4B4-B886EB18486D}"/>
              </a:ext>
            </a:extLst>
          </p:cNvPr>
          <p:cNvSpPr>
            <a:spLocks noGrp="1"/>
          </p:cNvSpPr>
          <p:nvPr>
            <p:ph sz="quarter" idx="4"/>
          </p:nvPr>
        </p:nvSpPr>
        <p:spPr>
          <a:xfrm>
            <a:off x="6172200" y="2505075"/>
            <a:ext cx="5183188" cy="3684588"/>
          </a:xfrm>
          <a:prstGeom prst="rect">
            <a:avLst/>
          </a:prstGeo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7" name="Marcador de fecha 6">
            <a:extLst>
              <a:ext uri="{FF2B5EF4-FFF2-40B4-BE49-F238E27FC236}">
                <a16:creationId xmlns:a16="http://schemas.microsoft.com/office/drawing/2014/main" id="{C13B0A42-0672-4A5C-870A-6A512D474F33}"/>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8" name="Marcador de pie de página 7">
            <a:extLst>
              <a:ext uri="{FF2B5EF4-FFF2-40B4-BE49-F238E27FC236}">
                <a16:creationId xmlns:a16="http://schemas.microsoft.com/office/drawing/2014/main" id="{F4494EDE-3FC5-489F-82E6-848652E9A06C}"/>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9" name="Marcador de número de diapositiva 8">
            <a:extLst>
              <a:ext uri="{FF2B5EF4-FFF2-40B4-BE49-F238E27FC236}">
                <a16:creationId xmlns:a16="http://schemas.microsoft.com/office/drawing/2014/main" id="{893CE9F0-EB7E-4068-8333-55AE1B62C3B2}"/>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4681539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DFC70B8-1FC7-435D-B8AD-0410D3ADC79C}"/>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fecha 2">
            <a:extLst>
              <a:ext uri="{FF2B5EF4-FFF2-40B4-BE49-F238E27FC236}">
                <a16:creationId xmlns:a16="http://schemas.microsoft.com/office/drawing/2014/main" id="{47B36AC1-5E68-4BF6-8EAA-C5F3F869BFE1}"/>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4" name="Marcador de pie de página 3">
            <a:extLst>
              <a:ext uri="{FF2B5EF4-FFF2-40B4-BE49-F238E27FC236}">
                <a16:creationId xmlns:a16="http://schemas.microsoft.com/office/drawing/2014/main" id="{41FCEBE1-E6AE-4EEB-8C2F-587D5148715F}"/>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5" name="Marcador de número de diapositiva 4">
            <a:extLst>
              <a:ext uri="{FF2B5EF4-FFF2-40B4-BE49-F238E27FC236}">
                <a16:creationId xmlns:a16="http://schemas.microsoft.com/office/drawing/2014/main" id="{BC79A79D-5B28-40B0-9FBE-DC571D493045}"/>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32998044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8148AA25-E94D-4DE7-9736-A2AEC3A67AC4}"/>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3" name="Marcador de pie de página 2">
            <a:extLst>
              <a:ext uri="{FF2B5EF4-FFF2-40B4-BE49-F238E27FC236}">
                <a16:creationId xmlns:a16="http://schemas.microsoft.com/office/drawing/2014/main" id="{8BCC606F-96B3-4FEB-A126-E5478E151F52}"/>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4" name="Marcador de número de diapositiva 3">
            <a:extLst>
              <a:ext uri="{FF2B5EF4-FFF2-40B4-BE49-F238E27FC236}">
                <a16:creationId xmlns:a16="http://schemas.microsoft.com/office/drawing/2014/main" id="{96DD3784-C6B7-4310-8073-ED27D29A3716}"/>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4298280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C9FDA4-58AD-47C2-8CA3-DA8AD60CB4BC}"/>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contenido 2">
            <a:extLst>
              <a:ext uri="{FF2B5EF4-FFF2-40B4-BE49-F238E27FC236}">
                <a16:creationId xmlns:a16="http://schemas.microsoft.com/office/drawing/2014/main" id="{EE437E2C-B0D9-43DC-AAB5-ED92FA20EB68}"/>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texto 3">
            <a:extLst>
              <a:ext uri="{FF2B5EF4-FFF2-40B4-BE49-F238E27FC236}">
                <a16:creationId xmlns:a16="http://schemas.microsoft.com/office/drawing/2014/main" id="{768DF925-2EB0-4AAE-A795-35FDCFD4415E}"/>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56E90801-9742-4202-9458-E37D78C3D4E3}"/>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6" name="Marcador de pie de página 5">
            <a:extLst>
              <a:ext uri="{FF2B5EF4-FFF2-40B4-BE49-F238E27FC236}">
                <a16:creationId xmlns:a16="http://schemas.microsoft.com/office/drawing/2014/main" id="{9DE197F4-A649-4228-B49B-8A12CBDED0D9}"/>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7" name="Marcador de número de diapositiva 6">
            <a:extLst>
              <a:ext uri="{FF2B5EF4-FFF2-40B4-BE49-F238E27FC236}">
                <a16:creationId xmlns:a16="http://schemas.microsoft.com/office/drawing/2014/main" id="{F8C1694F-7310-4F20-9C1E-DC42BE87FD9D}"/>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14726898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958C67-D7A3-4E3D-A25E-A531A1FB0048}"/>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s-ES"/>
              <a:t>Haga clic para modificar el estilo de título del patrón</a:t>
            </a:r>
            <a:endParaRPr lang="es-PE"/>
          </a:p>
        </p:txBody>
      </p:sp>
      <p:sp>
        <p:nvSpPr>
          <p:cNvPr id="3" name="Marcador de posición de imagen 2">
            <a:extLst>
              <a:ext uri="{FF2B5EF4-FFF2-40B4-BE49-F238E27FC236}">
                <a16:creationId xmlns:a16="http://schemas.microsoft.com/office/drawing/2014/main" id="{1EA64229-0959-4F95-A533-01DA8B25AC2B}"/>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PE"/>
          </a:p>
        </p:txBody>
      </p:sp>
      <p:sp>
        <p:nvSpPr>
          <p:cNvPr id="4" name="Marcador de texto 3">
            <a:extLst>
              <a:ext uri="{FF2B5EF4-FFF2-40B4-BE49-F238E27FC236}">
                <a16:creationId xmlns:a16="http://schemas.microsoft.com/office/drawing/2014/main" id="{59FE7719-B3C4-4ABA-AC7D-D2A5F1A817F4}"/>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ADE2C176-BB26-4E5E-8802-C33BC74E3EA4}"/>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6" name="Marcador de pie de página 5">
            <a:extLst>
              <a:ext uri="{FF2B5EF4-FFF2-40B4-BE49-F238E27FC236}">
                <a16:creationId xmlns:a16="http://schemas.microsoft.com/office/drawing/2014/main" id="{D11CB1B7-343D-4328-9919-2FEC0BA3A4B0}"/>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7" name="Marcador de número de diapositiva 6">
            <a:extLst>
              <a:ext uri="{FF2B5EF4-FFF2-40B4-BE49-F238E27FC236}">
                <a16:creationId xmlns:a16="http://schemas.microsoft.com/office/drawing/2014/main" id="{0B980EDD-A0C4-4556-A4B9-BACA54AE0506}"/>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206498297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C72233-0FDE-4A7E-8122-7FF1A47C266D}"/>
              </a:ext>
            </a:extLst>
          </p:cNvPr>
          <p:cNvSpPr>
            <a:spLocks noGrp="1"/>
          </p:cNvSpPr>
          <p:nvPr>
            <p:ph type="title"/>
          </p:nvPr>
        </p:nvSpPr>
        <p:spPr>
          <a:xfrm>
            <a:off x="838200" y="365125"/>
            <a:ext cx="10515600" cy="1325563"/>
          </a:xfrm>
          <a:prstGeom prst="rect">
            <a:avLst/>
          </a:prstGeom>
        </p:spPr>
        <p:txBody>
          <a:bodyPr/>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C7B04DB7-6D7A-486C-AFE9-3B5DAD68DB94}"/>
              </a:ext>
            </a:extLst>
          </p:cNvPr>
          <p:cNvSpPr>
            <a:spLocks noGrp="1"/>
          </p:cNvSpPr>
          <p:nvPr>
            <p:ph type="body" orient="vert" idx="1"/>
          </p:nvPr>
        </p:nvSpPr>
        <p:spPr>
          <a:xfrm>
            <a:off x="838200" y="1825625"/>
            <a:ext cx="10515600" cy="43513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C8F5201B-C593-4956-8964-6F1BCB39FB0E}"/>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5" name="Marcador de pie de página 4">
            <a:extLst>
              <a:ext uri="{FF2B5EF4-FFF2-40B4-BE49-F238E27FC236}">
                <a16:creationId xmlns:a16="http://schemas.microsoft.com/office/drawing/2014/main" id="{DF44F5C9-42A5-4EE9-B377-2FB65D7314BD}"/>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6" name="Marcador de número de diapositiva 5">
            <a:extLst>
              <a:ext uri="{FF2B5EF4-FFF2-40B4-BE49-F238E27FC236}">
                <a16:creationId xmlns:a16="http://schemas.microsoft.com/office/drawing/2014/main" id="{9E3DE4F7-EBF2-4F50-99EA-E84D82DD11D4}"/>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295735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CCE582D3-14CA-4CCA-BECC-869A1637911A}"/>
              </a:ext>
            </a:extLst>
          </p:cNvPr>
          <p:cNvSpPr>
            <a:spLocks noGrp="1"/>
          </p:cNvSpPr>
          <p:nvPr>
            <p:ph type="title" orient="vert"/>
          </p:nvPr>
        </p:nvSpPr>
        <p:spPr>
          <a:xfrm>
            <a:off x="8724900" y="365125"/>
            <a:ext cx="2628900" cy="5811838"/>
          </a:xfrm>
          <a:prstGeom prst="rect">
            <a:avLst/>
          </a:prstGeom>
        </p:spPr>
        <p:txBody>
          <a:bodyPr vert="eaVert"/>
          <a:lstStyle/>
          <a:p>
            <a:r>
              <a:rPr lang="es-ES"/>
              <a:t>Haga clic para modificar el estilo de título del patrón</a:t>
            </a:r>
            <a:endParaRPr lang="es-PE"/>
          </a:p>
        </p:txBody>
      </p:sp>
      <p:sp>
        <p:nvSpPr>
          <p:cNvPr id="3" name="Marcador de texto vertical 2">
            <a:extLst>
              <a:ext uri="{FF2B5EF4-FFF2-40B4-BE49-F238E27FC236}">
                <a16:creationId xmlns:a16="http://schemas.microsoft.com/office/drawing/2014/main" id="{0AF53000-A806-467B-833C-E1F56F2D7624}"/>
              </a:ext>
            </a:extLst>
          </p:cNvPr>
          <p:cNvSpPr>
            <a:spLocks noGrp="1"/>
          </p:cNvSpPr>
          <p:nvPr>
            <p:ph type="body" orient="vert" idx="1"/>
          </p:nvPr>
        </p:nvSpPr>
        <p:spPr>
          <a:xfrm>
            <a:off x="838200" y="365125"/>
            <a:ext cx="7734300" cy="5811838"/>
          </a:xfrm>
          <a:prstGeom prst="rect">
            <a:avLst/>
          </a:prstGeo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PE"/>
          </a:p>
        </p:txBody>
      </p:sp>
      <p:sp>
        <p:nvSpPr>
          <p:cNvPr id="4" name="Marcador de fecha 3">
            <a:extLst>
              <a:ext uri="{FF2B5EF4-FFF2-40B4-BE49-F238E27FC236}">
                <a16:creationId xmlns:a16="http://schemas.microsoft.com/office/drawing/2014/main" id="{D9527595-DEFE-4D60-BBAC-80AD285D87EE}"/>
              </a:ext>
            </a:extLst>
          </p:cNvPr>
          <p:cNvSpPr>
            <a:spLocks noGrp="1"/>
          </p:cNvSpPr>
          <p:nvPr>
            <p:ph type="dt" sz="half" idx="10"/>
          </p:nvPr>
        </p:nvSpPr>
        <p:spPr>
          <a:xfrm>
            <a:off x="838200" y="6356350"/>
            <a:ext cx="2743200" cy="365125"/>
          </a:xfrm>
          <a:prstGeom prst="rect">
            <a:avLst/>
          </a:prstGeom>
        </p:spPr>
        <p:txBody>
          <a:bodyPr/>
          <a:lstStyle/>
          <a:p>
            <a:fld id="{A2DAE550-27B6-4294-8E28-99F48193916B}" type="datetimeFigureOut">
              <a:rPr lang="es-PE" smtClean="0"/>
              <a:t>29/07/2026</a:t>
            </a:fld>
            <a:endParaRPr lang="es-PE"/>
          </a:p>
        </p:txBody>
      </p:sp>
      <p:sp>
        <p:nvSpPr>
          <p:cNvPr id="5" name="Marcador de pie de página 4">
            <a:extLst>
              <a:ext uri="{FF2B5EF4-FFF2-40B4-BE49-F238E27FC236}">
                <a16:creationId xmlns:a16="http://schemas.microsoft.com/office/drawing/2014/main" id="{71F1CC19-1B7A-42AD-8234-BFB098A551A9}"/>
              </a:ext>
            </a:extLst>
          </p:cNvPr>
          <p:cNvSpPr>
            <a:spLocks noGrp="1"/>
          </p:cNvSpPr>
          <p:nvPr>
            <p:ph type="ftr" sz="quarter" idx="11"/>
          </p:nvPr>
        </p:nvSpPr>
        <p:spPr>
          <a:xfrm>
            <a:off x="4038600" y="6356350"/>
            <a:ext cx="4114800" cy="365125"/>
          </a:xfrm>
          <a:prstGeom prst="rect">
            <a:avLst/>
          </a:prstGeom>
        </p:spPr>
        <p:txBody>
          <a:bodyPr/>
          <a:lstStyle/>
          <a:p>
            <a:endParaRPr lang="es-PE"/>
          </a:p>
        </p:txBody>
      </p:sp>
      <p:sp>
        <p:nvSpPr>
          <p:cNvPr id="6" name="Marcador de número de diapositiva 5">
            <a:extLst>
              <a:ext uri="{FF2B5EF4-FFF2-40B4-BE49-F238E27FC236}">
                <a16:creationId xmlns:a16="http://schemas.microsoft.com/office/drawing/2014/main" id="{2ED72FF8-E1F9-4168-A059-E544EEBC891D}"/>
              </a:ext>
            </a:extLst>
          </p:cNvPr>
          <p:cNvSpPr>
            <a:spLocks noGrp="1"/>
          </p:cNvSpPr>
          <p:nvPr>
            <p:ph type="sldNum" sz="quarter" idx="12"/>
          </p:nvPr>
        </p:nvSpPr>
        <p:spPr>
          <a:xfrm>
            <a:off x="8610600" y="6356350"/>
            <a:ext cx="2743200" cy="365125"/>
          </a:xfrm>
          <a:prstGeom prst="rect">
            <a:avLst/>
          </a:prstGeom>
        </p:spPr>
        <p:txBody>
          <a:bodyPr/>
          <a:lstStyle/>
          <a:p>
            <a:fld id="{62161931-C05E-47FC-85F2-415BE3A0BDAA}" type="slidenum">
              <a:rPr lang="es-PE" smtClean="0"/>
              <a:t>‹Nº›</a:t>
            </a:fld>
            <a:endParaRPr lang="es-PE"/>
          </a:p>
        </p:txBody>
      </p:sp>
    </p:spTree>
    <p:extLst>
      <p:ext uri="{BB962C8B-B14F-4D97-AF65-F5344CB8AC3E}">
        <p14:creationId xmlns:p14="http://schemas.microsoft.com/office/powerpoint/2010/main" val="42218119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upo 6">
            <a:extLst>
              <a:ext uri="{FF2B5EF4-FFF2-40B4-BE49-F238E27FC236}">
                <a16:creationId xmlns:a16="http://schemas.microsoft.com/office/drawing/2014/main" id="{C6A847A6-C423-40D2-A066-6077D12929AE}"/>
              </a:ext>
            </a:extLst>
          </p:cNvPr>
          <p:cNvGrpSpPr/>
          <p:nvPr userDrawn="1"/>
        </p:nvGrpSpPr>
        <p:grpSpPr>
          <a:xfrm>
            <a:off x="53664" y="60639"/>
            <a:ext cx="403922" cy="309997"/>
            <a:chOff x="103367" y="-3536"/>
            <a:chExt cx="555070" cy="426556"/>
          </a:xfrm>
        </p:grpSpPr>
        <p:sp>
          <p:nvSpPr>
            <p:cNvPr id="8" name="Hexágono 7">
              <a:extLst>
                <a:ext uri="{FF2B5EF4-FFF2-40B4-BE49-F238E27FC236}">
                  <a16:creationId xmlns:a16="http://schemas.microsoft.com/office/drawing/2014/main" id="{7DF2FC1D-9380-4C7E-A01C-07DEB98B07DE}"/>
                </a:ext>
              </a:extLst>
            </p:cNvPr>
            <p:cNvSpPr/>
            <p:nvPr userDrawn="1"/>
          </p:nvSpPr>
          <p:spPr>
            <a:xfrm>
              <a:off x="242512" y="-3536"/>
              <a:ext cx="415925" cy="359410"/>
            </a:xfrm>
            <a:prstGeom prst="hexagon">
              <a:avLst>
                <a:gd name="adj" fmla="val 25000"/>
                <a:gd name="vf" fmla="val 115470"/>
              </a:avLst>
            </a:prstGeom>
            <a:solidFill>
              <a:srgbClr val="7F7F7F"/>
            </a:solidFill>
            <a:ln>
              <a:noFill/>
            </a:ln>
          </p:spPr>
          <p:txBody>
            <a:bodyPr spcFirstLastPara="1" wrap="square" lIns="91425" tIns="91425" rIns="91425" bIns="91425" anchor="ctr" anchorCtr="0">
              <a:noAutofit/>
            </a:bodyPr>
            <a:lstStyle/>
            <a:p>
              <a:pPr>
                <a:lnSpc>
                  <a:spcPct val="107000"/>
                </a:lnSpc>
                <a:spcAft>
                  <a:spcPts val="800"/>
                </a:spcAft>
              </a:pPr>
              <a:r>
                <a:rPr lang="es-ES" sz="1100">
                  <a:effectLst/>
                  <a:latin typeface="Calibri" panose="020F0502020204030204" pitchFamily="34" charset="0"/>
                  <a:ea typeface="Calibri" panose="020F0502020204030204" pitchFamily="34" charset="0"/>
                </a:rPr>
                <a:t> </a:t>
              </a:r>
              <a:endParaRPr lang="es-PE" sz="1100">
                <a:effectLst/>
                <a:latin typeface="Calibri" panose="020F0502020204030204" pitchFamily="34" charset="0"/>
                <a:ea typeface="Calibri" panose="020F0502020204030204" pitchFamily="34" charset="0"/>
              </a:endParaRPr>
            </a:p>
          </p:txBody>
        </p:sp>
        <p:sp>
          <p:nvSpPr>
            <p:cNvPr id="9" name="Hexágono 8">
              <a:extLst>
                <a:ext uri="{FF2B5EF4-FFF2-40B4-BE49-F238E27FC236}">
                  <a16:creationId xmlns:a16="http://schemas.microsoft.com/office/drawing/2014/main" id="{86B52AA4-9AEF-4669-95A5-4D30B40A96E0}"/>
                </a:ext>
              </a:extLst>
            </p:cNvPr>
            <p:cNvSpPr/>
            <p:nvPr userDrawn="1"/>
          </p:nvSpPr>
          <p:spPr>
            <a:xfrm>
              <a:off x="174868" y="30348"/>
              <a:ext cx="415925" cy="359410"/>
            </a:xfrm>
            <a:prstGeom prst="hexagon">
              <a:avLst>
                <a:gd name="adj" fmla="val 25000"/>
                <a:gd name="vf" fmla="val 115470"/>
              </a:avLst>
            </a:prstGeom>
            <a:solidFill>
              <a:srgbClr val="0070C0"/>
            </a:solidFill>
            <a:ln>
              <a:noFill/>
            </a:ln>
          </p:spPr>
          <p:txBody>
            <a:bodyPr spcFirstLastPara="1" wrap="square" lIns="91425" tIns="91425" rIns="91425" bIns="91425" anchor="ctr" anchorCtr="0">
              <a:noAutofit/>
            </a:bodyPr>
            <a:lstStyle/>
            <a:p>
              <a:pPr>
                <a:lnSpc>
                  <a:spcPct val="107000"/>
                </a:lnSpc>
                <a:spcAft>
                  <a:spcPts val="800"/>
                </a:spcAft>
              </a:pPr>
              <a:r>
                <a:rPr lang="es-ES" sz="1100">
                  <a:effectLst/>
                  <a:latin typeface="Calibri" panose="020F0502020204030204" pitchFamily="34" charset="0"/>
                  <a:ea typeface="Calibri" panose="020F0502020204030204" pitchFamily="34" charset="0"/>
                </a:rPr>
                <a:t> </a:t>
              </a:r>
              <a:endParaRPr lang="es-PE" sz="1100">
                <a:effectLst/>
                <a:latin typeface="Calibri" panose="020F0502020204030204" pitchFamily="34" charset="0"/>
                <a:ea typeface="Calibri" panose="020F0502020204030204" pitchFamily="34" charset="0"/>
              </a:endParaRPr>
            </a:p>
          </p:txBody>
        </p:sp>
        <p:sp>
          <p:nvSpPr>
            <p:cNvPr id="10" name="Hexágono 9">
              <a:extLst>
                <a:ext uri="{FF2B5EF4-FFF2-40B4-BE49-F238E27FC236}">
                  <a16:creationId xmlns:a16="http://schemas.microsoft.com/office/drawing/2014/main" id="{6B0106BB-8314-4B06-A245-0C8AA37F2035}"/>
                </a:ext>
              </a:extLst>
            </p:cNvPr>
            <p:cNvSpPr/>
            <p:nvPr userDrawn="1"/>
          </p:nvSpPr>
          <p:spPr>
            <a:xfrm>
              <a:off x="103367" y="63610"/>
              <a:ext cx="415925" cy="359410"/>
            </a:xfrm>
            <a:prstGeom prst="hexagon">
              <a:avLst>
                <a:gd name="adj" fmla="val 25000"/>
                <a:gd name="vf" fmla="val 115470"/>
              </a:avLst>
            </a:prstGeom>
            <a:solidFill>
              <a:srgbClr val="0000CC"/>
            </a:solidFill>
            <a:ln>
              <a:noFill/>
            </a:ln>
          </p:spPr>
          <p:txBody>
            <a:bodyPr spcFirstLastPara="1" wrap="square" lIns="91425" tIns="91425" rIns="91425" bIns="91425" anchor="ctr" anchorCtr="0">
              <a:noAutofit/>
            </a:bodyPr>
            <a:lstStyle/>
            <a:p>
              <a:pPr>
                <a:lnSpc>
                  <a:spcPct val="107000"/>
                </a:lnSpc>
                <a:spcAft>
                  <a:spcPts val="800"/>
                </a:spcAft>
              </a:pPr>
              <a:r>
                <a:rPr lang="es-ES" sz="1100" dirty="0">
                  <a:effectLst/>
                  <a:latin typeface="Calibri" panose="020F0502020204030204" pitchFamily="34" charset="0"/>
                  <a:ea typeface="Calibri" panose="020F0502020204030204" pitchFamily="34" charset="0"/>
                </a:rPr>
                <a:t> </a:t>
              </a:r>
              <a:endParaRPr lang="es-PE" sz="1100" dirty="0">
                <a:effectLst/>
                <a:latin typeface="Calibri" panose="020F0502020204030204" pitchFamily="34" charset="0"/>
                <a:ea typeface="Calibri" panose="020F0502020204030204" pitchFamily="34" charset="0"/>
              </a:endParaRPr>
            </a:p>
          </p:txBody>
        </p:sp>
      </p:grpSp>
      <p:grpSp>
        <p:nvGrpSpPr>
          <p:cNvPr id="19" name="Grupo 18">
            <a:extLst>
              <a:ext uri="{FF2B5EF4-FFF2-40B4-BE49-F238E27FC236}">
                <a16:creationId xmlns:a16="http://schemas.microsoft.com/office/drawing/2014/main" id="{D0990154-4102-4CA6-9DDE-FDBFA17EF377}"/>
              </a:ext>
            </a:extLst>
          </p:cNvPr>
          <p:cNvGrpSpPr/>
          <p:nvPr userDrawn="1"/>
        </p:nvGrpSpPr>
        <p:grpSpPr>
          <a:xfrm>
            <a:off x="506810" y="127520"/>
            <a:ext cx="11580827" cy="248105"/>
            <a:chOff x="877332" y="144298"/>
            <a:chExt cx="11210305" cy="248105"/>
          </a:xfrm>
        </p:grpSpPr>
        <p:cxnSp>
          <p:nvCxnSpPr>
            <p:cNvPr id="12" name="Conector recto 11">
              <a:extLst>
                <a:ext uri="{FF2B5EF4-FFF2-40B4-BE49-F238E27FC236}">
                  <a16:creationId xmlns:a16="http://schemas.microsoft.com/office/drawing/2014/main" id="{B8D5A460-3FEF-4550-A974-8CC9B34F6AAE}"/>
                </a:ext>
              </a:extLst>
            </p:cNvPr>
            <p:cNvCxnSpPr>
              <a:cxnSpLocks/>
            </p:cNvCxnSpPr>
            <p:nvPr userDrawn="1"/>
          </p:nvCxnSpPr>
          <p:spPr>
            <a:xfrm>
              <a:off x="1033586" y="374816"/>
              <a:ext cx="11012364" cy="0"/>
            </a:xfrm>
            <a:prstGeom prst="line">
              <a:avLst/>
            </a:prstGeom>
            <a:ln>
              <a:solidFill>
                <a:srgbClr val="0000CC"/>
              </a:solidFill>
              <a:prstDash val="dash"/>
            </a:ln>
          </p:spPr>
          <p:style>
            <a:lnRef idx="1">
              <a:schemeClr val="accent1"/>
            </a:lnRef>
            <a:fillRef idx="0">
              <a:schemeClr val="accent1"/>
            </a:fillRef>
            <a:effectRef idx="0">
              <a:schemeClr val="accent1"/>
            </a:effectRef>
            <a:fontRef idx="minor">
              <a:schemeClr val="tx1"/>
            </a:fontRef>
          </p:style>
        </p:cxnSp>
        <p:cxnSp>
          <p:nvCxnSpPr>
            <p:cNvPr id="14" name="Conector recto 13">
              <a:extLst>
                <a:ext uri="{FF2B5EF4-FFF2-40B4-BE49-F238E27FC236}">
                  <a16:creationId xmlns:a16="http://schemas.microsoft.com/office/drawing/2014/main" id="{F5C4F837-2B51-4998-8F45-295E33A4FA12}"/>
                </a:ext>
              </a:extLst>
            </p:cNvPr>
            <p:cNvCxnSpPr>
              <a:cxnSpLocks/>
            </p:cNvCxnSpPr>
            <p:nvPr userDrawn="1"/>
          </p:nvCxnSpPr>
          <p:spPr>
            <a:xfrm>
              <a:off x="914478" y="194779"/>
              <a:ext cx="119108" cy="192635"/>
            </a:xfrm>
            <a:prstGeom prst="line">
              <a:avLst/>
            </a:prstGeom>
            <a:ln>
              <a:solidFill>
                <a:srgbClr val="0000CC"/>
              </a:solidFill>
              <a:prstDash val="dash"/>
            </a:ln>
          </p:spPr>
          <p:style>
            <a:lnRef idx="1">
              <a:schemeClr val="accent1"/>
            </a:lnRef>
            <a:fillRef idx="0">
              <a:schemeClr val="accent1"/>
            </a:fillRef>
            <a:effectRef idx="0">
              <a:schemeClr val="accent1"/>
            </a:effectRef>
            <a:fontRef idx="minor">
              <a:schemeClr val="tx1"/>
            </a:fontRef>
          </p:style>
        </p:cxnSp>
        <p:sp>
          <p:nvSpPr>
            <p:cNvPr id="16" name="Elipse 15">
              <a:extLst>
                <a:ext uri="{FF2B5EF4-FFF2-40B4-BE49-F238E27FC236}">
                  <a16:creationId xmlns:a16="http://schemas.microsoft.com/office/drawing/2014/main" id="{8EC3B7B2-18BF-423C-9646-5EB4F33C1DC7}"/>
                </a:ext>
              </a:extLst>
            </p:cNvPr>
            <p:cNvSpPr/>
            <p:nvPr userDrawn="1"/>
          </p:nvSpPr>
          <p:spPr>
            <a:xfrm flipV="1">
              <a:off x="877332" y="144298"/>
              <a:ext cx="45719" cy="45719"/>
            </a:xfrm>
            <a:prstGeom prst="ellipse">
              <a:avLst/>
            </a:prstGeom>
            <a:solidFill>
              <a:srgbClr val="00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17" name="Elipse 16">
              <a:extLst>
                <a:ext uri="{FF2B5EF4-FFF2-40B4-BE49-F238E27FC236}">
                  <a16:creationId xmlns:a16="http://schemas.microsoft.com/office/drawing/2014/main" id="{044F3428-61D0-47F0-A223-AD4DE8F73583}"/>
                </a:ext>
              </a:extLst>
            </p:cNvPr>
            <p:cNvSpPr/>
            <p:nvPr userDrawn="1"/>
          </p:nvSpPr>
          <p:spPr>
            <a:xfrm flipV="1">
              <a:off x="12041918" y="346684"/>
              <a:ext cx="45719" cy="45719"/>
            </a:xfrm>
            <a:prstGeom prst="ellipse">
              <a:avLst/>
            </a:prstGeom>
            <a:solidFill>
              <a:srgbClr val="00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pic>
        <p:nvPicPr>
          <p:cNvPr id="20" name="image3.png">
            <a:extLst>
              <a:ext uri="{FF2B5EF4-FFF2-40B4-BE49-F238E27FC236}">
                <a16:creationId xmlns:a16="http://schemas.microsoft.com/office/drawing/2014/main" id="{10C979D1-CAD8-4A29-80F9-9D5D03D076A4}"/>
              </a:ext>
            </a:extLst>
          </p:cNvPr>
          <p:cNvPicPr/>
          <p:nvPr userDrawn="1"/>
        </p:nvPicPr>
        <p:blipFill rotWithShape="1">
          <a:blip r:embed="rId13"/>
          <a:srcRect l="4474" r="69310"/>
          <a:stretch/>
        </p:blipFill>
        <p:spPr bwMode="auto">
          <a:xfrm>
            <a:off x="11696450" y="5920"/>
            <a:ext cx="311704" cy="370636"/>
          </a:xfrm>
          <a:prstGeom prst="rect">
            <a:avLst/>
          </a:prstGeom>
          <a:ln>
            <a:noFill/>
          </a:ln>
          <a:extLst>
            <a:ext uri="{53640926-AAD7-44D8-BBD7-CCE9431645EC}">
              <a14:shadowObscured xmlns:a14="http://schemas.microsoft.com/office/drawing/2010/main"/>
            </a:ext>
          </a:extLst>
        </p:spPr>
      </p:pic>
      <p:grpSp>
        <p:nvGrpSpPr>
          <p:cNvPr id="21" name="Grupo 20">
            <a:extLst>
              <a:ext uri="{FF2B5EF4-FFF2-40B4-BE49-F238E27FC236}">
                <a16:creationId xmlns:a16="http://schemas.microsoft.com/office/drawing/2014/main" id="{AFB887D1-3891-4253-AB4B-A92D2D0BB403}"/>
              </a:ext>
            </a:extLst>
          </p:cNvPr>
          <p:cNvGrpSpPr/>
          <p:nvPr userDrawn="1"/>
        </p:nvGrpSpPr>
        <p:grpSpPr>
          <a:xfrm flipH="1" flipV="1">
            <a:off x="220861" y="6501393"/>
            <a:ext cx="11827050" cy="259274"/>
            <a:chOff x="272492" y="144298"/>
            <a:chExt cx="11827050" cy="259274"/>
          </a:xfrm>
        </p:grpSpPr>
        <p:cxnSp>
          <p:nvCxnSpPr>
            <p:cNvPr id="22" name="Conector recto 21">
              <a:extLst>
                <a:ext uri="{FF2B5EF4-FFF2-40B4-BE49-F238E27FC236}">
                  <a16:creationId xmlns:a16="http://schemas.microsoft.com/office/drawing/2014/main" id="{10932A65-66D9-40EA-B969-0E7D05E71DF4}"/>
                </a:ext>
              </a:extLst>
            </p:cNvPr>
            <p:cNvCxnSpPr>
              <a:cxnSpLocks/>
            </p:cNvCxnSpPr>
            <p:nvPr userDrawn="1"/>
          </p:nvCxnSpPr>
          <p:spPr>
            <a:xfrm flipV="1">
              <a:off x="421297" y="377487"/>
              <a:ext cx="11624651" cy="0"/>
            </a:xfrm>
            <a:prstGeom prst="line">
              <a:avLst/>
            </a:prstGeom>
            <a:ln>
              <a:solidFill>
                <a:srgbClr val="0000CC"/>
              </a:solidFill>
              <a:prstDash val="dash"/>
            </a:ln>
          </p:spPr>
          <p:style>
            <a:lnRef idx="1">
              <a:schemeClr val="accent1"/>
            </a:lnRef>
            <a:fillRef idx="0">
              <a:schemeClr val="accent1"/>
            </a:fillRef>
            <a:effectRef idx="0">
              <a:schemeClr val="accent1"/>
            </a:effectRef>
            <a:fontRef idx="minor">
              <a:schemeClr val="tx1"/>
            </a:fontRef>
          </p:style>
        </p:cxnSp>
        <p:cxnSp>
          <p:nvCxnSpPr>
            <p:cNvPr id="23" name="Conector recto 22">
              <a:extLst>
                <a:ext uri="{FF2B5EF4-FFF2-40B4-BE49-F238E27FC236}">
                  <a16:creationId xmlns:a16="http://schemas.microsoft.com/office/drawing/2014/main" id="{1535EA52-EA65-49FA-9BF4-5610C108CC6D}"/>
                </a:ext>
              </a:extLst>
            </p:cNvPr>
            <p:cNvCxnSpPr>
              <a:cxnSpLocks/>
            </p:cNvCxnSpPr>
            <p:nvPr userDrawn="1"/>
          </p:nvCxnSpPr>
          <p:spPr>
            <a:xfrm>
              <a:off x="312249" y="194779"/>
              <a:ext cx="109048" cy="176364"/>
            </a:xfrm>
            <a:prstGeom prst="line">
              <a:avLst/>
            </a:prstGeom>
            <a:ln>
              <a:solidFill>
                <a:srgbClr val="0000CC"/>
              </a:solidFill>
              <a:prstDash val="dash"/>
            </a:ln>
          </p:spPr>
          <p:style>
            <a:lnRef idx="1">
              <a:schemeClr val="accent1"/>
            </a:lnRef>
            <a:fillRef idx="0">
              <a:schemeClr val="accent1"/>
            </a:fillRef>
            <a:effectRef idx="0">
              <a:schemeClr val="accent1"/>
            </a:effectRef>
            <a:fontRef idx="minor">
              <a:schemeClr val="tx1"/>
            </a:fontRef>
          </p:style>
        </p:cxnSp>
        <p:sp>
          <p:nvSpPr>
            <p:cNvPr id="24" name="Elipse 23">
              <a:extLst>
                <a:ext uri="{FF2B5EF4-FFF2-40B4-BE49-F238E27FC236}">
                  <a16:creationId xmlns:a16="http://schemas.microsoft.com/office/drawing/2014/main" id="{52223F1A-70EF-494B-B394-6886BD15BEEE}"/>
                </a:ext>
              </a:extLst>
            </p:cNvPr>
            <p:cNvSpPr/>
            <p:nvPr userDrawn="1"/>
          </p:nvSpPr>
          <p:spPr>
            <a:xfrm flipV="1">
              <a:off x="272492" y="144298"/>
              <a:ext cx="45719" cy="45719"/>
            </a:xfrm>
            <a:prstGeom prst="ellipse">
              <a:avLst/>
            </a:prstGeom>
            <a:solidFill>
              <a:srgbClr val="00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sp>
          <p:nvSpPr>
            <p:cNvPr id="25" name="Elipse 24">
              <a:extLst>
                <a:ext uri="{FF2B5EF4-FFF2-40B4-BE49-F238E27FC236}">
                  <a16:creationId xmlns:a16="http://schemas.microsoft.com/office/drawing/2014/main" id="{57D91BB2-5108-4BCB-9D40-E46903E2E6DF}"/>
                </a:ext>
              </a:extLst>
            </p:cNvPr>
            <p:cNvSpPr/>
            <p:nvPr userDrawn="1"/>
          </p:nvSpPr>
          <p:spPr>
            <a:xfrm flipV="1">
              <a:off x="12053823" y="357853"/>
              <a:ext cx="45719" cy="45719"/>
            </a:xfrm>
            <a:prstGeom prst="ellipse">
              <a:avLst/>
            </a:prstGeom>
            <a:solidFill>
              <a:srgbClr val="0000C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PE"/>
            </a:p>
          </p:txBody>
        </p:sp>
      </p:grpSp>
      <p:sp>
        <p:nvSpPr>
          <p:cNvPr id="27" name="CuadroTexto 26">
            <a:extLst>
              <a:ext uri="{FF2B5EF4-FFF2-40B4-BE49-F238E27FC236}">
                <a16:creationId xmlns:a16="http://schemas.microsoft.com/office/drawing/2014/main" id="{40787B94-A1B1-496C-96DB-E032A6A8DBF9}"/>
              </a:ext>
            </a:extLst>
          </p:cNvPr>
          <p:cNvSpPr txBox="1"/>
          <p:nvPr userDrawn="1"/>
        </p:nvSpPr>
        <p:spPr>
          <a:xfrm>
            <a:off x="506810" y="6560030"/>
            <a:ext cx="1641671" cy="307777"/>
          </a:xfrm>
          <a:prstGeom prst="rect">
            <a:avLst/>
          </a:prstGeom>
          <a:noFill/>
          <a:ln>
            <a:noFill/>
          </a:ln>
        </p:spPr>
        <p:txBody>
          <a:bodyPr wrap="square" rtlCol="0">
            <a:spAutoFit/>
          </a:bodyPr>
          <a:lstStyle/>
          <a:p>
            <a:r>
              <a:rPr lang="es-MX" sz="1400" b="1" dirty="0">
                <a:solidFill>
                  <a:srgbClr val="0000CC"/>
                </a:solidFill>
                <a:latin typeface="Segoe UI Light" panose="020B0502040204020203" pitchFamily="34" charset="0"/>
                <a:cs typeface="Segoe UI Light" panose="020B0502040204020203" pitchFamily="34" charset="0"/>
              </a:rPr>
              <a:t>www.senati.edu.pe</a:t>
            </a:r>
            <a:endParaRPr lang="es-PE" sz="1400" b="1" dirty="0">
              <a:solidFill>
                <a:srgbClr val="0000CC"/>
              </a:solidFill>
              <a:latin typeface="Segoe UI Light" panose="020B0502040204020203" pitchFamily="34" charset="0"/>
              <a:cs typeface="Segoe UI Light" panose="020B0502040204020203" pitchFamily="34" charset="0"/>
            </a:endParaRPr>
          </a:p>
        </p:txBody>
      </p:sp>
      <p:sp>
        <p:nvSpPr>
          <p:cNvPr id="28" name="CuadroTexto 27">
            <a:extLst>
              <a:ext uri="{FF2B5EF4-FFF2-40B4-BE49-F238E27FC236}">
                <a16:creationId xmlns:a16="http://schemas.microsoft.com/office/drawing/2014/main" id="{539C2F7A-9466-4F6C-A883-E33C2BD34034}"/>
              </a:ext>
            </a:extLst>
          </p:cNvPr>
          <p:cNvSpPr txBox="1"/>
          <p:nvPr userDrawn="1"/>
        </p:nvSpPr>
        <p:spPr>
          <a:xfrm>
            <a:off x="4701047" y="6541907"/>
            <a:ext cx="2789905" cy="307777"/>
          </a:xfrm>
          <a:prstGeom prst="rect">
            <a:avLst/>
          </a:prstGeom>
          <a:noFill/>
          <a:ln>
            <a:noFill/>
          </a:ln>
        </p:spPr>
        <p:txBody>
          <a:bodyPr wrap="square" rtlCol="0">
            <a:spAutoFit/>
          </a:bodyPr>
          <a:lstStyle/>
          <a:p>
            <a:r>
              <a:rPr lang="es-MX" sz="1400" b="1" dirty="0">
                <a:solidFill>
                  <a:srgbClr val="0000CC"/>
                </a:solidFill>
                <a:latin typeface="Segoe UI Light" panose="020B0502040204020203" pitchFamily="34" charset="0"/>
                <a:cs typeface="Segoe UI Light" panose="020B0502040204020203" pitchFamily="34" charset="0"/>
              </a:rPr>
              <a:t>-- El futuro esta en tus manos --</a:t>
            </a:r>
            <a:endParaRPr lang="es-PE" sz="1400" b="1" dirty="0">
              <a:solidFill>
                <a:srgbClr val="0000CC"/>
              </a:solidFill>
              <a:latin typeface="Segoe UI Light" panose="020B0502040204020203" pitchFamily="34" charset="0"/>
              <a:cs typeface="Segoe UI Light" panose="020B0502040204020203" pitchFamily="34" charset="0"/>
            </a:endParaRPr>
          </a:p>
        </p:txBody>
      </p:sp>
      <p:pic>
        <p:nvPicPr>
          <p:cNvPr id="30" name="image3.png">
            <a:extLst>
              <a:ext uri="{FF2B5EF4-FFF2-40B4-BE49-F238E27FC236}">
                <a16:creationId xmlns:a16="http://schemas.microsoft.com/office/drawing/2014/main" id="{FE678991-77F2-4FD4-9C89-66E211356AF5}"/>
              </a:ext>
            </a:extLst>
          </p:cNvPr>
          <p:cNvPicPr/>
          <p:nvPr userDrawn="1"/>
        </p:nvPicPr>
        <p:blipFill rotWithShape="1">
          <a:blip r:embed="rId13"/>
          <a:srcRect l="35568"/>
          <a:stretch/>
        </p:blipFill>
        <p:spPr bwMode="auto">
          <a:xfrm>
            <a:off x="11211932" y="6536223"/>
            <a:ext cx="720512" cy="347925"/>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246942396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P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7" Type="http://schemas.openxmlformats.org/officeDocument/2006/relationships/image" Target="../media/image2.jpeg"/><Relationship Id="rId2" Type="http://schemas.openxmlformats.org/officeDocument/2006/relationships/diagramData" Target="../diagrams/data1.xml"/><Relationship Id="rId1" Type="http://schemas.openxmlformats.org/officeDocument/2006/relationships/slideLayout" Target="../slideLayouts/slideLayout1.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image" Target="../media/image3.png"/><Relationship Id="rId2" Type="http://schemas.openxmlformats.org/officeDocument/2006/relationships/diagramData" Target="../diagrams/data2.xml"/><Relationship Id="rId1" Type="http://schemas.openxmlformats.org/officeDocument/2006/relationships/slideLayout" Target="../slideLayouts/slideLayout1.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diagramLayout" Target="../diagrams/layout3.xml"/><Relationship Id="rId7" Type="http://schemas.openxmlformats.org/officeDocument/2006/relationships/image" Target="../media/image4.png"/><Relationship Id="rId2" Type="http://schemas.openxmlformats.org/officeDocument/2006/relationships/diagramData" Target="../diagrams/data3.xml"/><Relationship Id="rId1" Type="http://schemas.openxmlformats.org/officeDocument/2006/relationships/slideLayout" Target="../slideLayouts/slideLayout1.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6.png"/><Relationship Id="rId2" Type="http://schemas.openxmlformats.org/officeDocument/2006/relationships/diagramData" Target="../diagrams/data4.xml"/><Relationship Id="rId1" Type="http://schemas.openxmlformats.org/officeDocument/2006/relationships/slideLayout" Target="../slideLayouts/slideLayout1.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6.png"/><Relationship Id="rId2" Type="http://schemas.openxmlformats.org/officeDocument/2006/relationships/diagramData" Target="../diagrams/data5.xml"/><Relationship Id="rId1" Type="http://schemas.openxmlformats.org/officeDocument/2006/relationships/slideLayout" Target="../slideLayouts/slideLayout1.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6.xml"/><Relationship Id="rId7" Type="http://schemas.openxmlformats.org/officeDocument/2006/relationships/image" Target="../media/image6.png"/><Relationship Id="rId2" Type="http://schemas.openxmlformats.org/officeDocument/2006/relationships/diagramData" Target="../diagrams/data6.xml"/><Relationship Id="rId1" Type="http://schemas.openxmlformats.org/officeDocument/2006/relationships/slideLayout" Target="../slideLayouts/slideLayout1.xml"/><Relationship Id="rId6" Type="http://schemas.microsoft.com/office/2007/relationships/diagramDrawing" Target="../diagrams/drawing6.xml"/><Relationship Id="rId5" Type="http://schemas.openxmlformats.org/officeDocument/2006/relationships/diagramColors" Target="../diagrams/colors6.xml"/><Relationship Id="rId4" Type="http://schemas.openxmlformats.org/officeDocument/2006/relationships/diagramQuickStyle" Target="../diagrams/quickStyle6.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7.xml"/><Relationship Id="rId7" Type="http://schemas.openxmlformats.org/officeDocument/2006/relationships/image" Target="../media/image6.png"/><Relationship Id="rId2" Type="http://schemas.openxmlformats.org/officeDocument/2006/relationships/diagramData" Target="../diagrams/data7.xml"/><Relationship Id="rId1" Type="http://schemas.openxmlformats.org/officeDocument/2006/relationships/slideLayout" Target="../slideLayouts/slideLayout1.xml"/><Relationship Id="rId6" Type="http://schemas.microsoft.com/office/2007/relationships/diagramDrawing" Target="../diagrams/drawing7.xml"/><Relationship Id="rId5" Type="http://schemas.openxmlformats.org/officeDocument/2006/relationships/diagramColors" Target="../diagrams/colors7.xml"/><Relationship Id="rId4" Type="http://schemas.openxmlformats.org/officeDocument/2006/relationships/diagramQuickStyle" Target="../diagrams/quickStyle7.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8.xml"/><Relationship Id="rId7" Type="http://schemas.openxmlformats.org/officeDocument/2006/relationships/image" Target="../media/image6.png"/><Relationship Id="rId2" Type="http://schemas.openxmlformats.org/officeDocument/2006/relationships/diagramData" Target="../diagrams/data8.xml"/><Relationship Id="rId1" Type="http://schemas.openxmlformats.org/officeDocument/2006/relationships/slideLayout" Target="../slideLayouts/slideLayout1.xml"/><Relationship Id="rId6" Type="http://schemas.microsoft.com/office/2007/relationships/diagramDrawing" Target="../diagrams/drawing8.xml"/><Relationship Id="rId5" Type="http://schemas.openxmlformats.org/officeDocument/2006/relationships/diagramColors" Target="../diagrams/colors8.xml"/><Relationship Id="rId4" Type="http://schemas.openxmlformats.org/officeDocument/2006/relationships/diagramQuickStyle" Target="../diagrams/quickStyle8.xml"/></Relationships>
</file>

<file path=ppt/slides/_rels/slide10.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6.png"/><Relationship Id="rId2" Type="http://schemas.openxmlformats.org/officeDocument/2006/relationships/diagramData" Target="../diagrams/data9.xml"/><Relationship Id="rId1" Type="http://schemas.openxmlformats.org/officeDocument/2006/relationships/slideLayout" Target="../slideLayouts/slideLayout1.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11.xml.rels><?xml version="1.0" encoding="UTF-8" standalone="yes"?>
<Relationships xmlns="http://schemas.openxmlformats.org/package/2006/relationships"><Relationship Id="rId3" Type="http://schemas.openxmlformats.org/officeDocument/2006/relationships/diagramLayout" Target="../diagrams/layout10.xml"/><Relationship Id="rId7" Type="http://schemas.openxmlformats.org/officeDocument/2006/relationships/image" Target="../media/image6.png"/><Relationship Id="rId2" Type="http://schemas.openxmlformats.org/officeDocument/2006/relationships/diagramData" Target="../diagrams/data10.xml"/><Relationship Id="rId1" Type="http://schemas.openxmlformats.org/officeDocument/2006/relationships/slideLayout" Target="../slideLayouts/slideLayout1.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12.xml.rels><?xml version="1.0" encoding="UTF-8" standalone="yes"?>
<Relationships xmlns="http://schemas.openxmlformats.org/package/2006/relationships"><Relationship Id="rId3" Type="http://schemas.openxmlformats.org/officeDocument/2006/relationships/diagramLayout" Target="../diagrams/layout11.xml"/><Relationship Id="rId7" Type="http://schemas.openxmlformats.org/officeDocument/2006/relationships/image" Target="../media/image6.png"/><Relationship Id="rId2" Type="http://schemas.openxmlformats.org/officeDocument/2006/relationships/diagramData" Target="../diagrams/data11.xml"/><Relationship Id="rId1" Type="http://schemas.openxmlformats.org/officeDocument/2006/relationships/slideLayout" Target="../slideLayouts/slideLayout1.xml"/><Relationship Id="rId6" Type="http://schemas.microsoft.com/office/2007/relationships/diagramDrawing" Target="../diagrams/drawing11.xml"/><Relationship Id="rId5" Type="http://schemas.openxmlformats.org/officeDocument/2006/relationships/diagramColors" Target="../diagrams/colors11.xml"/><Relationship Id="rId4" Type="http://schemas.openxmlformats.org/officeDocument/2006/relationships/diagramQuickStyle" Target="../diagrams/quickStyle11.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12.xml"/><Relationship Id="rId7" Type="http://schemas.openxmlformats.org/officeDocument/2006/relationships/image" Target="../media/image7.png"/><Relationship Id="rId2" Type="http://schemas.openxmlformats.org/officeDocument/2006/relationships/diagramData" Target="../diagrams/data12.xml"/><Relationship Id="rId1" Type="http://schemas.openxmlformats.org/officeDocument/2006/relationships/slideLayout" Target="../slideLayouts/slideLayout1.xml"/><Relationship Id="rId6" Type="http://schemas.microsoft.com/office/2007/relationships/diagramDrawing" Target="../diagrams/drawing12.xml"/><Relationship Id="rId5" Type="http://schemas.openxmlformats.org/officeDocument/2006/relationships/diagramColors" Target="../diagrams/colors12.xml"/><Relationship Id="rId4" Type="http://schemas.openxmlformats.org/officeDocument/2006/relationships/diagramQuickStyle" Target="../diagrams/quickStyle1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3.xml"/><Relationship Id="rId7" Type="http://schemas.openxmlformats.org/officeDocument/2006/relationships/image" Target="../media/image8.png"/><Relationship Id="rId2" Type="http://schemas.openxmlformats.org/officeDocument/2006/relationships/diagramData" Target="../diagrams/data13.xml"/><Relationship Id="rId1" Type="http://schemas.openxmlformats.org/officeDocument/2006/relationships/slideLayout" Target="../slideLayouts/slideLayout1.xml"/><Relationship Id="rId6" Type="http://schemas.microsoft.com/office/2007/relationships/diagramDrawing" Target="../diagrams/drawing13.xml"/><Relationship Id="rId5" Type="http://schemas.openxmlformats.org/officeDocument/2006/relationships/diagramColors" Target="../diagrams/colors13.xml"/><Relationship Id="rId4" Type="http://schemas.openxmlformats.org/officeDocument/2006/relationships/diagramQuickStyle" Target="../diagrams/quickStyle13.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14.xml"/><Relationship Id="rId7" Type="http://schemas.openxmlformats.org/officeDocument/2006/relationships/image" Target="../media/image9.png"/><Relationship Id="rId2" Type="http://schemas.openxmlformats.org/officeDocument/2006/relationships/diagramData" Target="../diagrams/data14.xml"/><Relationship Id="rId1" Type="http://schemas.openxmlformats.org/officeDocument/2006/relationships/slideLayout" Target="../slideLayouts/slideLayout1.xml"/><Relationship Id="rId6" Type="http://schemas.microsoft.com/office/2007/relationships/diagramDrawing" Target="../diagrams/drawing14.xml"/><Relationship Id="rId5" Type="http://schemas.openxmlformats.org/officeDocument/2006/relationships/diagramColors" Target="../diagrams/colors14.xml"/><Relationship Id="rId4" Type="http://schemas.openxmlformats.org/officeDocument/2006/relationships/diagramQuickStyle" Target="../diagrams/quickStyle14.xml"/></Relationships>
</file>

<file path=ppt/slides/_rels/slide16.xml.rels><?xml version="1.0" encoding="UTF-8" standalone="yes"?>
<Relationships xmlns="http://schemas.openxmlformats.org/package/2006/relationships"><Relationship Id="rId3" Type="http://schemas.openxmlformats.org/officeDocument/2006/relationships/diagramLayout" Target="../diagrams/layout15.xml"/><Relationship Id="rId7" Type="http://schemas.openxmlformats.org/officeDocument/2006/relationships/image" Target="../media/image10.png"/><Relationship Id="rId2" Type="http://schemas.openxmlformats.org/officeDocument/2006/relationships/diagramData" Target="../diagrams/data15.xml"/><Relationship Id="rId1" Type="http://schemas.openxmlformats.org/officeDocument/2006/relationships/slideLayout" Target="../slideLayouts/slideLayout1.xml"/><Relationship Id="rId6" Type="http://schemas.microsoft.com/office/2007/relationships/diagramDrawing" Target="../diagrams/drawing15.xml"/><Relationship Id="rId5" Type="http://schemas.openxmlformats.org/officeDocument/2006/relationships/diagramColors" Target="../diagrams/colors15.xml"/><Relationship Id="rId4" Type="http://schemas.openxmlformats.org/officeDocument/2006/relationships/diagramQuickStyle" Target="../diagrams/quickStyle15.xml"/></Relationships>
</file>

<file path=ppt/slides/_rels/slide17.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diagramLayout" Target="../diagrams/layout16.xml"/><Relationship Id="rId7" Type="http://schemas.openxmlformats.org/officeDocument/2006/relationships/image" Target="../media/image10.png"/><Relationship Id="rId2" Type="http://schemas.openxmlformats.org/officeDocument/2006/relationships/diagramData" Target="../diagrams/data16.xml"/><Relationship Id="rId1" Type="http://schemas.openxmlformats.org/officeDocument/2006/relationships/slideLayout" Target="../slideLayouts/slideLayout1.xml"/><Relationship Id="rId6" Type="http://schemas.microsoft.com/office/2007/relationships/diagramDrawing" Target="../diagrams/drawing16.xml"/><Relationship Id="rId5" Type="http://schemas.openxmlformats.org/officeDocument/2006/relationships/diagramColors" Target="../diagrams/colors16.xml"/><Relationship Id="rId4" Type="http://schemas.openxmlformats.org/officeDocument/2006/relationships/diagramQuickStyle" Target="../diagrams/quickStyle16.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diagramLayout" Target="../diagrams/layout17.xml"/><Relationship Id="rId7" Type="http://schemas.openxmlformats.org/officeDocument/2006/relationships/image" Target="../media/image13.png"/><Relationship Id="rId2" Type="http://schemas.openxmlformats.org/officeDocument/2006/relationships/diagramData" Target="../diagrams/data17.xml"/><Relationship Id="rId1" Type="http://schemas.openxmlformats.org/officeDocument/2006/relationships/slideLayout" Target="../slideLayouts/slideLayout1.xml"/><Relationship Id="rId6" Type="http://schemas.microsoft.com/office/2007/relationships/diagramDrawing" Target="../diagrams/drawing17.xml"/><Relationship Id="rId5" Type="http://schemas.openxmlformats.org/officeDocument/2006/relationships/diagramColors" Target="../diagrams/colors17.xml"/><Relationship Id="rId4" Type="http://schemas.openxmlformats.org/officeDocument/2006/relationships/diagramQuickStyle" Target="../diagrams/quickStyle17.xml"/></Relationships>
</file>

<file path=ppt/slides/_rels/slide20.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18.xml"/><Relationship Id="rId7" Type="http://schemas.openxmlformats.org/officeDocument/2006/relationships/image" Target="../media/image14.png"/><Relationship Id="rId12" Type="http://schemas.microsoft.com/office/2007/relationships/hdphoto" Target="../media/hdphoto2.wdp"/><Relationship Id="rId2" Type="http://schemas.openxmlformats.org/officeDocument/2006/relationships/diagramData" Target="../diagrams/data18.xml"/><Relationship Id="rId1" Type="http://schemas.openxmlformats.org/officeDocument/2006/relationships/slideLayout" Target="../slideLayouts/slideLayout1.xml"/><Relationship Id="rId6" Type="http://schemas.microsoft.com/office/2007/relationships/diagramDrawing" Target="../diagrams/drawing18.xml"/><Relationship Id="rId11" Type="http://schemas.openxmlformats.org/officeDocument/2006/relationships/image" Target="../media/image17.png"/><Relationship Id="rId5" Type="http://schemas.openxmlformats.org/officeDocument/2006/relationships/diagramColors" Target="../diagrams/colors18.xml"/><Relationship Id="rId10" Type="http://schemas.microsoft.com/office/2007/relationships/hdphoto" Target="../media/hdphoto1.wdp"/><Relationship Id="rId4" Type="http://schemas.openxmlformats.org/officeDocument/2006/relationships/diagramQuickStyle" Target="../diagrams/quickStyle18.xml"/><Relationship Id="rId9"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18.png"/><Relationship Id="rId2" Type="http://schemas.openxmlformats.org/officeDocument/2006/relationships/diagramData" Target="../diagrams/data19.xml"/><Relationship Id="rId1" Type="http://schemas.openxmlformats.org/officeDocument/2006/relationships/slideLayout" Target="../slideLayouts/slideLayout1.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22.xml.rels><?xml version="1.0" encoding="UTF-8" standalone="yes"?>
<Relationships xmlns="http://schemas.openxmlformats.org/package/2006/relationships"><Relationship Id="rId3" Type="http://schemas.openxmlformats.org/officeDocument/2006/relationships/diagramLayout" Target="../diagrams/layout20.xml"/><Relationship Id="rId7" Type="http://schemas.openxmlformats.org/officeDocument/2006/relationships/image" Target="../media/image19.png"/><Relationship Id="rId2" Type="http://schemas.openxmlformats.org/officeDocument/2006/relationships/diagramData" Target="../diagrams/data20.xml"/><Relationship Id="rId1" Type="http://schemas.openxmlformats.org/officeDocument/2006/relationships/slideLayout" Target="../slideLayouts/slideLayout1.xml"/><Relationship Id="rId6" Type="http://schemas.microsoft.com/office/2007/relationships/diagramDrawing" Target="../diagrams/drawing20.xml"/><Relationship Id="rId5" Type="http://schemas.openxmlformats.org/officeDocument/2006/relationships/diagramColors" Target="../diagrams/colors20.xml"/><Relationship Id="rId4" Type="http://schemas.openxmlformats.org/officeDocument/2006/relationships/diagramQuickStyle" Target="../diagrams/quickStyle20.xml"/></Relationships>
</file>

<file path=ppt/slides/_rels/slide23.xml.rels><?xml version="1.0" encoding="UTF-8" standalone="yes"?>
<Relationships xmlns="http://schemas.openxmlformats.org/package/2006/relationships"><Relationship Id="rId8" Type="http://schemas.openxmlformats.org/officeDocument/2006/relationships/image" Target="../media/image4.png"/><Relationship Id="rId3" Type="http://schemas.openxmlformats.org/officeDocument/2006/relationships/diagramLayout" Target="../diagrams/layout21.xml"/><Relationship Id="rId7" Type="http://schemas.openxmlformats.org/officeDocument/2006/relationships/image" Target="../media/image3.png"/><Relationship Id="rId2" Type="http://schemas.openxmlformats.org/officeDocument/2006/relationships/diagramData" Target="../diagrams/data21.xml"/><Relationship Id="rId1" Type="http://schemas.openxmlformats.org/officeDocument/2006/relationships/slideLayout" Target="../slideLayouts/slideLayout1.xml"/><Relationship Id="rId6" Type="http://schemas.microsoft.com/office/2007/relationships/diagramDrawing" Target="../diagrams/drawing21.xml"/><Relationship Id="rId5" Type="http://schemas.openxmlformats.org/officeDocument/2006/relationships/diagramColors" Target="../diagrams/colors21.xml"/><Relationship Id="rId4" Type="http://schemas.openxmlformats.org/officeDocument/2006/relationships/diagramQuickStyle" Target="../diagrams/quickStyle21.xml"/><Relationship Id="rId9" Type="http://schemas.openxmlformats.org/officeDocument/2006/relationships/image" Target="../media/image20.png"/></Relationships>
</file>

<file path=ppt/slides/_rels/slide24.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diagramLayout" Target="../diagrams/layout22.xml"/><Relationship Id="rId7" Type="http://schemas.openxmlformats.org/officeDocument/2006/relationships/image" Target="../media/image21.png"/><Relationship Id="rId2" Type="http://schemas.openxmlformats.org/officeDocument/2006/relationships/diagramData" Target="../diagrams/data22.xml"/><Relationship Id="rId1" Type="http://schemas.openxmlformats.org/officeDocument/2006/relationships/slideLayout" Target="../slideLayouts/slideLayout1.xml"/><Relationship Id="rId6" Type="http://schemas.microsoft.com/office/2007/relationships/diagramDrawing" Target="../diagrams/drawing22.xml"/><Relationship Id="rId5" Type="http://schemas.openxmlformats.org/officeDocument/2006/relationships/diagramColors" Target="../diagrams/colors22.xml"/><Relationship Id="rId4" Type="http://schemas.openxmlformats.org/officeDocument/2006/relationships/diagramQuickStyle" Target="../diagrams/quickStyle22.xml"/></Relationships>
</file>

<file path=ppt/slides/_rels/slide25.xml.rels><?xml version="1.0" encoding="UTF-8" standalone="yes"?>
<Relationships xmlns="http://schemas.openxmlformats.org/package/2006/relationships"><Relationship Id="rId3" Type="http://schemas.openxmlformats.org/officeDocument/2006/relationships/diagramLayout" Target="../diagrams/layout23.xml"/><Relationship Id="rId7" Type="http://schemas.openxmlformats.org/officeDocument/2006/relationships/image" Target="../media/image23.png"/><Relationship Id="rId2" Type="http://schemas.openxmlformats.org/officeDocument/2006/relationships/diagramData" Target="../diagrams/data23.xml"/><Relationship Id="rId1" Type="http://schemas.openxmlformats.org/officeDocument/2006/relationships/slideLayout" Target="../slideLayouts/slideLayout1.xml"/><Relationship Id="rId6" Type="http://schemas.microsoft.com/office/2007/relationships/diagramDrawing" Target="../diagrams/drawing23.xml"/><Relationship Id="rId5" Type="http://schemas.openxmlformats.org/officeDocument/2006/relationships/diagramColors" Target="../diagrams/colors23.xml"/><Relationship Id="rId4" Type="http://schemas.openxmlformats.org/officeDocument/2006/relationships/diagramQuickStyle" Target="../diagrams/quickStyle23.xml"/></Relationships>
</file>

<file path=ppt/slides/_rels/slide26.xml.rels><?xml version="1.0" encoding="UTF-8" standalone="yes"?>
<Relationships xmlns="http://schemas.openxmlformats.org/package/2006/relationships"><Relationship Id="rId3" Type="http://schemas.openxmlformats.org/officeDocument/2006/relationships/diagramLayout" Target="../diagrams/layout24.xml"/><Relationship Id="rId7" Type="http://schemas.openxmlformats.org/officeDocument/2006/relationships/image" Target="../media/image24.png"/><Relationship Id="rId2" Type="http://schemas.openxmlformats.org/officeDocument/2006/relationships/diagramData" Target="../diagrams/data24.xml"/><Relationship Id="rId1" Type="http://schemas.openxmlformats.org/officeDocument/2006/relationships/slideLayout" Target="../slideLayouts/slideLayout1.xml"/><Relationship Id="rId6" Type="http://schemas.microsoft.com/office/2007/relationships/diagramDrawing" Target="../diagrams/drawing24.xml"/><Relationship Id="rId5" Type="http://schemas.openxmlformats.org/officeDocument/2006/relationships/diagramColors" Target="../diagrams/colors24.xml"/><Relationship Id="rId4" Type="http://schemas.openxmlformats.org/officeDocument/2006/relationships/diagramQuickStyle" Target="../diagrams/quickStyle24.xml"/></Relationships>
</file>

<file path=ppt/slides/_rels/slide27.xml.rels><?xml version="1.0" encoding="UTF-8" standalone="yes"?>
<Relationships xmlns="http://schemas.openxmlformats.org/package/2006/relationships"><Relationship Id="rId3" Type="http://schemas.openxmlformats.org/officeDocument/2006/relationships/diagramLayout" Target="../diagrams/layout25.xml"/><Relationship Id="rId7" Type="http://schemas.openxmlformats.org/officeDocument/2006/relationships/image" Target="../media/image25.png"/><Relationship Id="rId2" Type="http://schemas.openxmlformats.org/officeDocument/2006/relationships/diagramData" Target="../diagrams/data25.xml"/><Relationship Id="rId1" Type="http://schemas.openxmlformats.org/officeDocument/2006/relationships/slideLayout" Target="../slideLayouts/slideLayout1.xml"/><Relationship Id="rId6" Type="http://schemas.microsoft.com/office/2007/relationships/diagramDrawing" Target="../diagrams/drawing25.xml"/><Relationship Id="rId5" Type="http://schemas.openxmlformats.org/officeDocument/2006/relationships/diagramColors" Target="../diagrams/colors25.xml"/><Relationship Id="rId4" Type="http://schemas.openxmlformats.org/officeDocument/2006/relationships/diagramQuickStyle" Target="../diagrams/quickStyle25.xml"/></Relationships>
</file>

<file path=ppt/slides/_rels/slide28.xml.rels><?xml version="1.0" encoding="UTF-8" standalone="yes"?>
<Relationships xmlns="http://schemas.openxmlformats.org/package/2006/relationships"><Relationship Id="rId3" Type="http://schemas.openxmlformats.org/officeDocument/2006/relationships/diagramLayout" Target="../diagrams/layout26.xml"/><Relationship Id="rId7" Type="http://schemas.openxmlformats.org/officeDocument/2006/relationships/image" Target="../media/image20.png"/><Relationship Id="rId2" Type="http://schemas.openxmlformats.org/officeDocument/2006/relationships/diagramData" Target="../diagrams/data26.xml"/><Relationship Id="rId1" Type="http://schemas.openxmlformats.org/officeDocument/2006/relationships/slideLayout" Target="../slideLayouts/slideLayout1.xml"/><Relationship Id="rId6" Type="http://schemas.microsoft.com/office/2007/relationships/diagramDrawing" Target="../diagrams/drawing26.xml"/><Relationship Id="rId5" Type="http://schemas.openxmlformats.org/officeDocument/2006/relationships/diagramColors" Target="../diagrams/colors26.xml"/><Relationship Id="rId4" Type="http://schemas.openxmlformats.org/officeDocument/2006/relationships/diagramQuickStyle" Target="../diagrams/quickStyle26.xml"/></Relationships>
</file>

<file path=ppt/slides/_rels/slide29.xml.rels><?xml version="1.0" encoding="UTF-8" standalone="yes"?>
<Relationships xmlns="http://schemas.openxmlformats.org/package/2006/relationships"><Relationship Id="rId3" Type="http://schemas.openxmlformats.org/officeDocument/2006/relationships/diagramLayout" Target="../diagrams/layout27.xml"/><Relationship Id="rId7" Type="http://schemas.openxmlformats.org/officeDocument/2006/relationships/image" Target="../media/image26.png"/><Relationship Id="rId2" Type="http://schemas.openxmlformats.org/officeDocument/2006/relationships/diagramData" Target="../diagrams/data27.xml"/><Relationship Id="rId1" Type="http://schemas.openxmlformats.org/officeDocument/2006/relationships/slideLayout" Target="../slideLayouts/slideLayout1.xml"/><Relationship Id="rId6" Type="http://schemas.microsoft.com/office/2007/relationships/diagramDrawing" Target="../diagrams/drawing27.xml"/><Relationship Id="rId5" Type="http://schemas.openxmlformats.org/officeDocument/2006/relationships/diagramColors" Target="../diagrams/colors27.xml"/><Relationship Id="rId4" Type="http://schemas.openxmlformats.org/officeDocument/2006/relationships/diagramQuickStyle" Target="../diagrams/quickStyle27.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28.xml"/><Relationship Id="rId7" Type="http://schemas.openxmlformats.org/officeDocument/2006/relationships/image" Target="../media/image27.png"/><Relationship Id="rId2" Type="http://schemas.openxmlformats.org/officeDocument/2006/relationships/diagramData" Target="../diagrams/data28.xml"/><Relationship Id="rId1" Type="http://schemas.openxmlformats.org/officeDocument/2006/relationships/slideLayout" Target="../slideLayouts/slideLayout1.xml"/><Relationship Id="rId6" Type="http://schemas.microsoft.com/office/2007/relationships/diagramDrawing" Target="../diagrams/drawing28.xml"/><Relationship Id="rId5" Type="http://schemas.openxmlformats.org/officeDocument/2006/relationships/diagramColors" Target="../diagrams/colors28.xml"/><Relationship Id="rId4" Type="http://schemas.openxmlformats.org/officeDocument/2006/relationships/diagramQuickStyle" Target="../diagrams/quickStyle28.xml"/></Relationships>
</file>

<file path=ppt/slides/_rels/slide31.xml.rels><?xml version="1.0" encoding="UTF-8" standalone="yes"?>
<Relationships xmlns="http://schemas.openxmlformats.org/package/2006/relationships"><Relationship Id="rId3" Type="http://schemas.openxmlformats.org/officeDocument/2006/relationships/diagramLayout" Target="../diagrams/layout29.xml"/><Relationship Id="rId7" Type="http://schemas.openxmlformats.org/officeDocument/2006/relationships/image" Target="../media/image28.png"/><Relationship Id="rId2" Type="http://schemas.openxmlformats.org/officeDocument/2006/relationships/diagramData" Target="../diagrams/data29.xml"/><Relationship Id="rId1" Type="http://schemas.openxmlformats.org/officeDocument/2006/relationships/slideLayout" Target="../slideLayouts/slideLayout1.xml"/><Relationship Id="rId6" Type="http://schemas.microsoft.com/office/2007/relationships/diagramDrawing" Target="../diagrams/drawing29.xml"/><Relationship Id="rId5" Type="http://schemas.openxmlformats.org/officeDocument/2006/relationships/diagramColors" Target="../diagrams/colors29.xml"/><Relationship Id="rId4" Type="http://schemas.openxmlformats.org/officeDocument/2006/relationships/diagramQuickStyle" Target="../diagrams/quickStyle29.xml"/></Relationships>
</file>

<file path=ppt/slides/_rels/slide32.xml.rels><?xml version="1.0" encoding="UTF-8" standalone="yes"?>
<Relationships xmlns="http://schemas.openxmlformats.org/package/2006/relationships"><Relationship Id="rId3" Type="http://schemas.openxmlformats.org/officeDocument/2006/relationships/diagramLayout" Target="../diagrams/layout30.xml"/><Relationship Id="rId7" Type="http://schemas.openxmlformats.org/officeDocument/2006/relationships/image" Target="../media/image29.png"/><Relationship Id="rId2" Type="http://schemas.openxmlformats.org/officeDocument/2006/relationships/diagramData" Target="../diagrams/data30.xml"/><Relationship Id="rId1" Type="http://schemas.openxmlformats.org/officeDocument/2006/relationships/slideLayout" Target="../slideLayouts/slideLayout1.xml"/><Relationship Id="rId6" Type="http://schemas.microsoft.com/office/2007/relationships/diagramDrawing" Target="../diagrams/drawing30.xml"/><Relationship Id="rId5" Type="http://schemas.openxmlformats.org/officeDocument/2006/relationships/diagramColors" Target="../diagrams/colors30.xml"/><Relationship Id="rId4" Type="http://schemas.openxmlformats.org/officeDocument/2006/relationships/diagramQuickStyle" Target="../diagrams/quickStyle30.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31.xml"/><Relationship Id="rId7" Type="http://schemas.openxmlformats.org/officeDocument/2006/relationships/image" Target="../media/image30.png"/><Relationship Id="rId2" Type="http://schemas.openxmlformats.org/officeDocument/2006/relationships/diagramData" Target="../diagrams/data31.xml"/><Relationship Id="rId1" Type="http://schemas.openxmlformats.org/officeDocument/2006/relationships/slideLayout" Target="../slideLayouts/slideLayout1.xml"/><Relationship Id="rId6" Type="http://schemas.microsoft.com/office/2007/relationships/diagramDrawing" Target="../diagrams/drawing31.xml"/><Relationship Id="rId5" Type="http://schemas.openxmlformats.org/officeDocument/2006/relationships/diagramColors" Target="../diagrams/colors31.xml"/><Relationship Id="rId4" Type="http://schemas.openxmlformats.org/officeDocument/2006/relationships/diagramQuickStyle" Target="../diagrams/quickStyle31.xml"/></Relationships>
</file>

<file path=ppt/slides/_rels/slide34.xml.rels><?xml version="1.0" encoding="UTF-8" standalone="yes"?>
<Relationships xmlns="http://schemas.openxmlformats.org/package/2006/relationships"><Relationship Id="rId3" Type="http://schemas.openxmlformats.org/officeDocument/2006/relationships/diagramLayout" Target="../diagrams/layout32.xml"/><Relationship Id="rId7" Type="http://schemas.openxmlformats.org/officeDocument/2006/relationships/image" Target="../media/image31.png"/><Relationship Id="rId2" Type="http://schemas.openxmlformats.org/officeDocument/2006/relationships/diagramData" Target="../diagrams/data32.xml"/><Relationship Id="rId1" Type="http://schemas.openxmlformats.org/officeDocument/2006/relationships/slideLayout" Target="../slideLayouts/slideLayout1.xml"/><Relationship Id="rId6" Type="http://schemas.microsoft.com/office/2007/relationships/diagramDrawing" Target="../diagrams/drawing32.xml"/><Relationship Id="rId5" Type="http://schemas.openxmlformats.org/officeDocument/2006/relationships/diagramColors" Target="../diagrams/colors32.xml"/><Relationship Id="rId4" Type="http://schemas.openxmlformats.org/officeDocument/2006/relationships/diagramQuickStyle" Target="../diagrams/quickStyle32.xml"/></Relationships>
</file>

<file path=ppt/slides/_rels/slide35.xml.rels><?xml version="1.0" encoding="UTF-8" standalone="yes"?>
<Relationships xmlns="http://schemas.openxmlformats.org/package/2006/relationships"><Relationship Id="rId3" Type="http://schemas.openxmlformats.org/officeDocument/2006/relationships/diagramLayout" Target="../diagrams/layout33.xml"/><Relationship Id="rId7" Type="http://schemas.openxmlformats.org/officeDocument/2006/relationships/image" Target="../media/image32.png"/><Relationship Id="rId2" Type="http://schemas.openxmlformats.org/officeDocument/2006/relationships/diagramData" Target="../diagrams/data33.xml"/><Relationship Id="rId1" Type="http://schemas.openxmlformats.org/officeDocument/2006/relationships/slideLayout" Target="../slideLayouts/slideLayout1.xml"/><Relationship Id="rId6" Type="http://schemas.microsoft.com/office/2007/relationships/diagramDrawing" Target="../diagrams/drawing33.xml"/><Relationship Id="rId5" Type="http://schemas.openxmlformats.org/officeDocument/2006/relationships/diagramColors" Target="../diagrams/colors33.xml"/><Relationship Id="rId4" Type="http://schemas.openxmlformats.org/officeDocument/2006/relationships/diagramQuickStyle" Target="../diagrams/quickStyle33.xml"/></Relationships>
</file>

<file path=ppt/slides/_rels/slide36.xml.rels><?xml version="1.0" encoding="UTF-8" standalone="yes"?>
<Relationships xmlns="http://schemas.openxmlformats.org/package/2006/relationships"><Relationship Id="rId3" Type="http://schemas.openxmlformats.org/officeDocument/2006/relationships/diagramLayout" Target="../diagrams/layout34.xml"/><Relationship Id="rId7" Type="http://schemas.openxmlformats.org/officeDocument/2006/relationships/image" Target="../media/image19.png"/><Relationship Id="rId2" Type="http://schemas.openxmlformats.org/officeDocument/2006/relationships/diagramData" Target="../diagrams/data34.xml"/><Relationship Id="rId1" Type="http://schemas.openxmlformats.org/officeDocument/2006/relationships/slideLayout" Target="../slideLayouts/slideLayout1.xml"/><Relationship Id="rId6" Type="http://schemas.microsoft.com/office/2007/relationships/diagramDrawing" Target="../diagrams/drawing34.xml"/><Relationship Id="rId5" Type="http://schemas.openxmlformats.org/officeDocument/2006/relationships/diagramColors" Target="../diagrams/colors34.xml"/><Relationship Id="rId4" Type="http://schemas.openxmlformats.org/officeDocument/2006/relationships/diagramQuickStyle" Target="../diagrams/quickStyle34.xml"/></Relationships>
</file>

<file path=ppt/slides/_rels/slide37.xml.rels><?xml version="1.0" encoding="UTF-8" standalone="yes"?>
<Relationships xmlns="http://schemas.openxmlformats.org/package/2006/relationships"><Relationship Id="rId3" Type="http://schemas.openxmlformats.org/officeDocument/2006/relationships/diagramLayout" Target="../diagrams/layout35.xml"/><Relationship Id="rId7" Type="http://schemas.openxmlformats.org/officeDocument/2006/relationships/image" Target="../media/image33.png"/><Relationship Id="rId2" Type="http://schemas.openxmlformats.org/officeDocument/2006/relationships/diagramData" Target="../diagrams/data35.xml"/><Relationship Id="rId1" Type="http://schemas.openxmlformats.org/officeDocument/2006/relationships/slideLayout" Target="../slideLayouts/slideLayout1.xml"/><Relationship Id="rId6" Type="http://schemas.microsoft.com/office/2007/relationships/diagramDrawing" Target="../diagrams/drawing35.xml"/><Relationship Id="rId5" Type="http://schemas.openxmlformats.org/officeDocument/2006/relationships/diagramColors" Target="../diagrams/colors35.xml"/><Relationship Id="rId4" Type="http://schemas.openxmlformats.org/officeDocument/2006/relationships/diagramQuickStyle" Target="../diagrams/quickStyle35.xml"/></Relationships>
</file>

<file path=ppt/slides/_rels/slide38.xml.rels><?xml version="1.0" encoding="UTF-8" standalone="yes"?>
<Relationships xmlns="http://schemas.openxmlformats.org/package/2006/relationships"><Relationship Id="rId3" Type="http://schemas.openxmlformats.org/officeDocument/2006/relationships/diagramLayout" Target="../diagrams/layout36.xml"/><Relationship Id="rId7" Type="http://schemas.openxmlformats.org/officeDocument/2006/relationships/image" Target="../media/image24.png"/><Relationship Id="rId2" Type="http://schemas.openxmlformats.org/officeDocument/2006/relationships/diagramData" Target="../diagrams/data36.xml"/><Relationship Id="rId1" Type="http://schemas.openxmlformats.org/officeDocument/2006/relationships/slideLayout" Target="../slideLayouts/slideLayout1.xml"/><Relationship Id="rId6" Type="http://schemas.microsoft.com/office/2007/relationships/diagramDrawing" Target="../diagrams/drawing36.xml"/><Relationship Id="rId5" Type="http://schemas.openxmlformats.org/officeDocument/2006/relationships/diagramColors" Target="../diagrams/colors36.xml"/><Relationship Id="rId4" Type="http://schemas.openxmlformats.org/officeDocument/2006/relationships/diagramQuickStyle" Target="../diagrams/quickStyle36.xml"/></Relationships>
</file>

<file path=ppt/slides/_rels/slide39.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Layout" Target="../diagrams/layout37.xml"/><Relationship Id="rId7" Type="http://schemas.openxmlformats.org/officeDocument/2006/relationships/image" Target="../media/image34.png"/><Relationship Id="rId2" Type="http://schemas.openxmlformats.org/officeDocument/2006/relationships/diagramData" Target="../diagrams/data37.xml"/><Relationship Id="rId1" Type="http://schemas.openxmlformats.org/officeDocument/2006/relationships/slideLayout" Target="../slideLayouts/slideLayout1.xml"/><Relationship Id="rId6" Type="http://schemas.microsoft.com/office/2007/relationships/diagramDrawing" Target="../diagrams/drawing37.xml"/><Relationship Id="rId5" Type="http://schemas.openxmlformats.org/officeDocument/2006/relationships/diagramColors" Target="../diagrams/colors37.xml"/><Relationship Id="rId4" Type="http://schemas.openxmlformats.org/officeDocument/2006/relationships/diagramQuickStyle" Target="../diagrams/quickStyle37.xml"/></Relationships>
</file>

<file path=ppt/slides/_rels/slide40.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Layout" Target="../diagrams/layout38.xml"/><Relationship Id="rId7" Type="http://schemas.openxmlformats.org/officeDocument/2006/relationships/image" Target="../media/image34.png"/><Relationship Id="rId2" Type="http://schemas.openxmlformats.org/officeDocument/2006/relationships/diagramData" Target="../diagrams/data38.xml"/><Relationship Id="rId1" Type="http://schemas.openxmlformats.org/officeDocument/2006/relationships/slideLayout" Target="../slideLayouts/slideLayout1.xml"/><Relationship Id="rId6" Type="http://schemas.microsoft.com/office/2007/relationships/diagramDrawing" Target="../diagrams/drawing38.xml"/><Relationship Id="rId5" Type="http://schemas.openxmlformats.org/officeDocument/2006/relationships/diagramColors" Target="../diagrams/colors38.xml"/><Relationship Id="rId4" Type="http://schemas.openxmlformats.org/officeDocument/2006/relationships/diagramQuickStyle" Target="../diagrams/quickStyle38.xml"/></Relationships>
</file>

<file path=ppt/slides/_rels/slide41.xml.rels><?xml version="1.0" encoding="UTF-8" standalone="yes"?>
<Relationships xmlns="http://schemas.openxmlformats.org/package/2006/relationships"><Relationship Id="rId8" Type="http://schemas.openxmlformats.org/officeDocument/2006/relationships/image" Target="../media/image35.png"/><Relationship Id="rId3" Type="http://schemas.openxmlformats.org/officeDocument/2006/relationships/diagramLayout" Target="../diagrams/layout39.xml"/><Relationship Id="rId7" Type="http://schemas.openxmlformats.org/officeDocument/2006/relationships/image" Target="../media/image34.png"/><Relationship Id="rId2" Type="http://schemas.openxmlformats.org/officeDocument/2006/relationships/diagramData" Target="../diagrams/data39.xml"/><Relationship Id="rId1" Type="http://schemas.openxmlformats.org/officeDocument/2006/relationships/slideLayout" Target="../slideLayouts/slideLayout1.xml"/><Relationship Id="rId6" Type="http://schemas.microsoft.com/office/2007/relationships/diagramDrawing" Target="../diagrams/drawing39.xml"/><Relationship Id="rId5" Type="http://schemas.openxmlformats.org/officeDocument/2006/relationships/diagramColors" Target="../diagrams/colors39.xml"/><Relationship Id="rId4" Type="http://schemas.openxmlformats.org/officeDocument/2006/relationships/diagramQuickStyle" Target="../diagrams/quickStyle3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sp>
        <p:nvSpPr>
          <p:cNvPr id="9" name="CuadroTexto 8">
            <a:extLst>
              <a:ext uri="{FF2B5EF4-FFF2-40B4-BE49-F238E27FC236}">
                <a16:creationId xmlns:a16="http://schemas.microsoft.com/office/drawing/2014/main" id="{908D4C57-9E1E-477A-9543-5E3FC6CEE550}"/>
              </a:ext>
            </a:extLst>
          </p:cNvPr>
          <p:cNvSpPr txBox="1"/>
          <p:nvPr/>
        </p:nvSpPr>
        <p:spPr>
          <a:xfrm>
            <a:off x="0" y="400110"/>
            <a:ext cx="12192000" cy="7201972"/>
          </a:xfrm>
          <a:prstGeom prst="rect">
            <a:avLst/>
          </a:prstGeom>
          <a:solidFill>
            <a:srgbClr val="0000CC"/>
          </a:solidFill>
          <a:ln>
            <a:noFill/>
          </a:ln>
        </p:spPr>
        <p:txBody>
          <a:bodyPr wrap="square" rtlCol="0">
            <a:spAutoFit/>
          </a:bodyPr>
          <a:lstStyle/>
          <a:p>
            <a:pPr algn="ctr"/>
            <a:endParaRPr lang="es-MX" sz="6600" b="1" dirty="0">
              <a:solidFill>
                <a:schemeClr val="bg1"/>
              </a:solidFill>
              <a:latin typeface="Oswald" panose="00000500000000000000" pitchFamily="2" charset="0"/>
              <a:cs typeface="Segoe UI Light" panose="020B0502040204020203" pitchFamily="34" charset="0"/>
            </a:endParaRPr>
          </a:p>
          <a:p>
            <a:pPr algn="ctr"/>
            <a:endParaRPr lang="es-MX" sz="6600" b="1" dirty="0">
              <a:solidFill>
                <a:schemeClr val="bg1"/>
              </a:solidFill>
              <a:latin typeface="Oswald" panose="00000500000000000000" pitchFamily="2" charset="0"/>
              <a:cs typeface="Segoe UI Light" panose="020B0502040204020203" pitchFamily="34" charset="0"/>
            </a:endParaRPr>
          </a:p>
          <a:p>
            <a:pPr algn="ctr"/>
            <a:r>
              <a:rPr lang="es-MX" sz="6600" b="1" dirty="0">
                <a:solidFill>
                  <a:schemeClr val="bg1"/>
                </a:solidFill>
                <a:latin typeface="Oswald" panose="00000500000000000000" pitchFamily="2" charset="0"/>
                <a:cs typeface="Segoe UI Light" panose="020B0502040204020203" pitchFamily="34" charset="0"/>
              </a:rPr>
              <a:t>Creación del Sitio Web</a:t>
            </a:r>
          </a:p>
          <a:p>
            <a:pPr algn="ctr"/>
            <a:r>
              <a:rPr lang="es-MX" sz="6600" b="1" dirty="0">
                <a:solidFill>
                  <a:schemeClr val="bg1"/>
                </a:solidFill>
                <a:latin typeface="Oswald" panose="00000500000000000000" pitchFamily="2" charset="0"/>
                <a:cs typeface="Segoe UI Light" panose="020B0502040204020203" pitchFamily="34" charset="0"/>
              </a:rPr>
              <a:t>PET - CLINIC</a:t>
            </a:r>
          </a:p>
          <a:p>
            <a:pPr algn="ctr"/>
            <a:endParaRPr lang="es-MX" sz="6600" b="1" dirty="0">
              <a:solidFill>
                <a:schemeClr val="bg1"/>
              </a:solidFill>
              <a:latin typeface="Oswald" panose="00000500000000000000" pitchFamily="2" charset="0"/>
              <a:cs typeface="Segoe UI Light" panose="020B0502040204020203" pitchFamily="34" charset="0"/>
            </a:endParaRPr>
          </a:p>
          <a:p>
            <a:pPr algn="ctr"/>
            <a:endParaRPr lang="es-MX" sz="6600" b="1" dirty="0">
              <a:solidFill>
                <a:schemeClr val="bg1"/>
              </a:solidFill>
              <a:latin typeface="Oswald" panose="00000500000000000000" pitchFamily="2" charset="0"/>
              <a:cs typeface="Segoe UI Light" panose="020B0502040204020203" pitchFamily="34" charset="0"/>
            </a:endParaRPr>
          </a:p>
          <a:p>
            <a:pPr algn="ctr"/>
            <a:endParaRPr lang="es-MX" sz="6600" b="1" dirty="0">
              <a:solidFill>
                <a:schemeClr val="bg1"/>
              </a:solidFill>
              <a:latin typeface="Oswald" panose="00000500000000000000" pitchFamily="2" charset="0"/>
              <a:cs typeface="Segoe UI Light" panose="020B0502040204020203" pitchFamily="34" charset="0"/>
            </a:endParaRPr>
          </a:p>
        </p:txBody>
      </p:sp>
    </p:spTree>
    <p:extLst>
      <p:ext uri="{BB962C8B-B14F-4D97-AF65-F5344CB8AC3E}">
        <p14:creationId xmlns:p14="http://schemas.microsoft.com/office/powerpoint/2010/main" val="28923264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aphicFrame>
        <p:nvGraphicFramePr>
          <p:cNvPr id="7" name="Diagrama 6">
            <a:extLst>
              <a:ext uri="{FF2B5EF4-FFF2-40B4-BE49-F238E27FC236}">
                <a16:creationId xmlns:a16="http://schemas.microsoft.com/office/drawing/2014/main" id="{96A813FF-ADC0-41D2-99D1-CA174F9245A9}"/>
              </a:ext>
            </a:extLst>
          </p:cNvPr>
          <p:cNvGraphicFramePr/>
          <p:nvPr>
            <p:extLst>
              <p:ext uri="{D42A27DB-BD31-4B8C-83A1-F6EECF244321}">
                <p14:modId xmlns:p14="http://schemas.microsoft.com/office/powerpoint/2010/main" val="1595849372"/>
              </p:ext>
            </p:extLst>
          </p:nvPr>
        </p:nvGraphicFramePr>
        <p:xfrm>
          <a:off x="194734" y="640080"/>
          <a:ext cx="5759026" cy="564218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3074" name="Picture 2" descr="Imágenes de Objetivo general - Descarga gratuita en Magnific (antes Freepik)">
            <a:extLst>
              <a:ext uri="{FF2B5EF4-FFF2-40B4-BE49-F238E27FC236}">
                <a16:creationId xmlns:a16="http://schemas.microsoft.com/office/drawing/2014/main" id="{BE20FDAB-3173-43DD-9462-76FCDF9BC06F}"/>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87795" y="955357"/>
            <a:ext cx="4947285" cy="49472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5015551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010838273"/>
              </p:ext>
            </p:extLst>
          </p:nvPr>
        </p:nvGraphicFramePr>
        <p:xfrm>
          <a:off x="340658" y="1008529"/>
          <a:ext cx="3272119" cy="484094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Imagen 9">
            <a:extLst>
              <a:ext uri="{FF2B5EF4-FFF2-40B4-BE49-F238E27FC236}">
                <a16:creationId xmlns:a16="http://schemas.microsoft.com/office/drawing/2014/main" id="{6AABA905-542D-45E5-8766-03C777ACA689}"/>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10000" y="1146038"/>
            <a:ext cx="8121160" cy="4565924"/>
          </a:xfrm>
          <a:prstGeom prst="rect">
            <a:avLst/>
          </a:prstGeom>
        </p:spPr>
      </p:pic>
    </p:spTree>
    <p:extLst>
      <p:ext uri="{BB962C8B-B14F-4D97-AF65-F5344CB8AC3E}">
        <p14:creationId xmlns:p14="http://schemas.microsoft.com/office/powerpoint/2010/main" val="18538875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501532736"/>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2" name="Imagen 11">
            <a:extLst>
              <a:ext uri="{FF2B5EF4-FFF2-40B4-BE49-F238E27FC236}">
                <a16:creationId xmlns:a16="http://schemas.microsoft.com/office/drawing/2014/main" id="{F539507A-4ECA-4A8A-9405-27D1553FEB8E}"/>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788897" y="611841"/>
            <a:ext cx="2628966" cy="5692588"/>
          </a:xfrm>
          <a:prstGeom prst="rect">
            <a:avLst/>
          </a:prstGeom>
        </p:spPr>
      </p:pic>
      <p:pic>
        <p:nvPicPr>
          <p:cNvPr id="8" name="Imagen 7">
            <a:extLst>
              <a:ext uri="{FF2B5EF4-FFF2-40B4-BE49-F238E27FC236}">
                <a16:creationId xmlns:a16="http://schemas.microsoft.com/office/drawing/2014/main" id="{60030B85-4F17-4FB1-BA49-F9612B9716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702428" y="611841"/>
            <a:ext cx="2628965" cy="5692586"/>
          </a:xfrm>
          <a:prstGeom prst="rect">
            <a:avLst/>
          </a:prstGeom>
        </p:spPr>
      </p:pic>
    </p:spTree>
    <p:extLst>
      <p:ext uri="{BB962C8B-B14F-4D97-AF65-F5344CB8AC3E}">
        <p14:creationId xmlns:p14="http://schemas.microsoft.com/office/powerpoint/2010/main" val="10894474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4086932760"/>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805519"/>
            <a:ext cx="6096000" cy="954107"/>
          </a:xfrm>
          <a:prstGeom prst="rect">
            <a:avLst/>
          </a:prstGeom>
          <a:noFill/>
        </p:spPr>
        <p:txBody>
          <a:bodyPr wrap="square">
            <a:spAutoFit/>
          </a:bodyPr>
          <a:lstStyle/>
          <a:p>
            <a:r>
              <a:rPr lang="es-MX" sz="2800" b="0" i="0" dirty="0">
                <a:effectLst/>
                <a:latin typeface="Segoe UI Light" panose="020B0502040204020203" pitchFamily="34" charset="0"/>
                <a:cs typeface="Segoe UI Light" panose="020B0502040204020203" pitchFamily="34" charset="0"/>
              </a:rPr>
              <a:t>Crear un aplicativo para reserva de citas online, para PET CLINIC</a:t>
            </a:r>
            <a:endParaRPr lang="es-PE" sz="2800" dirty="0">
              <a:latin typeface="Segoe UI Light" panose="020B0502040204020203" pitchFamily="34" charset="0"/>
              <a:cs typeface="Segoe UI Light" panose="020B0502040204020203" pitchFamily="34" charset="0"/>
            </a:endParaRPr>
          </a:p>
        </p:txBody>
      </p:sp>
      <p:pic>
        <p:nvPicPr>
          <p:cNvPr id="6" name="Imagen 5">
            <a:extLst>
              <a:ext uri="{FF2B5EF4-FFF2-40B4-BE49-F238E27FC236}">
                <a16:creationId xmlns:a16="http://schemas.microsoft.com/office/drawing/2014/main" id="{CE922C6C-8516-47E2-AAE3-AD11369B6EBD}"/>
              </a:ext>
            </a:extLst>
          </p:cNvPr>
          <p:cNvPicPr>
            <a:picLocks noChangeAspect="1"/>
          </p:cNvPicPr>
          <p:nvPr/>
        </p:nvPicPr>
        <p:blipFill rotWithShape="1">
          <a:blip r:embed="rId7"/>
          <a:srcRect l="30140" t="9102" r="51006" b="57317"/>
          <a:stretch/>
        </p:blipFill>
        <p:spPr>
          <a:xfrm>
            <a:off x="10522727" y="504201"/>
            <a:ext cx="1669273" cy="1623048"/>
          </a:xfrm>
          <a:prstGeom prst="rect">
            <a:avLst/>
          </a:prstGeom>
        </p:spPr>
      </p:pic>
      <p:sp>
        <p:nvSpPr>
          <p:cNvPr id="13" name="CuadroTexto 12">
            <a:extLst>
              <a:ext uri="{FF2B5EF4-FFF2-40B4-BE49-F238E27FC236}">
                <a16:creationId xmlns:a16="http://schemas.microsoft.com/office/drawing/2014/main" id="{A92B7DBA-1E56-400C-B85C-2864614F609E}"/>
              </a:ext>
            </a:extLst>
          </p:cNvPr>
          <p:cNvSpPr txBox="1"/>
          <p:nvPr/>
        </p:nvSpPr>
        <p:spPr>
          <a:xfrm>
            <a:off x="5922741" y="1315725"/>
            <a:ext cx="2456149"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Resumen</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0936904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934928589"/>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3785652"/>
          </a:xfrm>
          <a:prstGeom prst="rect">
            <a:avLst/>
          </a:prstGeom>
          <a:noFill/>
        </p:spPr>
        <p:txBody>
          <a:bodyPr wrap="square">
            <a:spAutoFit/>
          </a:bodyPr>
          <a:lstStyle/>
          <a:p>
            <a:r>
              <a:rPr lang="es-MX" sz="2000" b="0" i="0" dirty="0" err="1">
                <a:effectLst/>
                <a:latin typeface="Segoe UI Light" panose="020B0502040204020203" pitchFamily="34" charset="0"/>
                <a:cs typeface="Segoe UI Light" panose="020B0502040204020203" pitchFamily="34" charset="0"/>
              </a:rPr>
              <a:t>Pet</a:t>
            </a:r>
            <a:r>
              <a:rPr lang="es-MX" sz="2000" b="0" i="0" dirty="0">
                <a:effectLst/>
                <a:latin typeface="Segoe UI Light" panose="020B0502040204020203" pitchFamily="34" charset="0"/>
                <a:cs typeface="Segoe UI Light" panose="020B0502040204020203" pitchFamily="34" charset="0"/>
              </a:rPr>
              <a:t> </a:t>
            </a:r>
            <a:r>
              <a:rPr lang="es-MX" sz="2000" b="0" i="0" dirty="0" err="1">
                <a:effectLst/>
                <a:latin typeface="Segoe UI Light" panose="020B0502040204020203" pitchFamily="34" charset="0"/>
                <a:cs typeface="Segoe UI Light" panose="020B0502040204020203" pitchFamily="34" charset="0"/>
              </a:rPr>
              <a:t>Clinic</a:t>
            </a:r>
            <a:r>
              <a:rPr lang="es-MX" sz="2000" b="0" i="0" dirty="0">
                <a:effectLst/>
                <a:latin typeface="Segoe UI Light" panose="020B0502040204020203" pitchFamily="34" charset="0"/>
                <a:cs typeface="Segoe UI Light" panose="020B0502040204020203" pitchFamily="34" charset="0"/>
              </a:rPr>
              <a:t> es una clínica veterinaria ubicada en Lima. Atiende a un </a:t>
            </a:r>
            <a:r>
              <a:rPr lang="es-MX" sz="2000" b="1" i="0" dirty="0">
                <a:solidFill>
                  <a:srgbClr val="1E2BFF"/>
                </a:solidFill>
                <a:effectLst/>
                <a:latin typeface="Segoe UI Light" panose="020B0502040204020203" pitchFamily="34" charset="0"/>
                <a:cs typeface="Segoe UI Light" panose="020B0502040204020203" pitchFamily="34" charset="0"/>
              </a:rPr>
              <a:t>promedio de 30 pacientes al día </a:t>
            </a:r>
            <a:r>
              <a:rPr lang="es-MX" sz="2000" b="0" i="0" dirty="0">
                <a:effectLst/>
                <a:latin typeface="Segoe UI Light" panose="020B0502040204020203" pitchFamily="34" charset="0"/>
                <a:cs typeface="Segoe UI Light" panose="020B0502040204020203" pitchFamily="34" charset="0"/>
              </a:rPr>
              <a:t>y cuenta con 6 veterinarios profesionales, 6 asistentes y 3 personas dedicadas al área administrativa.</a:t>
            </a:r>
          </a:p>
          <a:p>
            <a:endParaRPr lang="es-MX" sz="2000" dirty="0">
              <a:latin typeface="Segoe UI Light" panose="020B0502040204020203" pitchFamily="34" charset="0"/>
              <a:cs typeface="Segoe UI Light" panose="020B0502040204020203" pitchFamily="34" charset="0"/>
            </a:endParaRPr>
          </a:p>
          <a:p>
            <a:r>
              <a:rPr lang="es-MX" sz="2000" b="0" i="0" dirty="0">
                <a:effectLst/>
                <a:latin typeface="Segoe UI Light" panose="020B0502040204020203" pitchFamily="34" charset="0"/>
                <a:cs typeface="Segoe UI Light" panose="020B0502040204020203" pitchFamily="34" charset="0"/>
              </a:rPr>
              <a:t>El factor que diferencia a </a:t>
            </a:r>
            <a:r>
              <a:rPr lang="es-MX" sz="2000" b="0" i="0" dirty="0" err="1">
                <a:effectLst/>
                <a:latin typeface="Segoe UI Light" panose="020B0502040204020203" pitchFamily="34" charset="0"/>
                <a:cs typeface="Segoe UI Light" panose="020B0502040204020203" pitchFamily="34" charset="0"/>
              </a:rPr>
              <a:t>Pet</a:t>
            </a:r>
            <a:r>
              <a:rPr lang="es-MX" sz="2000" b="0" i="0" dirty="0">
                <a:effectLst/>
                <a:latin typeface="Segoe UI Light" panose="020B0502040204020203" pitchFamily="34" charset="0"/>
                <a:cs typeface="Segoe UI Light" panose="020B0502040204020203" pitchFamily="34" charset="0"/>
              </a:rPr>
              <a:t> </a:t>
            </a:r>
            <a:r>
              <a:rPr lang="es-MX" sz="2000" b="0" i="0" dirty="0" err="1">
                <a:effectLst/>
                <a:latin typeface="Segoe UI Light" panose="020B0502040204020203" pitchFamily="34" charset="0"/>
                <a:cs typeface="Segoe UI Light" panose="020B0502040204020203" pitchFamily="34" charset="0"/>
              </a:rPr>
              <a:t>Clinic</a:t>
            </a:r>
            <a:r>
              <a:rPr lang="es-MX" sz="2000" b="0" i="0" dirty="0">
                <a:effectLst/>
                <a:latin typeface="Segoe UI Light" panose="020B0502040204020203" pitchFamily="34" charset="0"/>
                <a:cs typeface="Segoe UI Light" panose="020B0502040204020203" pitchFamily="34" charset="0"/>
              </a:rPr>
              <a:t> de la competencia es </a:t>
            </a:r>
            <a:r>
              <a:rPr lang="es-MX" sz="2000" b="1" i="0" dirty="0">
                <a:solidFill>
                  <a:srgbClr val="1E2BFF"/>
                </a:solidFill>
                <a:effectLst/>
                <a:latin typeface="Segoe UI Light" panose="020B0502040204020203" pitchFamily="34" charset="0"/>
                <a:cs typeface="Segoe UI Light" panose="020B0502040204020203" pitchFamily="34" charset="0"/>
              </a:rPr>
              <a:t>su calidad de primer nivel</a:t>
            </a:r>
            <a:r>
              <a:rPr lang="es-MX" sz="2000" b="0" i="0" dirty="0">
                <a:effectLst/>
                <a:latin typeface="Segoe UI Light" panose="020B0502040204020203" pitchFamily="34" charset="0"/>
                <a:cs typeface="Segoe UI Light" panose="020B0502040204020203" pitchFamily="34" charset="0"/>
              </a:rPr>
              <a:t>, tanto en las atenciones habituales, como en su </a:t>
            </a:r>
            <a:r>
              <a:rPr lang="es-MX" sz="2000" b="1" i="0" dirty="0">
                <a:solidFill>
                  <a:srgbClr val="1E2BFF"/>
                </a:solidFill>
                <a:effectLst/>
                <a:latin typeface="Segoe UI Light" panose="020B0502040204020203" pitchFamily="34" charset="0"/>
                <a:cs typeface="Segoe UI Light" panose="020B0502040204020203" pitchFamily="34" charset="0"/>
              </a:rPr>
              <a:t>atención de urgencias 24/7 y hospital. </a:t>
            </a:r>
          </a:p>
          <a:p>
            <a:endParaRPr lang="es-MX" sz="2000" dirty="0">
              <a:latin typeface="Segoe UI Light" panose="020B0502040204020203" pitchFamily="34" charset="0"/>
              <a:cs typeface="Segoe UI Light" panose="020B0502040204020203" pitchFamily="34" charset="0"/>
            </a:endParaRPr>
          </a:p>
          <a:p>
            <a:r>
              <a:rPr lang="es-MX" sz="2000" b="0" i="0" dirty="0">
                <a:effectLst/>
                <a:latin typeface="Segoe UI Light" panose="020B0502040204020203" pitchFamily="34" charset="0"/>
                <a:cs typeface="Segoe UI Light" panose="020B0502040204020203" pitchFamily="34" charset="0"/>
              </a:rPr>
              <a:t>También </a:t>
            </a:r>
            <a:r>
              <a:rPr lang="es-MX" sz="2000" b="1" i="0" dirty="0">
                <a:solidFill>
                  <a:srgbClr val="1E2BFF"/>
                </a:solidFill>
                <a:effectLst/>
                <a:latin typeface="Segoe UI Light" panose="020B0502040204020203" pitchFamily="34" charset="0"/>
                <a:cs typeface="Segoe UI Light" panose="020B0502040204020203" pitchFamily="34" charset="0"/>
              </a:rPr>
              <a:t>poseen un laboratorio propio</a:t>
            </a:r>
            <a:r>
              <a:rPr lang="es-MX" sz="2000" b="0" i="0" dirty="0">
                <a:effectLst/>
                <a:latin typeface="Segoe UI Light" panose="020B0502040204020203" pitchFamily="34" charset="0"/>
                <a:cs typeface="Segoe UI Light" panose="020B0502040204020203" pitchFamily="34" charset="0"/>
              </a:rPr>
              <a:t>, lo cual pocas clínicas veterinarias poseen.</a:t>
            </a:r>
            <a:endParaRPr lang="es-PE" sz="20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52811" t="9171" r="28335" b="57248"/>
          <a:stretch/>
        </p:blipFill>
        <p:spPr>
          <a:xfrm>
            <a:off x="10522727" y="504201"/>
            <a:ext cx="1669273"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2456149"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El Cliente</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2583363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969341669"/>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4093428"/>
          </a:xfrm>
          <a:prstGeom prst="rect">
            <a:avLst/>
          </a:prstGeom>
          <a:noFill/>
        </p:spPr>
        <p:txBody>
          <a:bodyPr wrap="square">
            <a:spAutoFit/>
          </a:bodyPr>
          <a:lstStyle/>
          <a:p>
            <a:r>
              <a:rPr lang="es-MX" sz="2000" b="1" i="0" dirty="0" err="1">
                <a:effectLst/>
                <a:latin typeface="Segoe UI Light" panose="020B0502040204020203" pitchFamily="34" charset="0"/>
                <a:cs typeface="Segoe UI Light" panose="020B0502040204020203" pitchFamily="34" charset="0"/>
              </a:rPr>
              <a:t>Pet</a:t>
            </a:r>
            <a:r>
              <a:rPr lang="es-MX" sz="2000" b="1" i="0" dirty="0">
                <a:effectLst/>
                <a:latin typeface="Segoe UI Light" panose="020B0502040204020203" pitchFamily="34" charset="0"/>
                <a:cs typeface="Segoe UI Light" panose="020B0502040204020203" pitchFamily="34" charset="0"/>
              </a:rPr>
              <a:t> </a:t>
            </a:r>
            <a:r>
              <a:rPr lang="es-MX" sz="2000" b="1" i="0" dirty="0" err="1">
                <a:effectLst/>
                <a:latin typeface="Segoe UI Light" panose="020B0502040204020203" pitchFamily="34" charset="0"/>
                <a:cs typeface="Segoe UI Light" panose="020B0502040204020203" pitchFamily="34" charset="0"/>
              </a:rPr>
              <a:t>Clinic</a:t>
            </a:r>
            <a:r>
              <a:rPr lang="es-MX" sz="2000" b="1" i="0" dirty="0">
                <a:effectLst/>
                <a:latin typeface="Segoe UI Light" panose="020B0502040204020203" pitchFamily="34" charset="0"/>
                <a:cs typeface="Segoe UI Light" panose="020B0502040204020203" pitchFamily="34" charset="0"/>
              </a:rPr>
              <a:t> </a:t>
            </a:r>
            <a:r>
              <a:rPr lang="es-MX" sz="2000" i="0" dirty="0">
                <a:effectLst/>
                <a:latin typeface="Segoe UI Light" panose="020B0502040204020203" pitchFamily="34" charset="0"/>
                <a:cs typeface="Segoe UI Light" panose="020B0502040204020203" pitchFamily="34" charset="0"/>
              </a:rPr>
              <a:t>posee el dominio petclinic.pe y lo tienen puesto en la fachada de la clínica y en toda su papelería, </a:t>
            </a:r>
            <a:r>
              <a:rPr lang="es-MX" sz="2000" b="1" i="0" dirty="0">
                <a:solidFill>
                  <a:srgbClr val="1E2BFF"/>
                </a:solidFill>
                <a:effectLst/>
                <a:latin typeface="Segoe UI Light" panose="020B0502040204020203" pitchFamily="34" charset="0"/>
                <a:cs typeface="Segoe UI Light" panose="020B0502040204020203" pitchFamily="34" charset="0"/>
              </a:rPr>
              <a:t>sin embargo no posee un sitio web. </a:t>
            </a:r>
            <a:endParaRPr lang="es-MX" sz="2000" dirty="0">
              <a:latin typeface="Segoe UI Light" panose="020B0502040204020203" pitchFamily="34" charset="0"/>
              <a:cs typeface="Segoe UI Light" panose="020B0502040204020203" pitchFamily="34" charset="0"/>
            </a:endParaRPr>
          </a:p>
          <a:p>
            <a:r>
              <a:rPr lang="es-MX" sz="2000" i="0" dirty="0">
                <a:effectLst/>
                <a:latin typeface="Segoe UI Light" panose="020B0502040204020203" pitchFamily="34" charset="0"/>
                <a:cs typeface="Segoe UI Light" panose="020B0502040204020203" pitchFamily="34" charset="0"/>
              </a:rPr>
              <a:t>Al ingresar a la URL lo único que se ve es una pantalla en blanco.</a:t>
            </a:r>
          </a:p>
          <a:p>
            <a:endParaRPr lang="es-MX" sz="2000" dirty="0">
              <a:latin typeface="Segoe UI Light" panose="020B0502040204020203" pitchFamily="34" charset="0"/>
              <a:cs typeface="Segoe UI Light" panose="020B0502040204020203" pitchFamily="34" charset="0"/>
            </a:endParaRPr>
          </a:p>
          <a:p>
            <a:r>
              <a:rPr lang="es-MX" sz="2000" dirty="0">
                <a:latin typeface="Segoe UI Light" panose="020B0502040204020203" pitchFamily="34" charset="0"/>
                <a:cs typeface="Segoe UI Light" panose="020B0502040204020203" pitchFamily="34" charset="0"/>
              </a:rPr>
              <a:t>Adicionalmente, </a:t>
            </a:r>
            <a:r>
              <a:rPr lang="es-MX" sz="2000" dirty="0" err="1">
                <a:latin typeface="Segoe UI Light" panose="020B0502040204020203" pitchFamily="34" charset="0"/>
                <a:cs typeface="Segoe UI Light" panose="020B0502040204020203" pitchFamily="34" charset="0"/>
              </a:rPr>
              <a:t>Pet</a:t>
            </a:r>
            <a:r>
              <a:rPr lang="es-MX" sz="2000" dirty="0">
                <a:latin typeface="Segoe UI Light" panose="020B0502040204020203" pitchFamily="34" charset="0"/>
                <a:cs typeface="Segoe UI Light" panose="020B0502040204020203" pitchFamily="34" charset="0"/>
              </a:rPr>
              <a:t> </a:t>
            </a:r>
            <a:r>
              <a:rPr lang="es-MX" sz="2000" dirty="0" err="1">
                <a:latin typeface="Segoe UI Light" panose="020B0502040204020203" pitchFamily="34" charset="0"/>
                <a:cs typeface="Segoe UI Light" panose="020B0502040204020203" pitchFamily="34" charset="0"/>
              </a:rPr>
              <a:t>Clinic</a:t>
            </a:r>
            <a:r>
              <a:rPr lang="es-MX" sz="2000" dirty="0">
                <a:latin typeface="Segoe UI Light" panose="020B0502040204020203" pitchFamily="34" charset="0"/>
                <a:cs typeface="Segoe UI Light" panose="020B0502040204020203" pitchFamily="34" charset="0"/>
              </a:rPr>
              <a:t> posee un sistema de gestión de horas de uso interno. Lo que hacen es atender al teléfono y, luego, </a:t>
            </a:r>
            <a:r>
              <a:rPr lang="es-MX" sz="2000" b="1" dirty="0">
                <a:solidFill>
                  <a:srgbClr val="1E2BFF"/>
                </a:solidFill>
                <a:latin typeface="Segoe UI Light" panose="020B0502040204020203" pitchFamily="34" charset="0"/>
                <a:cs typeface="Segoe UI Light" panose="020B0502040204020203" pitchFamily="34" charset="0"/>
              </a:rPr>
              <a:t>ingresar manualmente las horas en su sistema. </a:t>
            </a:r>
          </a:p>
          <a:p>
            <a:r>
              <a:rPr lang="es-MX" sz="2000" dirty="0">
                <a:latin typeface="Segoe UI Light" panose="020B0502040204020203" pitchFamily="34" charset="0"/>
                <a:cs typeface="Segoe UI Light" panose="020B0502040204020203" pitchFamily="34" charset="0"/>
              </a:rPr>
              <a:t>Esto genera un proceso tedioso y que ocupa tiempo valioso de su personal administrativo, solo para digitalizar información registrada manualmente.</a:t>
            </a: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76271" t="9171" r="3985" b="57248"/>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El problema de </a:t>
            </a:r>
            <a:r>
              <a:rPr lang="es-MX" sz="2800" b="1" i="0" dirty="0" err="1">
                <a:solidFill>
                  <a:srgbClr val="1E2BFF"/>
                </a:solidFill>
                <a:effectLst/>
                <a:latin typeface="Segoe UI Semibold" panose="020B0702040204020203" pitchFamily="34" charset="0"/>
                <a:cs typeface="Segoe UI Semibold" panose="020B0702040204020203" pitchFamily="34" charset="0"/>
              </a:rPr>
              <a:t>Pet</a:t>
            </a:r>
            <a:r>
              <a:rPr lang="es-MX" sz="2800" b="1" i="0" dirty="0">
                <a:solidFill>
                  <a:srgbClr val="1E2BFF"/>
                </a:solidFill>
                <a:effectLst/>
                <a:latin typeface="Segoe UI Semibold" panose="020B0702040204020203" pitchFamily="34" charset="0"/>
                <a:cs typeface="Segoe UI Semibold" panose="020B0702040204020203" pitchFamily="34" charset="0"/>
              </a:rPr>
              <a:t> </a:t>
            </a:r>
            <a:r>
              <a:rPr lang="es-MX" sz="2800" b="1" i="0" dirty="0" err="1">
                <a:solidFill>
                  <a:srgbClr val="1E2BFF"/>
                </a:solidFill>
                <a:effectLst/>
                <a:latin typeface="Segoe UI Semibold" panose="020B0702040204020203" pitchFamily="34" charset="0"/>
                <a:cs typeface="Segoe UI Semibold" panose="020B0702040204020203" pitchFamily="34" charset="0"/>
              </a:rPr>
              <a:t>Clinic</a:t>
            </a:r>
            <a:r>
              <a:rPr lang="es-MX" sz="2800" b="1" i="0" dirty="0">
                <a:solidFill>
                  <a:srgbClr val="1E2BFF"/>
                </a:solidFill>
                <a:effectLst/>
                <a:latin typeface="Segoe UI Semibold" panose="020B0702040204020203" pitchFamily="34" charset="0"/>
                <a:cs typeface="Segoe UI Semibold" panose="020B0702040204020203" pitchFamily="34" charset="0"/>
              </a:rPr>
              <a:t>: </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1106740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1323439"/>
          </a:xfrm>
          <a:prstGeom prst="rect">
            <a:avLst/>
          </a:prstGeom>
          <a:noFill/>
        </p:spPr>
        <p:txBody>
          <a:bodyPr wrap="square">
            <a:spAutoFit/>
          </a:bodyPr>
          <a:lstStyle/>
          <a:p>
            <a:r>
              <a:rPr lang="es-MX" sz="2000" b="1" i="0" dirty="0">
                <a:solidFill>
                  <a:srgbClr val="1E2BFF"/>
                </a:solidFill>
                <a:effectLst/>
                <a:latin typeface="Segoe UI Light" panose="020B0502040204020203" pitchFamily="34" charset="0"/>
                <a:cs typeface="Segoe UI Light" panose="020B0502040204020203" pitchFamily="34" charset="0"/>
              </a:rPr>
              <a:t>La sala de espera siempre está </a:t>
            </a:r>
            <a:r>
              <a:rPr lang="es-MX" sz="2000" i="0" dirty="0">
                <a:effectLst/>
                <a:latin typeface="Segoe UI Light" panose="020B0502040204020203" pitchFamily="34" charset="0"/>
                <a:cs typeface="Segoe UI Light" panose="020B0502040204020203" pitchFamily="34" charset="0"/>
              </a:rPr>
              <a:t>llena, pues las personas olvidan el número de teléfono y simplemente llegan a la clínica esperando a ser atendidos, </a:t>
            </a:r>
            <a:r>
              <a:rPr lang="es-MX" sz="2000" b="1" i="0" dirty="0">
                <a:solidFill>
                  <a:srgbClr val="1E2BFF"/>
                </a:solidFill>
                <a:effectLst/>
                <a:latin typeface="Segoe UI Light" panose="020B0502040204020203" pitchFamily="34" charset="0"/>
                <a:cs typeface="Segoe UI Light" panose="020B0502040204020203" pitchFamily="34" charset="0"/>
              </a:rPr>
              <a:t>generando congestión innecesaria.</a:t>
            </a:r>
            <a:endParaRPr lang="es-MX" sz="2000" b="1" dirty="0">
              <a:solidFill>
                <a:srgbClr val="1E2BFF"/>
              </a:solidFill>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76271" t="9171" r="3985" b="57248"/>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El problema de </a:t>
            </a:r>
            <a:r>
              <a:rPr lang="es-MX" sz="2800" b="1" i="0" dirty="0" err="1">
                <a:solidFill>
                  <a:srgbClr val="1E2BFF"/>
                </a:solidFill>
                <a:effectLst/>
                <a:latin typeface="Segoe UI Semibold" panose="020B0702040204020203" pitchFamily="34" charset="0"/>
                <a:cs typeface="Segoe UI Semibold" panose="020B0702040204020203" pitchFamily="34" charset="0"/>
              </a:rPr>
              <a:t>Pet</a:t>
            </a:r>
            <a:r>
              <a:rPr lang="es-MX" sz="2800" b="1" i="0" dirty="0">
                <a:solidFill>
                  <a:srgbClr val="1E2BFF"/>
                </a:solidFill>
                <a:effectLst/>
                <a:latin typeface="Segoe UI Semibold" panose="020B0702040204020203" pitchFamily="34" charset="0"/>
                <a:cs typeface="Segoe UI Semibold" panose="020B0702040204020203" pitchFamily="34" charset="0"/>
              </a:rPr>
              <a:t> </a:t>
            </a:r>
            <a:r>
              <a:rPr lang="es-MX" sz="2800" b="1" i="0" dirty="0" err="1">
                <a:solidFill>
                  <a:srgbClr val="1E2BFF"/>
                </a:solidFill>
                <a:effectLst/>
                <a:latin typeface="Segoe UI Semibold" panose="020B0702040204020203" pitchFamily="34" charset="0"/>
                <a:cs typeface="Segoe UI Semibold" panose="020B0702040204020203" pitchFamily="34" charset="0"/>
              </a:rPr>
              <a:t>Clinic</a:t>
            </a:r>
            <a:r>
              <a:rPr lang="es-MX" sz="2800" b="1" i="0" dirty="0">
                <a:solidFill>
                  <a:srgbClr val="1E2BFF"/>
                </a:solidFill>
                <a:effectLst/>
                <a:latin typeface="Segoe UI Semibold" panose="020B0702040204020203" pitchFamily="34" charset="0"/>
                <a:cs typeface="Segoe UI Semibold" panose="020B0702040204020203" pitchFamily="34" charset="0"/>
              </a:rPr>
              <a:t>: </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7351696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899858596"/>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1631216"/>
          </a:xfrm>
          <a:prstGeom prst="rect">
            <a:avLst/>
          </a:prstGeom>
          <a:noFill/>
        </p:spPr>
        <p:txBody>
          <a:bodyPr wrap="square">
            <a:spAutoFit/>
          </a:bodyPr>
          <a:lstStyle/>
          <a:p>
            <a:r>
              <a:rPr lang="es-MX" sz="2000" i="0" dirty="0">
                <a:effectLst/>
                <a:latin typeface="Segoe UI Light" panose="020B0502040204020203" pitchFamily="34" charset="0"/>
                <a:cs typeface="Segoe UI Light" panose="020B0502040204020203" pitchFamily="34" charset="0"/>
              </a:rPr>
              <a:t>Que las personas que </a:t>
            </a:r>
            <a:r>
              <a:rPr lang="es-MX" sz="2000" b="1" i="0" dirty="0">
                <a:solidFill>
                  <a:srgbClr val="1E2BFF"/>
                </a:solidFill>
                <a:effectLst/>
                <a:latin typeface="Segoe UI Light" panose="020B0502040204020203" pitchFamily="34" charset="0"/>
                <a:cs typeface="Segoe UI Light" panose="020B0502040204020203" pitchFamily="34" charset="0"/>
              </a:rPr>
              <a:t>ingresen a petclinic.pe </a:t>
            </a:r>
            <a:r>
              <a:rPr lang="es-MX" sz="2000" i="0" dirty="0">
                <a:effectLst/>
                <a:latin typeface="Segoe UI Light" panose="020B0502040204020203" pitchFamily="34" charset="0"/>
                <a:cs typeface="Segoe UI Light" panose="020B0502040204020203" pitchFamily="34" charset="0"/>
              </a:rPr>
              <a:t>vean información básica de la clínica y </a:t>
            </a:r>
            <a:r>
              <a:rPr lang="es-MX" sz="2000" b="1" i="0" dirty="0">
                <a:solidFill>
                  <a:srgbClr val="1E2BFF"/>
                </a:solidFill>
                <a:effectLst/>
                <a:latin typeface="Segoe UI Light" panose="020B0502040204020203" pitchFamily="34" charset="0"/>
                <a:cs typeface="Segoe UI Light" panose="020B0502040204020203" pitchFamily="34" charset="0"/>
              </a:rPr>
              <a:t>puedan hacer reserva de sus horas de atención</a:t>
            </a:r>
            <a:r>
              <a:rPr lang="es-MX" sz="2000" i="0" dirty="0">
                <a:effectLst/>
                <a:latin typeface="Segoe UI Light" panose="020B0502040204020203" pitchFamily="34" charset="0"/>
                <a:cs typeface="Segoe UI Light" panose="020B0502040204020203" pitchFamily="34" charset="0"/>
              </a:rPr>
              <a:t>, liberando así tiempo del personal administrativo y evitando aglomeraciones en la sala de espera.</a:t>
            </a:r>
            <a:endParaRPr lang="es-MX" sz="20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4859" t="56509" r="75397" b="9909"/>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El objetivo de </a:t>
            </a:r>
            <a:r>
              <a:rPr lang="es-MX" sz="2800" b="1" i="0" dirty="0" err="1">
                <a:solidFill>
                  <a:srgbClr val="1E2BFF"/>
                </a:solidFill>
                <a:effectLst/>
                <a:latin typeface="Segoe UI Semibold" panose="020B0702040204020203" pitchFamily="34" charset="0"/>
                <a:cs typeface="Segoe UI Semibold" panose="020B0702040204020203" pitchFamily="34" charset="0"/>
              </a:rPr>
              <a:t>Pet</a:t>
            </a:r>
            <a:r>
              <a:rPr lang="es-MX" sz="2800" b="1" i="0" dirty="0">
                <a:solidFill>
                  <a:srgbClr val="1E2BFF"/>
                </a:solidFill>
                <a:effectLst/>
                <a:latin typeface="Segoe UI Semibold" panose="020B0702040204020203" pitchFamily="34" charset="0"/>
                <a:cs typeface="Segoe UI Semibold" panose="020B0702040204020203" pitchFamily="34" charset="0"/>
              </a:rPr>
              <a:t> </a:t>
            </a:r>
            <a:r>
              <a:rPr lang="es-MX" sz="2800" b="1" i="0" dirty="0" err="1">
                <a:solidFill>
                  <a:srgbClr val="1E2BFF"/>
                </a:solidFill>
                <a:effectLst/>
                <a:latin typeface="Segoe UI Semibold" panose="020B0702040204020203" pitchFamily="34" charset="0"/>
                <a:cs typeface="Segoe UI Semibold" panose="020B0702040204020203" pitchFamily="34" charset="0"/>
              </a:rPr>
              <a:t>Clinic</a:t>
            </a:r>
            <a:r>
              <a:rPr lang="es-MX" sz="2800" b="1" i="0" dirty="0">
                <a:solidFill>
                  <a:srgbClr val="1E2BFF"/>
                </a:solidFill>
                <a:effectLst/>
                <a:latin typeface="Segoe UI Semibold" panose="020B0702040204020203" pitchFamily="34" charset="0"/>
                <a:cs typeface="Segoe UI Semibold" panose="020B0702040204020203" pitchFamily="34" charset="0"/>
              </a:rPr>
              <a:t>: </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6334376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535071971"/>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2862322"/>
          </a:xfrm>
          <a:prstGeom prst="rect">
            <a:avLst/>
          </a:prstGeom>
          <a:noFill/>
        </p:spPr>
        <p:txBody>
          <a:bodyPr wrap="square">
            <a:spAutoFit/>
          </a:bodyPr>
          <a:lstStyle/>
          <a:p>
            <a:r>
              <a:rPr lang="es-MX" sz="2000" i="0" dirty="0">
                <a:effectLst/>
                <a:latin typeface="Segoe UI Light" panose="020B0502040204020203" pitchFamily="34" charset="0"/>
                <a:cs typeface="Segoe UI Light" panose="020B0502040204020203" pitchFamily="34" charset="0"/>
              </a:rPr>
              <a:t>El proyecto consiste en:</a:t>
            </a:r>
          </a:p>
          <a:p>
            <a:endParaRPr lang="es-MX" sz="2000" i="0" dirty="0">
              <a:effectLst/>
              <a:latin typeface="Segoe UI Light" panose="020B0502040204020203" pitchFamily="34" charset="0"/>
              <a:cs typeface="Segoe UI Light" panose="020B0502040204020203" pitchFamily="34" charset="0"/>
            </a:endParaRPr>
          </a:p>
          <a:p>
            <a:r>
              <a:rPr lang="es-MX" sz="2000" dirty="0">
                <a:latin typeface="Segoe UI Light" panose="020B0502040204020203" pitchFamily="34" charset="0"/>
                <a:cs typeface="Segoe UI Light" panose="020B0502040204020203" pitchFamily="34" charset="0"/>
              </a:rPr>
              <a:t>1.- </a:t>
            </a:r>
            <a:r>
              <a:rPr lang="es-MX" sz="2000" b="1" i="0" dirty="0">
                <a:solidFill>
                  <a:srgbClr val="1E2BFF"/>
                </a:solidFill>
                <a:effectLst/>
                <a:latin typeface="Segoe UI Light" panose="020B0502040204020203" pitchFamily="34" charset="0"/>
                <a:cs typeface="Segoe UI Light" panose="020B0502040204020203" pitchFamily="34" charset="0"/>
              </a:rPr>
              <a:t>Crear una app</a:t>
            </a:r>
            <a:r>
              <a:rPr lang="es-MX" sz="2000" i="0" dirty="0">
                <a:effectLst/>
                <a:latin typeface="Segoe UI Light" panose="020B0502040204020203" pitchFamily="34" charset="0"/>
                <a:cs typeface="Segoe UI Light" panose="020B0502040204020203" pitchFamily="34" charset="0"/>
              </a:rPr>
              <a:t> que los usuarios vean al ingresar a petclinic.pe</a:t>
            </a:r>
          </a:p>
          <a:p>
            <a:endParaRPr lang="es-MX" sz="2000" dirty="0">
              <a:latin typeface="Segoe UI Light" panose="020B0502040204020203" pitchFamily="34" charset="0"/>
              <a:cs typeface="Segoe UI Light" panose="020B0502040204020203" pitchFamily="34" charset="0"/>
            </a:endParaRPr>
          </a:p>
          <a:p>
            <a:r>
              <a:rPr lang="es-MX" sz="2000" i="0" dirty="0">
                <a:effectLst/>
                <a:latin typeface="Segoe UI Light" panose="020B0502040204020203" pitchFamily="34" charset="0"/>
                <a:cs typeface="Segoe UI Light" panose="020B0502040204020203" pitchFamily="34" charset="0"/>
              </a:rPr>
              <a:t>2.- </a:t>
            </a:r>
            <a:r>
              <a:rPr lang="es-MX" sz="2000" b="1" i="0" dirty="0">
                <a:solidFill>
                  <a:srgbClr val="1E2BFF"/>
                </a:solidFill>
                <a:effectLst/>
                <a:latin typeface="Segoe UI Light" panose="020B0502040204020203" pitchFamily="34" charset="0"/>
                <a:cs typeface="Segoe UI Light" panose="020B0502040204020203" pitchFamily="34" charset="0"/>
              </a:rPr>
              <a:t>Crear un formulario que permita reservar sus horas de atención en línea </a:t>
            </a:r>
            <a:r>
              <a:rPr lang="es-MX" sz="2000" i="0" dirty="0">
                <a:effectLst/>
                <a:latin typeface="Segoe UI Light" panose="020B0502040204020203" pitchFamily="34" charset="0"/>
                <a:cs typeface="Segoe UI Light" panose="020B0502040204020203" pitchFamily="34" charset="0"/>
              </a:rPr>
              <a:t>para la clínica veterinaria </a:t>
            </a:r>
            <a:r>
              <a:rPr lang="es-MX" sz="2000" i="0" dirty="0" err="1">
                <a:effectLst/>
                <a:latin typeface="Segoe UI Light" panose="020B0502040204020203" pitchFamily="34" charset="0"/>
                <a:cs typeface="Segoe UI Light" panose="020B0502040204020203" pitchFamily="34" charset="0"/>
              </a:rPr>
              <a:t>Pet</a:t>
            </a:r>
            <a:r>
              <a:rPr lang="es-MX" sz="2000" i="0" dirty="0">
                <a:effectLst/>
                <a:latin typeface="Segoe UI Light" panose="020B0502040204020203" pitchFamily="34" charset="0"/>
                <a:cs typeface="Segoe UI Light" panose="020B0502040204020203" pitchFamily="34" charset="0"/>
              </a:rPr>
              <a:t> </a:t>
            </a:r>
            <a:r>
              <a:rPr lang="es-MX" sz="2000" i="0" dirty="0" err="1">
                <a:effectLst/>
                <a:latin typeface="Segoe UI Light" panose="020B0502040204020203" pitchFamily="34" charset="0"/>
                <a:cs typeface="Segoe UI Light" panose="020B0502040204020203" pitchFamily="34" charset="0"/>
              </a:rPr>
              <a:t>Clinic</a:t>
            </a:r>
            <a:r>
              <a:rPr lang="es-MX" sz="2000" i="0" dirty="0">
                <a:effectLst/>
                <a:latin typeface="Segoe UI Light" panose="020B0502040204020203" pitchFamily="34" charset="0"/>
                <a:cs typeface="Segoe UI Light" panose="020B0502040204020203" pitchFamily="34" charset="0"/>
              </a:rPr>
              <a:t> y que registre las reservas en el sistema interno de la clínica.</a:t>
            </a:r>
            <a:endParaRPr lang="es-MX" sz="20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27927" t="56293" r="52329" b="10125"/>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Requerimiento</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5601929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11449906"/>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1015663"/>
          </a:xfrm>
          <a:prstGeom prst="rect">
            <a:avLst/>
          </a:prstGeom>
          <a:noFill/>
        </p:spPr>
        <p:txBody>
          <a:bodyPr wrap="square">
            <a:spAutoFit/>
          </a:bodyPr>
          <a:lstStyle/>
          <a:p>
            <a:r>
              <a:rPr lang="es-MX" sz="2000" i="0" dirty="0">
                <a:effectLst/>
                <a:latin typeface="Segoe UI Light" panose="020B0502040204020203" pitchFamily="34" charset="0"/>
                <a:cs typeface="Segoe UI Light" panose="020B0502040204020203" pitchFamily="34" charset="0"/>
              </a:rPr>
              <a:t>Es un grupo heterogéneo de adultos, con el factor unificador de que aman a sus mascotas y desean dar el mejor cuidado posible a su salud.</a:t>
            </a: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51919" t="53700" r="28337" b="12718"/>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Público Objetivo</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287032797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289790698"/>
              </p:ext>
            </p:extLst>
          </p:nvPr>
        </p:nvGraphicFramePr>
        <p:xfrm>
          <a:off x="340658" y="950259"/>
          <a:ext cx="4867836" cy="48992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0" name="CuadroTexto 9">
            <a:extLst>
              <a:ext uri="{FF2B5EF4-FFF2-40B4-BE49-F238E27FC236}">
                <a16:creationId xmlns:a16="http://schemas.microsoft.com/office/drawing/2014/main" id="{11EC26FA-FDA3-4B3A-B3F7-A519A7E82EC5}"/>
              </a:ext>
            </a:extLst>
          </p:cNvPr>
          <p:cNvSpPr txBox="1"/>
          <p:nvPr/>
        </p:nvSpPr>
        <p:spPr>
          <a:xfrm>
            <a:off x="5755342" y="2231340"/>
            <a:ext cx="6096000" cy="1323439"/>
          </a:xfrm>
          <a:prstGeom prst="rect">
            <a:avLst/>
          </a:prstGeom>
          <a:noFill/>
        </p:spPr>
        <p:txBody>
          <a:bodyPr wrap="square">
            <a:spAutoFit/>
          </a:bodyPr>
          <a:lstStyle/>
          <a:p>
            <a:r>
              <a:rPr lang="es-MX" sz="2000" i="0" dirty="0" err="1">
                <a:effectLst/>
                <a:latin typeface="Segoe UI Light" panose="020B0502040204020203" pitchFamily="34" charset="0"/>
                <a:cs typeface="Segoe UI Light" panose="020B0502040204020203" pitchFamily="34" charset="0"/>
              </a:rPr>
              <a:t>Pet</a:t>
            </a:r>
            <a:r>
              <a:rPr lang="es-MX" sz="2000" i="0" dirty="0">
                <a:effectLst/>
                <a:latin typeface="Segoe UI Light" panose="020B0502040204020203" pitchFamily="34" charset="0"/>
                <a:cs typeface="Segoe UI Light" panose="020B0502040204020203" pitchFamily="34" charset="0"/>
              </a:rPr>
              <a:t> – </a:t>
            </a:r>
            <a:r>
              <a:rPr lang="es-MX" sz="2000" i="0" dirty="0" err="1">
                <a:effectLst/>
                <a:latin typeface="Segoe UI Light" panose="020B0502040204020203" pitchFamily="34" charset="0"/>
                <a:cs typeface="Segoe UI Light" panose="020B0502040204020203" pitchFamily="34" charset="0"/>
              </a:rPr>
              <a:t>Clinic</a:t>
            </a:r>
            <a:r>
              <a:rPr lang="es-MX" sz="2000" i="0" dirty="0">
                <a:effectLst/>
                <a:latin typeface="Segoe UI Light" panose="020B0502040204020203" pitchFamily="34" charset="0"/>
                <a:cs typeface="Segoe UI Light" panose="020B0502040204020203" pitchFamily="34" charset="0"/>
              </a:rPr>
              <a:t> no tiene definidos un manual de marca, por lo tanto, </a:t>
            </a:r>
            <a:r>
              <a:rPr lang="es-MX" sz="2000" b="1" i="0" dirty="0">
                <a:solidFill>
                  <a:srgbClr val="1E2BFF"/>
                </a:solidFill>
                <a:effectLst/>
                <a:latin typeface="Segoe UI Light" panose="020B0502040204020203" pitchFamily="34" charset="0"/>
                <a:cs typeface="Segoe UI Light" panose="020B0502040204020203" pitchFamily="34" charset="0"/>
              </a:rPr>
              <a:t>crearemos las piezas gráficas para proponerlas al cliente </a:t>
            </a:r>
            <a:r>
              <a:rPr lang="es-MX" sz="2000" i="0" dirty="0">
                <a:effectLst/>
                <a:latin typeface="Segoe UI Light" panose="020B0502040204020203" pitchFamily="34" charset="0"/>
                <a:cs typeface="Segoe UI Light" panose="020B0502040204020203" pitchFamily="34" charset="0"/>
              </a:rPr>
              <a:t>y ellos nos ayudarán a validar las opciones desarrolladas</a:t>
            </a:r>
            <a:endParaRPr lang="es-MX" sz="2000" dirty="0">
              <a:latin typeface="Segoe UI Light" panose="020B0502040204020203" pitchFamily="34" charset="0"/>
              <a:cs typeface="Segoe UI Light" panose="020B0502040204020203" pitchFamily="34" charset="0"/>
            </a:endParaRPr>
          </a:p>
        </p:txBody>
      </p:sp>
      <p:pic>
        <p:nvPicPr>
          <p:cNvPr id="12" name="Imagen 11">
            <a:extLst>
              <a:ext uri="{FF2B5EF4-FFF2-40B4-BE49-F238E27FC236}">
                <a16:creationId xmlns:a16="http://schemas.microsoft.com/office/drawing/2014/main" id="{28B3BAF6-948A-468E-B1AA-B1461FD3EE4F}"/>
              </a:ext>
            </a:extLst>
          </p:cNvPr>
          <p:cNvPicPr>
            <a:picLocks noChangeAspect="1"/>
          </p:cNvPicPr>
          <p:nvPr/>
        </p:nvPicPr>
        <p:blipFill rotWithShape="1">
          <a:blip r:embed="rId7"/>
          <a:srcRect l="75532" t="56293" r="4724" b="10125"/>
          <a:stretch/>
        </p:blipFill>
        <p:spPr>
          <a:xfrm>
            <a:off x="10443883" y="504201"/>
            <a:ext cx="1748118" cy="1623048"/>
          </a:xfrm>
          <a:prstGeom prst="rect">
            <a:avLst/>
          </a:prstGeom>
        </p:spPr>
      </p:pic>
      <p:sp>
        <p:nvSpPr>
          <p:cNvPr id="13" name="CuadroTexto 12">
            <a:extLst>
              <a:ext uri="{FF2B5EF4-FFF2-40B4-BE49-F238E27FC236}">
                <a16:creationId xmlns:a16="http://schemas.microsoft.com/office/drawing/2014/main" id="{C02E4C43-B2CA-4A23-B2CE-7FDC94017410}"/>
              </a:ext>
            </a:extLst>
          </p:cNvPr>
          <p:cNvSpPr txBox="1"/>
          <p:nvPr/>
        </p:nvSpPr>
        <p:spPr>
          <a:xfrm>
            <a:off x="5922741" y="1315725"/>
            <a:ext cx="4521141" cy="523220"/>
          </a:xfrm>
          <a:prstGeom prst="rect">
            <a:avLst/>
          </a:prstGeom>
          <a:noFill/>
        </p:spPr>
        <p:txBody>
          <a:bodyPr wrap="square">
            <a:spAutoFit/>
          </a:bodyPr>
          <a:lstStyle/>
          <a:p>
            <a:r>
              <a:rPr lang="es-MX" sz="2800" b="1" i="0" dirty="0">
                <a:solidFill>
                  <a:srgbClr val="1E2BFF"/>
                </a:solidFill>
                <a:effectLst/>
                <a:latin typeface="Segoe UI Semibold" panose="020B0702040204020203" pitchFamily="34" charset="0"/>
                <a:cs typeface="Segoe UI Semibold" panose="020B0702040204020203" pitchFamily="34" charset="0"/>
              </a:rPr>
              <a:t>Recursos y Referencias</a:t>
            </a:r>
            <a:endParaRPr lang="es-MX" sz="2800" b="0" i="0" dirty="0">
              <a:effectLst/>
              <a:latin typeface="Segoe UI Light" panose="020B0502040204020203" pitchFamily="34" charset="0"/>
              <a:cs typeface="Segoe UI Light" panose="020B0502040204020203" pitchFamily="34" charset="0"/>
            </a:endParaRPr>
          </a:p>
        </p:txBody>
      </p:sp>
    </p:spTree>
    <p:extLst>
      <p:ext uri="{BB962C8B-B14F-4D97-AF65-F5344CB8AC3E}">
        <p14:creationId xmlns:p14="http://schemas.microsoft.com/office/powerpoint/2010/main" val="32157130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791523995"/>
              </p:ext>
            </p:extLst>
          </p:nvPr>
        </p:nvGraphicFramePr>
        <p:xfrm>
          <a:off x="340657" y="950259"/>
          <a:ext cx="4884485" cy="531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18F779CB-B84C-4C2C-8FD8-C3823AAA5170}"/>
              </a:ext>
            </a:extLst>
          </p:cNvPr>
          <p:cNvPicPr>
            <a:picLocks noChangeAspect="1"/>
          </p:cNvPicPr>
          <p:nvPr/>
        </p:nvPicPr>
        <p:blipFill>
          <a:blip r:embed="rId7"/>
          <a:stretch>
            <a:fillRect/>
          </a:stretch>
        </p:blipFill>
        <p:spPr>
          <a:xfrm>
            <a:off x="5750188" y="461071"/>
            <a:ext cx="5783017" cy="5893076"/>
          </a:xfrm>
          <a:prstGeom prst="rect">
            <a:avLst/>
          </a:prstGeom>
        </p:spPr>
      </p:pic>
    </p:spTree>
    <p:extLst>
      <p:ext uri="{BB962C8B-B14F-4D97-AF65-F5344CB8AC3E}">
        <p14:creationId xmlns:p14="http://schemas.microsoft.com/office/powerpoint/2010/main" val="41271172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727248700"/>
              </p:ext>
            </p:extLst>
          </p:nvPr>
        </p:nvGraphicFramePr>
        <p:xfrm>
          <a:off x="340657" y="950259"/>
          <a:ext cx="4884485" cy="53199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0" name="Imagen 9">
            <a:extLst>
              <a:ext uri="{FF2B5EF4-FFF2-40B4-BE49-F238E27FC236}">
                <a16:creationId xmlns:a16="http://schemas.microsoft.com/office/drawing/2014/main" id="{032FA794-D77D-4629-87A3-DA85CCA0D3EB}"/>
              </a:ext>
            </a:extLst>
          </p:cNvPr>
          <p:cNvPicPr>
            <a:picLocks noChangeAspect="1"/>
          </p:cNvPicPr>
          <p:nvPr/>
        </p:nvPicPr>
        <p:blipFill>
          <a:blip r:embed="rId7"/>
          <a:stretch>
            <a:fillRect/>
          </a:stretch>
        </p:blipFill>
        <p:spPr>
          <a:xfrm>
            <a:off x="5538080" y="1506071"/>
            <a:ext cx="6313263" cy="3683351"/>
          </a:xfrm>
          <a:prstGeom prst="rect">
            <a:avLst/>
          </a:prstGeom>
        </p:spPr>
      </p:pic>
    </p:spTree>
    <p:extLst>
      <p:ext uri="{BB962C8B-B14F-4D97-AF65-F5344CB8AC3E}">
        <p14:creationId xmlns:p14="http://schemas.microsoft.com/office/powerpoint/2010/main" val="8945427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993402693"/>
              </p:ext>
            </p:extLst>
          </p:nvPr>
        </p:nvGraphicFramePr>
        <p:xfrm>
          <a:off x="3756210" y="2590800"/>
          <a:ext cx="4069978" cy="382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3" name="Imagen 12">
            <a:extLst>
              <a:ext uri="{FF2B5EF4-FFF2-40B4-BE49-F238E27FC236}">
                <a16:creationId xmlns:a16="http://schemas.microsoft.com/office/drawing/2014/main" id="{7032DF4C-558A-49AD-8D02-CA3D1CEA6AFB}"/>
              </a:ext>
            </a:extLst>
          </p:cNvPr>
          <p:cNvPicPr>
            <a:picLocks noChangeAspect="1"/>
          </p:cNvPicPr>
          <p:nvPr/>
        </p:nvPicPr>
        <p:blipFill rotWithShape="1">
          <a:blip r:embed="rId7">
            <a:extLst>
              <a:ext uri="{28A0092B-C50C-407E-A947-70E740481C1C}">
                <a14:useLocalDpi xmlns:a14="http://schemas.microsoft.com/office/drawing/2010/main" val="0"/>
              </a:ext>
            </a:extLst>
          </a:blip>
          <a:srcRect l="7206" t="36340" r="8750" b="37516"/>
          <a:stretch/>
        </p:blipFill>
        <p:spPr>
          <a:xfrm>
            <a:off x="237787" y="587830"/>
            <a:ext cx="11446975" cy="2002970"/>
          </a:xfrm>
          <a:prstGeom prst="rect">
            <a:avLst/>
          </a:prstGeom>
        </p:spPr>
      </p:pic>
    </p:spTree>
    <p:extLst>
      <p:ext uri="{BB962C8B-B14F-4D97-AF65-F5344CB8AC3E}">
        <p14:creationId xmlns:p14="http://schemas.microsoft.com/office/powerpoint/2010/main" val="72500451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098352815"/>
              </p:ext>
            </p:extLst>
          </p:nvPr>
        </p:nvGraphicFramePr>
        <p:xfrm>
          <a:off x="322727" y="1013010"/>
          <a:ext cx="3971367" cy="528021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n 7">
            <a:extLst>
              <a:ext uri="{FF2B5EF4-FFF2-40B4-BE49-F238E27FC236}">
                <a16:creationId xmlns:a16="http://schemas.microsoft.com/office/drawing/2014/main" id="{81BF8A5D-963D-40C7-8F81-C785E269AF0B}"/>
              </a:ext>
            </a:extLst>
          </p:cNvPr>
          <p:cNvPicPr>
            <a:picLocks noChangeAspect="1"/>
          </p:cNvPicPr>
          <p:nvPr/>
        </p:nvPicPr>
        <p:blipFill>
          <a:blip r:embed="rId7"/>
          <a:stretch>
            <a:fillRect/>
          </a:stretch>
        </p:blipFill>
        <p:spPr>
          <a:xfrm>
            <a:off x="5060432" y="701122"/>
            <a:ext cx="6087325" cy="5258534"/>
          </a:xfrm>
          <a:prstGeom prst="rect">
            <a:avLst/>
          </a:prstGeom>
        </p:spPr>
      </p:pic>
    </p:spTree>
    <p:extLst>
      <p:ext uri="{BB962C8B-B14F-4D97-AF65-F5344CB8AC3E}">
        <p14:creationId xmlns:p14="http://schemas.microsoft.com/office/powerpoint/2010/main" val="2640011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483343334"/>
              </p:ext>
            </p:extLst>
          </p:nvPr>
        </p:nvGraphicFramePr>
        <p:xfrm>
          <a:off x="322727" y="564776"/>
          <a:ext cx="3989297" cy="5728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n 7">
            <a:extLst>
              <a:ext uri="{FF2B5EF4-FFF2-40B4-BE49-F238E27FC236}">
                <a16:creationId xmlns:a16="http://schemas.microsoft.com/office/drawing/2014/main" id="{81BF8A5D-963D-40C7-8F81-C785E269AF0B}"/>
              </a:ext>
            </a:extLst>
          </p:cNvPr>
          <p:cNvPicPr>
            <a:picLocks noChangeAspect="1"/>
          </p:cNvPicPr>
          <p:nvPr/>
        </p:nvPicPr>
        <p:blipFill>
          <a:blip r:embed="rId7"/>
          <a:stretch>
            <a:fillRect/>
          </a:stretch>
        </p:blipFill>
        <p:spPr>
          <a:xfrm>
            <a:off x="5786573" y="2223543"/>
            <a:ext cx="4711097" cy="4069680"/>
          </a:xfrm>
          <a:prstGeom prst="rect">
            <a:avLst/>
          </a:prstGeom>
        </p:spPr>
      </p:pic>
      <p:pic>
        <p:nvPicPr>
          <p:cNvPr id="10" name="Imagen 9">
            <a:extLst>
              <a:ext uri="{FF2B5EF4-FFF2-40B4-BE49-F238E27FC236}">
                <a16:creationId xmlns:a16="http://schemas.microsoft.com/office/drawing/2014/main" id="{244FBAA9-EB90-470F-A8FF-E7CEC0968681}"/>
              </a:ext>
            </a:extLst>
          </p:cNvPr>
          <p:cNvPicPr>
            <a:picLocks noChangeAspect="1"/>
          </p:cNvPicPr>
          <p:nvPr/>
        </p:nvPicPr>
        <p:blipFill rotWithShape="1">
          <a:blip r:embed="rId8">
            <a:extLst>
              <a:ext uri="{28A0092B-C50C-407E-A947-70E740481C1C}">
                <a14:useLocalDpi xmlns:a14="http://schemas.microsoft.com/office/drawing/2010/main" val="0"/>
              </a:ext>
            </a:extLst>
          </a:blip>
          <a:srcRect l="7206" t="36340" r="8750" b="37516"/>
          <a:stretch/>
        </p:blipFill>
        <p:spPr>
          <a:xfrm>
            <a:off x="4626662" y="742567"/>
            <a:ext cx="6506631" cy="1138518"/>
          </a:xfrm>
          <a:prstGeom prst="rect">
            <a:avLst/>
          </a:prstGeom>
        </p:spPr>
      </p:pic>
    </p:spTree>
    <p:extLst>
      <p:ext uri="{BB962C8B-B14F-4D97-AF65-F5344CB8AC3E}">
        <p14:creationId xmlns:p14="http://schemas.microsoft.com/office/powerpoint/2010/main" val="15009967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pic>
        <p:nvPicPr>
          <p:cNvPr id="6" name="Imagen 5">
            <a:extLst>
              <a:ext uri="{FF2B5EF4-FFF2-40B4-BE49-F238E27FC236}">
                <a16:creationId xmlns:a16="http://schemas.microsoft.com/office/drawing/2014/main" id="{608C9779-BFEA-4CE2-B1E7-8966BA9BC8D7}"/>
              </a:ext>
            </a:extLst>
          </p:cNvPr>
          <p:cNvPicPr>
            <a:picLocks noChangeAspect="1"/>
          </p:cNvPicPr>
          <p:nvPr/>
        </p:nvPicPr>
        <p:blipFill rotWithShape="1">
          <a:blip r:embed="rId2"/>
          <a:srcRect l="6748" t="12965" r="6521" b="15770"/>
          <a:stretch/>
        </p:blipFill>
        <p:spPr>
          <a:xfrm>
            <a:off x="2447366" y="897067"/>
            <a:ext cx="6589059" cy="5414086"/>
          </a:xfrm>
          <a:prstGeom prst="rect">
            <a:avLst/>
          </a:prstGeom>
        </p:spPr>
      </p:pic>
    </p:spTree>
    <p:extLst>
      <p:ext uri="{BB962C8B-B14F-4D97-AF65-F5344CB8AC3E}">
        <p14:creationId xmlns:p14="http://schemas.microsoft.com/office/powerpoint/2010/main" val="27154711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071518086"/>
              </p:ext>
            </p:extLst>
          </p:nvPr>
        </p:nvGraphicFramePr>
        <p:xfrm>
          <a:off x="322727" y="564776"/>
          <a:ext cx="3989297" cy="572844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2FEC1C18-25AF-4165-B4B3-83375C3E90AC}"/>
              </a:ext>
            </a:extLst>
          </p:cNvPr>
          <p:cNvPicPr>
            <a:picLocks noChangeAspect="1"/>
          </p:cNvPicPr>
          <p:nvPr/>
        </p:nvPicPr>
        <p:blipFill>
          <a:blip r:embed="rId7"/>
          <a:stretch>
            <a:fillRect/>
          </a:stretch>
        </p:blipFill>
        <p:spPr>
          <a:xfrm>
            <a:off x="5596216" y="735107"/>
            <a:ext cx="5477434" cy="5477434"/>
          </a:xfrm>
          <a:prstGeom prst="rect">
            <a:avLst/>
          </a:prstGeom>
        </p:spPr>
      </p:pic>
    </p:spTree>
    <p:extLst>
      <p:ext uri="{BB962C8B-B14F-4D97-AF65-F5344CB8AC3E}">
        <p14:creationId xmlns:p14="http://schemas.microsoft.com/office/powerpoint/2010/main" val="12775726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034321237"/>
              </p:ext>
            </p:extLst>
          </p:nvPr>
        </p:nvGraphicFramePr>
        <p:xfrm>
          <a:off x="322728" y="1264024"/>
          <a:ext cx="3881720" cy="502919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CA88C0D1-DDAB-450A-AFE9-DFE9E7A1FAD7}"/>
              </a:ext>
            </a:extLst>
          </p:cNvPr>
          <p:cNvPicPr>
            <a:picLocks noChangeAspect="1"/>
          </p:cNvPicPr>
          <p:nvPr/>
        </p:nvPicPr>
        <p:blipFill>
          <a:blip r:embed="rId7"/>
          <a:stretch>
            <a:fillRect/>
          </a:stretch>
        </p:blipFill>
        <p:spPr>
          <a:xfrm>
            <a:off x="4577796" y="465052"/>
            <a:ext cx="3194605" cy="2963947"/>
          </a:xfrm>
          <a:prstGeom prst="rect">
            <a:avLst/>
          </a:prstGeom>
        </p:spPr>
      </p:pic>
      <p:pic>
        <p:nvPicPr>
          <p:cNvPr id="10" name="Imagen 9">
            <a:extLst>
              <a:ext uri="{FF2B5EF4-FFF2-40B4-BE49-F238E27FC236}">
                <a16:creationId xmlns:a16="http://schemas.microsoft.com/office/drawing/2014/main" id="{93513BCC-4B0E-4B3E-A16E-91320DC5BAF8}"/>
              </a:ext>
            </a:extLst>
          </p:cNvPr>
          <p:cNvPicPr>
            <a:picLocks noChangeAspect="1"/>
          </p:cNvPicPr>
          <p:nvPr/>
        </p:nvPicPr>
        <p:blipFill>
          <a:blip r:embed="rId8"/>
          <a:stretch>
            <a:fillRect/>
          </a:stretch>
        </p:blipFill>
        <p:spPr>
          <a:xfrm>
            <a:off x="8038173" y="461070"/>
            <a:ext cx="3115164" cy="2607601"/>
          </a:xfrm>
          <a:prstGeom prst="rect">
            <a:avLst/>
          </a:prstGeom>
        </p:spPr>
      </p:pic>
      <p:pic>
        <p:nvPicPr>
          <p:cNvPr id="13" name="Imagen 12">
            <a:extLst>
              <a:ext uri="{FF2B5EF4-FFF2-40B4-BE49-F238E27FC236}">
                <a16:creationId xmlns:a16="http://schemas.microsoft.com/office/drawing/2014/main" id="{49A41D37-412E-44CC-81EF-42F2E41AE933}"/>
              </a:ext>
            </a:extLst>
          </p:cNvPr>
          <p:cNvPicPr>
            <a:picLocks noChangeAspect="1"/>
          </p:cNvPicPr>
          <p:nvPr/>
        </p:nvPicPr>
        <p:blipFill rotWithShape="1">
          <a:blip r:embed="rId9">
            <a:extLst>
              <a:ext uri="{BEBA8EAE-BF5A-486C-A8C5-ECC9F3942E4B}">
                <a14:imgProps xmlns:a14="http://schemas.microsoft.com/office/drawing/2010/main">
                  <a14:imgLayer r:embed="rId10">
                    <a14:imgEffect>
                      <a14:brightnessContrast bright="12000" contrast="-33000"/>
                    </a14:imgEffect>
                  </a14:imgLayer>
                </a14:imgProps>
              </a:ext>
            </a:extLst>
          </a:blip>
          <a:srcRect r="10174"/>
          <a:stretch/>
        </p:blipFill>
        <p:spPr>
          <a:xfrm>
            <a:off x="4470642" y="3428999"/>
            <a:ext cx="3408911" cy="2236695"/>
          </a:xfrm>
          <a:prstGeom prst="rect">
            <a:avLst/>
          </a:prstGeom>
        </p:spPr>
      </p:pic>
      <p:pic>
        <p:nvPicPr>
          <p:cNvPr id="15" name="Imagen 14">
            <a:extLst>
              <a:ext uri="{FF2B5EF4-FFF2-40B4-BE49-F238E27FC236}">
                <a16:creationId xmlns:a16="http://schemas.microsoft.com/office/drawing/2014/main" id="{1955C599-5F25-4B7D-9F9F-6CF43204B391}"/>
              </a:ext>
            </a:extLst>
          </p:cNvPr>
          <p:cNvPicPr>
            <a:picLocks noChangeAspect="1"/>
          </p:cNvPicPr>
          <p:nvPr/>
        </p:nvPicPr>
        <p:blipFill>
          <a:blip r:embed="rId11">
            <a:extLst>
              <a:ext uri="{BEBA8EAE-BF5A-486C-A8C5-ECC9F3942E4B}">
                <a14:imgProps xmlns:a14="http://schemas.microsoft.com/office/drawing/2010/main">
                  <a14:imgLayer r:embed="rId12">
                    <a14:imgEffect>
                      <a14:brightnessContrast bright="16000" contrast="-12000"/>
                    </a14:imgEffect>
                  </a14:imgLayer>
                </a14:imgProps>
              </a:ext>
            </a:extLst>
          </a:blip>
          <a:stretch>
            <a:fillRect/>
          </a:stretch>
        </p:blipFill>
        <p:spPr>
          <a:xfrm>
            <a:off x="8337175" y="3587844"/>
            <a:ext cx="3245225" cy="1919003"/>
          </a:xfrm>
          <a:prstGeom prst="rect">
            <a:avLst/>
          </a:prstGeom>
        </p:spPr>
      </p:pic>
    </p:spTree>
    <p:extLst>
      <p:ext uri="{BB962C8B-B14F-4D97-AF65-F5344CB8AC3E}">
        <p14:creationId xmlns:p14="http://schemas.microsoft.com/office/powerpoint/2010/main" val="146830292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018825436"/>
              </p:ext>
            </p:extLst>
          </p:nvPr>
        </p:nvGraphicFramePr>
        <p:xfrm>
          <a:off x="322728" y="493060"/>
          <a:ext cx="4601247" cy="58001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46007CC2-3D98-401B-9F7E-784DBFD15F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36719" y="493060"/>
            <a:ext cx="6632553" cy="5137072"/>
          </a:xfrm>
          <a:prstGeom prst="rect">
            <a:avLst/>
          </a:prstGeom>
        </p:spPr>
      </p:pic>
    </p:spTree>
    <p:extLst>
      <p:ext uri="{BB962C8B-B14F-4D97-AF65-F5344CB8AC3E}">
        <p14:creationId xmlns:p14="http://schemas.microsoft.com/office/powerpoint/2010/main" val="358487977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127456703"/>
              </p:ext>
            </p:extLst>
          </p:nvPr>
        </p:nvGraphicFramePr>
        <p:xfrm>
          <a:off x="322728" y="493060"/>
          <a:ext cx="4601247" cy="58001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46007CC2-3D98-401B-9F7E-784DBFD15F82}"/>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36719" y="493060"/>
            <a:ext cx="6632553" cy="5137072"/>
          </a:xfrm>
          <a:prstGeom prst="rect">
            <a:avLst/>
          </a:prstGeom>
        </p:spPr>
      </p:pic>
    </p:spTree>
    <p:extLst>
      <p:ext uri="{BB962C8B-B14F-4D97-AF65-F5344CB8AC3E}">
        <p14:creationId xmlns:p14="http://schemas.microsoft.com/office/powerpoint/2010/main" val="310688382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890696819"/>
              </p:ext>
            </p:extLst>
          </p:nvPr>
        </p:nvGraphicFramePr>
        <p:xfrm>
          <a:off x="301557" y="894945"/>
          <a:ext cx="4017235" cy="5361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03A00E16-2AAD-486F-8DAC-9156D29B6C8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36930" y="1212659"/>
            <a:ext cx="4493279" cy="2526236"/>
          </a:xfrm>
          <a:prstGeom prst="rect">
            <a:avLst/>
          </a:prstGeom>
        </p:spPr>
      </p:pic>
      <p:pic>
        <p:nvPicPr>
          <p:cNvPr id="10" name="Imagen 9">
            <a:extLst>
              <a:ext uri="{FF2B5EF4-FFF2-40B4-BE49-F238E27FC236}">
                <a16:creationId xmlns:a16="http://schemas.microsoft.com/office/drawing/2014/main" id="{61FCE561-DADB-4BD6-906A-AFB3582E8D4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9448346" y="1078244"/>
            <a:ext cx="2442096" cy="5287952"/>
          </a:xfrm>
          <a:prstGeom prst="rect">
            <a:avLst/>
          </a:prstGeom>
        </p:spPr>
      </p:pic>
      <p:sp>
        <p:nvSpPr>
          <p:cNvPr id="12" name="CuadroTexto 11">
            <a:extLst>
              <a:ext uri="{FF2B5EF4-FFF2-40B4-BE49-F238E27FC236}">
                <a16:creationId xmlns:a16="http://schemas.microsoft.com/office/drawing/2014/main" id="{5C61FFB1-3923-4CEC-97F7-B77424BAFA85}"/>
              </a:ext>
            </a:extLst>
          </p:cNvPr>
          <p:cNvSpPr txBox="1"/>
          <p:nvPr/>
        </p:nvSpPr>
        <p:spPr>
          <a:xfrm>
            <a:off x="4636930" y="595568"/>
            <a:ext cx="1748480" cy="400110"/>
          </a:xfrm>
          <a:prstGeom prst="rect">
            <a:avLst/>
          </a:prstGeom>
          <a:noFill/>
          <a:ln>
            <a:noFill/>
          </a:ln>
        </p:spPr>
        <p:txBody>
          <a:bodyPr wrap="square" rtlCol="0">
            <a:spAutoFit/>
          </a:bodyPr>
          <a:lstStyle/>
          <a:p>
            <a:r>
              <a:rPr lang="es-MX" sz="2000" b="1" dirty="0">
                <a:latin typeface="Segoe UI Semibold" panose="020B0702040204020203" pitchFamily="34" charset="0"/>
                <a:cs typeface="Segoe UI Semibold" panose="020B0702040204020203" pitchFamily="34" charset="0"/>
              </a:rPr>
              <a:t>Escritorio</a:t>
            </a:r>
          </a:p>
        </p:txBody>
      </p:sp>
      <p:sp>
        <p:nvSpPr>
          <p:cNvPr id="13" name="CuadroTexto 12">
            <a:extLst>
              <a:ext uri="{FF2B5EF4-FFF2-40B4-BE49-F238E27FC236}">
                <a16:creationId xmlns:a16="http://schemas.microsoft.com/office/drawing/2014/main" id="{C3BDC4EE-F958-4B07-95FF-62670C3A17F3}"/>
              </a:ext>
            </a:extLst>
          </p:cNvPr>
          <p:cNvSpPr txBox="1"/>
          <p:nvPr/>
        </p:nvSpPr>
        <p:spPr>
          <a:xfrm>
            <a:off x="9423278" y="600702"/>
            <a:ext cx="1748480" cy="400110"/>
          </a:xfrm>
          <a:prstGeom prst="rect">
            <a:avLst/>
          </a:prstGeom>
          <a:noFill/>
          <a:ln>
            <a:noFill/>
          </a:ln>
        </p:spPr>
        <p:txBody>
          <a:bodyPr wrap="square" rtlCol="0">
            <a:spAutoFit/>
          </a:bodyPr>
          <a:lstStyle/>
          <a:p>
            <a:r>
              <a:rPr lang="es-MX" sz="2000" b="1" dirty="0">
                <a:latin typeface="Segoe UI Semibold" panose="020B0702040204020203" pitchFamily="34" charset="0"/>
                <a:cs typeface="Segoe UI Semibold" panose="020B0702040204020203" pitchFamily="34" charset="0"/>
              </a:rPr>
              <a:t>Móvil</a:t>
            </a:r>
          </a:p>
        </p:txBody>
      </p:sp>
      <p:pic>
        <p:nvPicPr>
          <p:cNvPr id="15" name="Imagen 14">
            <a:extLst>
              <a:ext uri="{FF2B5EF4-FFF2-40B4-BE49-F238E27FC236}">
                <a16:creationId xmlns:a16="http://schemas.microsoft.com/office/drawing/2014/main" id="{C38EA4BE-D929-4D0E-8E72-A0B2493FDEE3}"/>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636930" y="3839960"/>
            <a:ext cx="4493279" cy="2526236"/>
          </a:xfrm>
          <a:prstGeom prst="rect">
            <a:avLst/>
          </a:prstGeom>
        </p:spPr>
      </p:pic>
    </p:spTree>
    <p:extLst>
      <p:ext uri="{BB962C8B-B14F-4D97-AF65-F5344CB8AC3E}">
        <p14:creationId xmlns:p14="http://schemas.microsoft.com/office/powerpoint/2010/main" val="77628524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233744440"/>
              </p:ext>
            </p:extLst>
          </p:nvPr>
        </p:nvGraphicFramePr>
        <p:xfrm>
          <a:off x="301557" y="894945"/>
          <a:ext cx="4017235" cy="5361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C5FD279C-FA8F-4A64-BB47-32CD16C7D6D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683502" y="3621155"/>
            <a:ext cx="4601248" cy="2586939"/>
          </a:xfrm>
          <a:prstGeom prst="rect">
            <a:avLst/>
          </a:prstGeom>
        </p:spPr>
      </p:pic>
      <p:pic>
        <p:nvPicPr>
          <p:cNvPr id="14" name="Imagen 13">
            <a:extLst>
              <a:ext uri="{FF2B5EF4-FFF2-40B4-BE49-F238E27FC236}">
                <a16:creationId xmlns:a16="http://schemas.microsoft.com/office/drawing/2014/main" id="{1D8D177C-BAE3-4A23-AF44-4DEE851FE6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4683502" y="546751"/>
            <a:ext cx="4601248" cy="2586939"/>
          </a:xfrm>
          <a:prstGeom prst="rect">
            <a:avLst/>
          </a:prstGeom>
        </p:spPr>
      </p:pic>
    </p:spTree>
    <p:extLst>
      <p:ext uri="{BB962C8B-B14F-4D97-AF65-F5344CB8AC3E}">
        <p14:creationId xmlns:p14="http://schemas.microsoft.com/office/powerpoint/2010/main" val="384742669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4126509287"/>
              </p:ext>
            </p:extLst>
          </p:nvPr>
        </p:nvGraphicFramePr>
        <p:xfrm>
          <a:off x="301557" y="894945"/>
          <a:ext cx="4017235" cy="536135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9688047F-082E-433F-945B-2D78E77831D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98715" y="670749"/>
            <a:ext cx="6696714" cy="3765063"/>
          </a:xfrm>
          <a:prstGeom prst="rect">
            <a:avLst/>
          </a:prstGeom>
        </p:spPr>
      </p:pic>
      <p:pic>
        <p:nvPicPr>
          <p:cNvPr id="12" name="Imagen 11">
            <a:extLst>
              <a:ext uri="{FF2B5EF4-FFF2-40B4-BE49-F238E27FC236}">
                <a16:creationId xmlns:a16="http://schemas.microsoft.com/office/drawing/2014/main" id="{090560C7-FFD4-4904-A01F-C5971DAAC30E}"/>
              </a:ext>
            </a:extLst>
          </p:cNvPr>
          <p:cNvPicPr>
            <a:picLocks noChangeAspect="1"/>
          </p:cNvPicPr>
          <p:nvPr/>
        </p:nvPicPr>
        <p:blipFill rotWithShape="1">
          <a:blip r:embed="rId7">
            <a:extLst>
              <a:ext uri="{28A0092B-C50C-407E-A947-70E740481C1C}">
                <a14:useLocalDpi xmlns:a14="http://schemas.microsoft.com/office/drawing/2010/main" val="0"/>
              </a:ext>
            </a:extLst>
          </a:blip>
          <a:srcRect l="32883" t="79419" r="30725"/>
          <a:stretch/>
        </p:blipFill>
        <p:spPr>
          <a:xfrm>
            <a:off x="6238259" y="4706451"/>
            <a:ext cx="3713137" cy="1180614"/>
          </a:xfrm>
          <a:prstGeom prst="rect">
            <a:avLst/>
          </a:prstGeom>
        </p:spPr>
      </p:pic>
    </p:spTree>
    <p:extLst>
      <p:ext uri="{BB962C8B-B14F-4D97-AF65-F5344CB8AC3E}">
        <p14:creationId xmlns:p14="http://schemas.microsoft.com/office/powerpoint/2010/main" val="35255151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055308608"/>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6BC3DF92-9B90-4F80-B84A-60758E81978E}"/>
              </a:ext>
            </a:extLst>
          </p:cNvPr>
          <p:cNvPicPr>
            <a:picLocks noChangeAspect="1"/>
          </p:cNvPicPr>
          <p:nvPr/>
        </p:nvPicPr>
        <p:blipFill>
          <a:blip r:embed="rId7"/>
          <a:stretch>
            <a:fillRect/>
          </a:stretch>
        </p:blipFill>
        <p:spPr>
          <a:xfrm>
            <a:off x="4845549" y="588136"/>
            <a:ext cx="6230219" cy="5668166"/>
          </a:xfrm>
          <a:prstGeom prst="rect">
            <a:avLst/>
          </a:prstGeom>
        </p:spPr>
      </p:pic>
    </p:spTree>
    <p:extLst>
      <p:ext uri="{BB962C8B-B14F-4D97-AF65-F5344CB8AC3E}">
        <p14:creationId xmlns:p14="http://schemas.microsoft.com/office/powerpoint/2010/main" val="21342805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86243360"/>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E2D526EA-04DE-45EF-A75A-89CF410AE120}"/>
              </a:ext>
            </a:extLst>
          </p:cNvPr>
          <p:cNvPicPr>
            <a:picLocks noChangeAspect="1"/>
          </p:cNvPicPr>
          <p:nvPr/>
        </p:nvPicPr>
        <p:blipFill>
          <a:blip r:embed="rId7"/>
          <a:stretch>
            <a:fillRect/>
          </a:stretch>
        </p:blipFill>
        <p:spPr>
          <a:xfrm>
            <a:off x="4673222" y="953007"/>
            <a:ext cx="6754168" cy="4772691"/>
          </a:xfrm>
          <a:prstGeom prst="rect">
            <a:avLst/>
          </a:prstGeom>
        </p:spPr>
      </p:pic>
    </p:spTree>
    <p:extLst>
      <p:ext uri="{BB962C8B-B14F-4D97-AF65-F5344CB8AC3E}">
        <p14:creationId xmlns:p14="http://schemas.microsoft.com/office/powerpoint/2010/main" val="113648405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453404580"/>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CD485A0A-7EE2-4359-ADB0-533B35E0BFD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580965" y="1281953"/>
            <a:ext cx="6901224" cy="3880044"/>
          </a:xfrm>
          <a:prstGeom prst="rect">
            <a:avLst/>
          </a:prstGeom>
        </p:spPr>
      </p:pic>
    </p:spTree>
    <p:extLst>
      <p:ext uri="{BB962C8B-B14F-4D97-AF65-F5344CB8AC3E}">
        <p14:creationId xmlns:p14="http://schemas.microsoft.com/office/powerpoint/2010/main" val="401574989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241020588"/>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DC7A4793-2704-4EF2-A6B2-8E182149A49B}"/>
              </a:ext>
            </a:extLst>
          </p:cNvPr>
          <p:cNvPicPr>
            <a:picLocks noChangeAspect="1"/>
          </p:cNvPicPr>
          <p:nvPr/>
        </p:nvPicPr>
        <p:blipFill>
          <a:blip r:embed="rId7"/>
          <a:stretch>
            <a:fillRect/>
          </a:stretch>
        </p:blipFill>
        <p:spPr>
          <a:xfrm>
            <a:off x="5686782" y="1385455"/>
            <a:ext cx="5617809" cy="3673183"/>
          </a:xfrm>
          <a:prstGeom prst="rect">
            <a:avLst/>
          </a:prstGeom>
        </p:spPr>
      </p:pic>
    </p:spTree>
    <p:extLst>
      <p:ext uri="{BB962C8B-B14F-4D97-AF65-F5344CB8AC3E}">
        <p14:creationId xmlns:p14="http://schemas.microsoft.com/office/powerpoint/2010/main" val="28767109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819738786"/>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BB8BD99D-F6DF-466B-B226-98C8FB5F327D}"/>
              </a:ext>
            </a:extLst>
          </p:cNvPr>
          <p:cNvPicPr>
            <a:picLocks noChangeAspect="1"/>
          </p:cNvPicPr>
          <p:nvPr/>
        </p:nvPicPr>
        <p:blipFill>
          <a:blip r:embed="rId7"/>
          <a:stretch>
            <a:fillRect/>
          </a:stretch>
        </p:blipFill>
        <p:spPr>
          <a:xfrm>
            <a:off x="4945418" y="600635"/>
            <a:ext cx="6753523" cy="5606238"/>
          </a:xfrm>
          <a:prstGeom prst="rect">
            <a:avLst/>
          </a:prstGeom>
        </p:spPr>
      </p:pic>
    </p:spTree>
    <p:extLst>
      <p:ext uri="{BB962C8B-B14F-4D97-AF65-F5344CB8AC3E}">
        <p14:creationId xmlns:p14="http://schemas.microsoft.com/office/powerpoint/2010/main" val="40044868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1891203716"/>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12B8B399-D2EF-45C0-8EDC-8C9D3E0B2CE8}"/>
              </a:ext>
            </a:extLst>
          </p:cNvPr>
          <p:cNvPicPr>
            <a:picLocks noChangeAspect="1"/>
          </p:cNvPicPr>
          <p:nvPr/>
        </p:nvPicPr>
        <p:blipFill>
          <a:blip r:embed="rId7"/>
          <a:stretch>
            <a:fillRect/>
          </a:stretch>
        </p:blipFill>
        <p:spPr>
          <a:xfrm>
            <a:off x="5086074" y="750928"/>
            <a:ext cx="6359795" cy="5505374"/>
          </a:xfrm>
          <a:prstGeom prst="rect">
            <a:avLst/>
          </a:prstGeom>
        </p:spPr>
      </p:pic>
    </p:spTree>
    <p:extLst>
      <p:ext uri="{BB962C8B-B14F-4D97-AF65-F5344CB8AC3E}">
        <p14:creationId xmlns:p14="http://schemas.microsoft.com/office/powerpoint/2010/main" val="34221328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679753257"/>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B9FA9DEC-A4CF-4E01-88B3-24C4A524AE92}"/>
              </a:ext>
            </a:extLst>
          </p:cNvPr>
          <p:cNvPicPr>
            <a:picLocks noChangeAspect="1"/>
          </p:cNvPicPr>
          <p:nvPr/>
        </p:nvPicPr>
        <p:blipFill>
          <a:blip r:embed="rId7"/>
          <a:stretch>
            <a:fillRect/>
          </a:stretch>
        </p:blipFill>
        <p:spPr>
          <a:xfrm>
            <a:off x="5608403" y="1692750"/>
            <a:ext cx="4678597" cy="3472499"/>
          </a:xfrm>
          <a:prstGeom prst="rect">
            <a:avLst/>
          </a:prstGeom>
        </p:spPr>
      </p:pic>
    </p:spTree>
    <p:extLst>
      <p:ext uri="{BB962C8B-B14F-4D97-AF65-F5344CB8AC3E}">
        <p14:creationId xmlns:p14="http://schemas.microsoft.com/office/powerpoint/2010/main" val="326595962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25953184"/>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A1E7DFD5-8DE4-480F-93BD-C18C2C204B8C}"/>
              </a:ext>
            </a:extLst>
          </p:cNvPr>
          <p:cNvPicPr>
            <a:picLocks noChangeAspect="1"/>
          </p:cNvPicPr>
          <p:nvPr/>
        </p:nvPicPr>
        <p:blipFill rotWithShape="1">
          <a:blip r:embed="rId7"/>
          <a:srcRect r="40903"/>
          <a:stretch/>
        </p:blipFill>
        <p:spPr>
          <a:xfrm>
            <a:off x="5649577" y="600635"/>
            <a:ext cx="4527358" cy="2966233"/>
          </a:xfrm>
          <a:prstGeom prst="rect">
            <a:avLst/>
          </a:prstGeom>
        </p:spPr>
      </p:pic>
      <p:pic>
        <p:nvPicPr>
          <p:cNvPr id="10" name="Imagen 9">
            <a:extLst>
              <a:ext uri="{FF2B5EF4-FFF2-40B4-BE49-F238E27FC236}">
                <a16:creationId xmlns:a16="http://schemas.microsoft.com/office/drawing/2014/main" id="{5C604A5B-DBA2-44FC-B233-F5845080BC32}"/>
              </a:ext>
            </a:extLst>
          </p:cNvPr>
          <p:cNvPicPr>
            <a:picLocks noChangeAspect="1"/>
          </p:cNvPicPr>
          <p:nvPr/>
        </p:nvPicPr>
        <p:blipFill rotWithShape="1">
          <a:blip r:embed="rId7"/>
          <a:srcRect l="60259" t="-2094" r="-19356" b="2094"/>
          <a:stretch/>
        </p:blipFill>
        <p:spPr>
          <a:xfrm>
            <a:off x="5686132" y="3428468"/>
            <a:ext cx="4527358" cy="2966233"/>
          </a:xfrm>
          <a:prstGeom prst="rect">
            <a:avLst/>
          </a:prstGeom>
        </p:spPr>
      </p:pic>
    </p:spTree>
    <p:extLst>
      <p:ext uri="{BB962C8B-B14F-4D97-AF65-F5344CB8AC3E}">
        <p14:creationId xmlns:p14="http://schemas.microsoft.com/office/powerpoint/2010/main" val="419648051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558684613"/>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6A7260E0-8225-4DAF-AF13-3C34DED5FBAF}"/>
              </a:ext>
            </a:extLst>
          </p:cNvPr>
          <p:cNvPicPr>
            <a:picLocks noChangeAspect="1"/>
          </p:cNvPicPr>
          <p:nvPr/>
        </p:nvPicPr>
        <p:blipFill>
          <a:blip r:embed="rId7"/>
          <a:stretch>
            <a:fillRect/>
          </a:stretch>
        </p:blipFill>
        <p:spPr>
          <a:xfrm>
            <a:off x="4939837" y="1394596"/>
            <a:ext cx="6630325" cy="4067743"/>
          </a:xfrm>
          <a:prstGeom prst="rect">
            <a:avLst/>
          </a:prstGeom>
        </p:spPr>
      </p:pic>
    </p:spTree>
    <p:extLst>
      <p:ext uri="{BB962C8B-B14F-4D97-AF65-F5344CB8AC3E}">
        <p14:creationId xmlns:p14="http://schemas.microsoft.com/office/powerpoint/2010/main" val="11749948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430866034"/>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C320065A-7DED-4FC1-9D42-1DABFD1A0D42}"/>
              </a:ext>
            </a:extLst>
          </p:cNvPr>
          <p:cNvPicPr>
            <a:picLocks noChangeAspect="1"/>
          </p:cNvPicPr>
          <p:nvPr/>
        </p:nvPicPr>
        <p:blipFill>
          <a:blip r:embed="rId7"/>
          <a:stretch>
            <a:fillRect/>
          </a:stretch>
        </p:blipFill>
        <p:spPr>
          <a:xfrm>
            <a:off x="5014988" y="1413649"/>
            <a:ext cx="6496957" cy="4029637"/>
          </a:xfrm>
          <a:prstGeom prst="rect">
            <a:avLst/>
          </a:prstGeom>
        </p:spPr>
      </p:pic>
    </p:spTree>
    <p:extLst>
      <p:ext uri="{BB962C8B-B14F-4D97-AF65-F5344CB8AC3E}">
        <p14:creationId xmlns:p14="http://schemas.microsoft.com/office/powerpoint/2010/main" val="16532689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2730058630"/>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7" name="Imagen 6">
            <a:extLst>
              <a:ext uri="{FF2B5EF4-FFF2-40B4-BE49-F238E27FC236}">
                <a16:creationId xmlns:a16="http://schemas.microsoft.com/office/drawing/2014/main" id="{F89A0966-A70A-412C-9B10-F232AF7F962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206391" y="736599"/>
            <a:ext cx="6307443" cy="4885267"/>
          </a:xfrm>
          <a:prstGeom prst="rect">
            <a:avLst/>
          </a:prstGeom>
        </p:spPr>
      </p:pic>
    </p:spTree>
    <p:extLst>
      <p:ext uri="{BB962C8B-B14F-4D97-AF65-F5344CB8AC3E}">
        <p14:creationId xmlns:p14="http://schemas.microsoft.com/office/powerpoint/2010/main" val="30105317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60829751"/>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CC39A1D0-43BF-474D-8EEA-6C5870E9D93B}"/>
              </a:ext>
            </a:extLst>
          </p:cNvPr>
          <p:cNvPicPr>
            <a:picLocks noChangeAspect="1"/>
          </p:cNvPicPr>
          <p:nvPr/>
        </p:nvPicPr>
        <p:blipFill>
          <a:blip r:embed="rId7"/>
          <a:stretch>
            <a:fillRect/>
          </a:stretch>
        </p:blipFill>
        <p:spPr>
          <a:xfrm>
            <a:off x="5420424" y="1842887"/>
            <a:ext cx="5144218" cy="2867425"/>
          </a:xfrm>
          <a:prstGeom prst="rect">
            <a:avLst/>
          </a:prstGeom>
        </p:spPr>
      </p:pic>
    </p:spTree>
    <p:extLst>
      <p:ext uri="{BB962C8B-B14F-4D97-AF65-F5344CB8AC3E}">
        <p14:creationId xmlns:p14="http://schemas.microsoft.com/office/powerpoint/2010/main" val="383568916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4178038636"/>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8" name="Imagen 7">
            <a:extLst>
              <a:ext uri="{FF2B5EF4-FFF2-40B4-BE49-F238E27FC236}">
                <a16:creationId xmlns:a16="http://schemas.microsoft.com/office/drawing/2014/main" id="{8B4B677B-FA95-4D49-BAAA-FFCAD4434FC3}"/>
              </a:ext>
            </a:extLst>
          </p:cNvPr>
          <p:cNvPicPr>
            <a:picLocks noChangeAspect="1"/>
          </p:cNvPicPr>
          <p:nvPr/>
        </p:nvPicPr>
        <p:blipFill>
          <a:blip r:embed="rId7"/>
          <a:stretch>
            <a:fillRect/>
          </a:stretch>
        </p:blipFill>
        <p:spPr>
          <a:xfrm>
            <a:off x="4845549" y="588136"/>
            <a:ext cx="6230219" cy="5668166"/>
          </a:xfrm>
          <a:prstGeom prst="rect">
            <a:avLst/>
          </a:prstGeom>
        </p:spPr>
      </p:pic>
    </p:spTree>
    <p:extLst>
      <p:ext uri="{BB962C8B-B14F-4D97-AF65-F5344CB8AC3E}">
        <p14:creationId xmlns:p14="http://schemas.microsoft.com/office/powerpoint/2010/main" val="2447835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743980159"/>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59BD3013-3E64-44FA-A6B3-ABCBAE77A954}"/>
              </a:ext>
            </a:extLst>
          </p:cNvPr>
          <p:cNvPicPr>
            <a:picLocks noChangeAspect="1"/>
          </p:cNvPicPr>
          <p:nvPr/>
        </p:nvPicPr>
        <p:blipFill>
          <a:blip r:embed="rId7"/>
          <a:stretch>
            <a:fillRect/>
          </a:stretch>
        </p:blipFill>
        <p:spPr>
          <a:xfrm>
            <a:off x="4636935" y="889000"/>
            <a:ext cx="3352433" cy="4775200"/>
          </a:xfrm>
          <a:prstGeom prst="rect">
            <a:avLst/>
          </a:prstGeom>
        </p:spPr>
      </p:pic>
      <p:pic>
        <p:nvPicPr>
          <p:cNvPr id="10" name="Imagen 9">
            <a:extLst>
              <a:ext uri="{FF2B5EF4-FFF2-40B4-BE49-F238E27FC236}">
                <a16:creationId xmlns:a16="http://schemas.microsoft.com/office/drawing/2014/main" id="{7867C28F-AC3D-40C2-9D3C-A4E0E064D265}"/>
              </a:ext>
            </a:extLst>
          </p:cNvPr>
          <p:cNvPicPr>
            <a:picLocks noChangeAspect="1"/>
          </p:cNvPicPr>
          <p:nvPr/>
        </p:nvPicPr>
        <p:blipFill>
          <a:blip r:embed="rId8"/>
          <a:stretch>
            <a:fillRect/>
          </a:stretch>
        </p:blipFill>
        <p:spPr>
          <a:xfrm>
            <a:off x="8143365" y="889000"/>
            <a:ext cx="3392754" cy="4775200"/>
          </a:xfrm>
          <a:prstGeom prst="rect">
            <a:avLst/>
          </a:prstGeom>
        </p:spPr>
      </p:pic>
    </p:spTree>
    <p:extLst>
      <p:ext uri="{BB962C8B-B14F-4D97-AF65-F5344CB8AC3E}">
        <p14:creationId xmlns:p14="http://schemas.microsoft.com/office/powerpoint/2010/main" val="18967200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3103019439"/>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59BD3013-3E64-44FA-A6B3-ABCBAE77A954}"/>
              </a:ext>
            </a:extLst>
          </p:cNvPr>
          <p:cNvPicPr>
            <a:picLocks noChangeAspect="1"/>
          </p:cNvPicPr>
          <p:nvPr/>
        </p:nvPicPr>
        <p:blipFill>
          <a:blip r:embed="rId7"/>
          <a:stretch>
            <a:fillRect/>
          </a:stretch>
        </p:blipFill>
        <p:spPr>
          <a:xfrm>
            <a:off x="4636935" y="889000"/>
            <a:ext cx="3352433" cy="4775200"/>
          </a:xfrm>
          <a:prstGeom prst="rect">
            <a:avLst/>
          </a:prstGeom>
        </p:spPr>
      </p:pic>
      <p:pic>
        <p:nvPicPr>
          <p:cNvPr id="10" name="Imagen 9">
            <a:extLst>
              <a:ext uri="{FF2B5EF4-FFF2-40B4-BE49-F238E27FC236}">
                <a16:creationId xmlns:a16="http://schemas.microsoft.com/office/drawing/2014/main" id="{7867C28F-AC3D-40C2-9D3C-A4E0E064D265}"/>
              </a:ext>
            </a:extLst>
          </p:cNvPr>
          <p:cNvPicPr>
            <a:picLocks noChangeAspect="1"/>
          </p:cNvPicPr>
          <p:nvPr/>
        </p:nvPicPr>
        <p:blipFill>
          <a:blip r:embed="rId8"/>
          <a:stretch>
            <a:fillRect/>
          </a:stretch>
        </p:blipFill>
        <p:spPr>
          <a:xfrm>
            <a:off x="8143365" y="889000"/>
            <a:ext cx="3392754" cy="4775200"/>
          </a:xfrm>
          <a:prstGeom prst="rect">
            <a:avLst/>
          </a:prstGeom>
        </p:spPr>
      </p:pic>
    </p:spTree>
    <p:extLst>
      <p:ext uri="{BB962C8B-B14F-4D97-AF65-F5344CB8AC3E}">
        <p14:creationId xmlns:p14="http://schemas.microsoft.com/office/powerpoint/2010/main" val="30704951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uadroTexto 3">
            <a:extLst>
              <a:ext uri="{FF2B5EF4-FFF2-40B4-BE49-F238E27FC236}">
                <a16:creationId xmlns:a16="http://schemas.microsoft.com/office/drawing/2014/main" id="{258408E4-2AC5-414D-8A80-97F1286AEC19}"/>
              </a:ext>
            </a:extLst>
          </p:cNvPr>
          <p:cNvSpPr txBox="1"/>
          <p:nvPr/>
        </p:nvSpPr>
        <p:spPr>
          <a:xfrm>
            <a:off x="698885" y="0"/>
            <a:ext cx="4601248" cy="400110"/>
          </a:xfrm>
          <a:prstGeom prst="rect">
            <a:avLst/>
          </a:prstGeom>
          <a:noFill/>
          <a:ln>
            <a:noFill/>
          </a:ln>
        </p:spPr>
        <p:txBody>
          <a:bodyPr wrap="square" rtlCol="0">
            <a:spAutoFit/>
          </a:bodyPr>
          <a:lstStyle/>
          <a:p>
            <a:r>
              <a:rPr lang="es-MX" sz="2000" b="1" dirty="0">
                <a:solidFill>
                  <a:srgbClr val="0000CC"/>
                </a:solidFill>
                <a:latin typeface="Oswald" panose="00000500000000000000" pitchFamily="2" charset="0"/>
                <a:cs typeface="Segoe UI Light" panose="020B0502040204020203" pitchFamily="34" charset="0"/>
              </a:rPr>
              <a:t>Diseño Web</a:t>
            </a:r>
          </a:p>
        </p:txBody>
      </p:sp>
      <p:grpSp>
        <p:nvGrpSpPr>
          <p:cNvPr id="5" name="Grupo 4">
            <a:extLst>
              <a:ext uri="{FF2B5EF4-FFF2-40B4-BE49-F238E27FC236}">
                <a16:creationId xmlns:a16="http://schemas.microsoft.com/office/drawing/2014/main" id="{EDC9BC0E-D713-420D-8718-02077970F78F}"/>
              </a:ext>
            </a:extLst>
          </p:cNvPr>
          <p:cNvGrpSpPr/>
          <p:nvPr/>
        </p:nvGrpSpPr>
        <p:grpSpPr>
          <a:xfrm>
            <a:off x="8896096" y="0"/>
            <a:ext cx="2802845" cy="400110"/>
            <a:chOff x="1378206" y="665379"/>
            <a:chExt cx="5375717" cy="400110"/>
          </a:xfrm>
        </p:grpSpPr>
        <p:sp>
          <p:nvSpPr>
            <p:cNvPr id="11" name="CuadroTexto 10">
              <a:extLst>
                <a:ext uri="{FF2B5EF4-FFF2-40B4-BE49-F238E27FC236}">
                  <a16:creationId xmlns:a16="http://schemas.microsoft.com/office/drawing/2014/main" id="{3258BD08-11DC-44C4-9DBD-1B01B605ACDB}"/>
                </a:ext>
              </a:extLst>
            </p:cNvPr>
            <p:cNvSpPr txBox="1"/>
            <p:nvPr/>
          </p:nvSpPr>
          <p:spPr>
            <a:xfrm>
              <a:off x="1378206" y="665379"/>
              <a:ext cx="5375717" cy="400110"/>
            </a:xfrm>
            <a:prstGeom prst="rect">
              <a:avLst/>
            </a:prstGeom>
            <a:noFill/>
            <a:ln>
              <a:noFill/>
            </a:ln>
          </p:spPr>
          <p:txBody>
            <a:bodyPr wrap="square" rtlCol="0">
              <a:spAutoFit/>
            </a:bodyPr>
            <a:lstStyle/>
            <a:p>
              <a:r>
                <a:rPr lang="es-MX" sz="2000" b="1" dirty="0">
                  <a:solidFill>
                    <a:srgbClr val="00B0F0"/>
                  </a:solidFill>
                  <a:latin typeface="Oswald" panose="00000500000000000000" pitchFamily="2" charset="0"/>
                  <a:cs typeface="Segoe UI Light" panose="020B0502040204020203" pitchFamily="34" charset="0"/>
                </a:rPr>
                <a:t>Creación de PET - CLINIC</a:t>
              </a:r>
            </a:p>
          </p:txBody>
        </p:sp>
        <p:cxnSp>
          <p:nvCxnSpPr>
            <p:cNvPr id="3" name="Conector recto 2">
              <a:extLst>
                <a:ext uri="{FF2B5EF4-FFF2-40B4-BE49-F238E27FC236}">
                  <a16:creationId xmlns:a16="http://schemas.microsoft.com/office/drawing/2014/main" id="{AD40EA7B-2F05-430B-A735-7B38CF7AFB67}"/>
                </a:ext>
              </a:extLst>
            </p:cNvPr>
            <p:cNvCxnSpPr>
              <a:cxnSpLocks/>
            </p:cNvCxnSpPr>
            <p:nvPr/>
          </p:nvCxnSpPr>
          <p:spPr>
            <a:xfrm>
              <a:off x="1458614" y="726339"/>
              <a:ext cx="0" cy="257319"/>
            </a:xfrm>
            <a:prstGeom prst="line">
              <a:avLst/>
            </a:prstGeom>
            <a:ln w="28575">
              <a:solidFill>
                <a:srgbClr val="1E2BFF"/>
              </a:solidFill>
            </a:ln>
          </p:spPr>
          <p:style>
            <a:lnRef idx="1">
              <a:schemeClr val="accent1"/>
            </a:lnRef>
            <a:fillRef idx="0">
              <a:schemeClr val="accent1"/>
            </a:fillRef>
            <a:effectRef idx="0">
              <a:schemeClr val="accent1"/>
            </a:effectRef>
            <a:fontRef idx="minor">
              <a:schemeClr val="tx1"/>
            </a:fontRef>
          </p:style>
        </p:cxnSp>
      </p:grpSp>
      <p:graphicFrame>
        <p:nvGraphicFramePr>
          <p:cNvPr id="9" name="Diagrama 8">
            <a:extLst>
              <a:ext uri="{FF2B5EF4-FFF2-40B4-BE49-F238E27FC236}">
                <a16:creationId xmlns:a16="http://schemas.microsoft.com/office/drawing/2014/main" id="{38944DA3-A0B8-4A34-9962-5829EBDED90A}"/>
              </a:ext>
            </a:extLst>
          </p:cNvPr>
          <p:cNvGraphicFramePr/>
          <p:nvPr>
            <p:extLst>
              <p:ext uri="{D42A27DB-BD31-4B8C-83A1-F6EECF244321}">
                <p14:modId xmlns:p14="http://schemas.microsoft.com/office/powerpoint/2010/main" val="99554681"/>
              </p:ext>
            </p:extLst>
          </p:nvPr>
        </p:nvGraphicFramePr>
        <p:xfrm>
          <a:off x="301557" y="600635"/>
          <a:ext cx="4091149" cy="5655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Imagen 5">
            <a:extLst>
              <a:ext uri="{FF2B5EF4-FFF2-40B4-BE49-F238E27FC236}">
                <a16:creationId xmlns:a16="http://schemas.microsoft.com/office/drawing/2014/main" id="{59BD3013-3E64-44FA-A6B3-ABCBAE77A954}"/>
              </a:ext>
            </a:extLst>
          </p:cNvPr>
          <p:cNvPicPr>
            <a:picLocks noChangeAspect="1"/>
          </p:cNvPicPr>
          <p:nvPr/>
        </p:nvPicPr>
        <p:blipFill>
          <a:blip r:embed="rId7"/>
          <a:stretch>
            <a:fillRect/>
          </a:stretch>
        </p:blipFill>
        <p:spPr>
          <a:xfrm>
            <a:off x="4636935" y="889000"/>
            <a:ext cx="3352433" cy="4775200"/>
          </a:xfrm>
          <a:prstGeom prst="rect">
            <a:avLst/>
          </a:prstGeom>
        </p:spPr>
      </p:pic>
      <p:pic>
        <p:nvPicPr>
          <p:cNvPr id="10" name="Imagen 9">
            <a:extLst>
              <a:ext uri="{FF2B5EF4-FFF2-40B4-BE49-F238E27FC236}">
                <a16:creationId xmlns:a16="http://schemas.microsoft.com/office/drawing/2014/main" id="{7867C28F-AC3D-40C2-9D3C-A4E0E064D265}"/>
              </a:ext>
            </a:extLst>
          </p:cNvPr>
          <p:cNvPicPr>
            <a:picLocks noChangeAspect="1"/>
          </p:cNvPicPr>
          <p:nvPr/>
        </p:nvPicPr>
        <p:blipFill>
          <a:blip r:embed="rId8"/>
          <a:stretch>
            <a:fillRect/>
          </a:stretch>
        </p:blipFill>
        <p:spPr>
          <a:xfrm>
            <a:off x="8143365" y="889000"/>
            <a:ext cx="3392754" cy="4775200"/>
          </a:xfrm>
          <a:prstGeom prst="rect">
            <a:avLst/>
          </a:prstGeom>
        </p:spPr>
      </p:pic>
    </p:spTree>
    <p:extLst>
      <p:ext uri="{BB962C8B-B14F-4D97-AF65-F5344CB8AC3E}">
        <p14:creationId xmlns:p14="http://schemas.microsoft.com/office/powerpoint/2010/main" val="2223226870"/>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18173</TotalTime>
  <Words>2315</Words>
  <Application>Microsoft Office PowerPoint</Application>
  <PresentationFormat>Panorámica</PresentationFormat>
  <Paragraphs>244</Paragraphs>
  <Slides>41</Slides>
  <Notes>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41</vt:i4>
      </vt:variant>
    </vt:vector>
  </HeadingPairs>
  <TitlesOfParts>
    <vt:vector size="48" baseType="lpstr">
      <vt:lpstr>Arial</vt:lpstr>
      <vt:lpstr>Calibri</vt:lpstr>
      <vt:lpstr>Calibri Light</vt:lpstr>
      <vt:lpstr>Oswald</vt:lpstr>
      <vt:lpstr>Segoe UI Light</vt:lpstr>
      <vt:lpstr>Segoe UI Semibold</vt:lpstr>
      <vt:lpstr>Tema de Office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Pier</dc:creator>
  <cp:lastModifiedBy>Ana Paola</cp:lastModifiedBy>
  <cp:revision>693</cp:revision>
  <dcterms:created xsi:type="dcterms:W3CDTF">2023-12-05T20:17:53Z</dcterms:created>
  <dcterms:modified xsi:type="dcterms:W3CDTF">2026-07-29T17:34:07Z</dcterms:modified>
</cp:coreProperties>
</file>