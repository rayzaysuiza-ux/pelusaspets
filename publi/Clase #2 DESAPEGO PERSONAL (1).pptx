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1" r:id="rId2"/>
    <p:sldId id="256" r:id="rId3"/>
    <p:sldId id="364" r:id="rId4"/>
    <p:sldId id="342" r:id="rId5"/>
    <p:sldId id="352" r:id="rId6"/>
    <p:sldId id="365" r:id="rId7"/>
    <p:sldId id="366" r:id="rId8"/>
    <p:sldId id="367" r:id="rId9"/>
    <p:sldId id="354" r:id="rId10"/>
    <p:sldId id="355" r:id="rId11"/>
    <p:sldId id="368" r:id="rId12"/>
    <p:sldId id="356" r:id="rId13"/>
    <p:sldId id="357" r:id="rId14"/>
    <p:sldId id="369" r:id="rId15"/>
    <p:sldId id="370" r:id="rId16"/>
    <p:sldId id="363" r:id="rId17"/>
    <p:sldId id="372" r:id="rId1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8" autoAdjust="0"/>
    <p:restoredTop sz="94660"/>
  </p:normalViewPr>
  <p:slideViewPr>
    <p:cSldViewPr snapToGrid="0">
      <p:cViewPr varScale="1">
        <p:scale>
          <a:sx n="85" d="100"/>
          <a:sy n="85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Objetivo del curso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Al finalizar la sesión, a partir del análisis de situaciones personales, historias y casos reales, el estudiante analiza el significado del desapego personal, identificando aquello que puede limitar su crecimiento y proponiendo una acción concreta para afrontarlo positivamente.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77269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Y="92994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Festival de los Faroles en China. – </a:t>
          </a:r>
          <a:r>
            <a:rPr lang="es-MX" b="1" dirty="0">
              <a:latin typeface="Segoe UI Light" panose="020B0502040204020203" pitchFamily="34" charset="0"/>
              <a:cs typeface="Segoe UI Light" panose="020B0502040204020203" pitchFamily="34" charset="0"/>
            </a:rPr>
            <a:t>¿Sabes su significado?</a:t>
          </a:r>
          <a:endParaRPr lang="es-PE" b="1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146098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104691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Si bien esta tradición China nació como parte de la celebración y adoración Budista, hoy también simboliza dejar atrás el pasado y dar la bienvenida a un nuevo comienzo con esperanza y buena fortuna. 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FCF35A8B-7EA2-40A9-919D-71BF1D9CE1AB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En ella se depositan cartas o notas cuyo contenido es aquello que queremos dejar atrás y que nos comprometemos a cambiar o dejar ir de nuestra vida.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F2500F46-9921-4DDE-A1C8-072ECB1AA7C6}" type="parTrans" cxnId="{967ACFD0-503E-476F-91AE-39EF96462E36}">
      <dgm:prSet/>
      <dgm:spPr/>
      <dgm:t>
        <a:bodyPr/>
        <a:lstStyle/>
        <a:p>
          <a:endParaRPr lang="es-PE"/>
        </a:p>
      </dgm:t>
    </dgm:pt>
    <dgm:pt modelId="{7C72A368-A095-45DB-B1E8-9DEB3398DD9D}" type="sibTrans" cxnId="{967ACFD0-503E-476F-91AE-39EF96462E36}">
      <dgm:prSet/>
      <dgm:spPr/>
      <dgm:t>
        <a:bodyPr/>
        <a:lstStyle/>
        <a:p>
          <a:endParaRPr lang="es-PE"/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E9D7AE92-B15E-43DB-8960-BDDBC9F9813A}" type="presOf" srcId="{FCF35A8B-7EA2-40A9-919D-71BF1D9CE1AB}" destId="{05BE5D02-8470-4663-8771-1FA3327D54CF}" srcOrd="0" destOrd="1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967ACFD0-503E-476F-91AE-39EF96462E36}" srcId="{CAF75882-B369-4E3C-9A27-B1D08B9FB9F3}" destId="{FCF35A8B-7EA2-40A9-919D-71BF1D9CE1AB}" srcOrd="1" destOrd="0" parTransId="{F2500F46-9921-4DDE-A1C8-072ECB1AA7C6}" sibTransId="{7C72A368-A095-45DB-B1E8-9DEB3398DD9D}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PE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“No se trata de soltar por soltar. Se trata de saber cuándo algo ya no nos permite avanzar.”</a:t>
          </a: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SI PUDIERAS DEJAR IR ALGO…</a:t>
          </a:r>
          <a:endParaRPr lang="es-PE" b="1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BF8065CF-2815-49EA-83F9-D3CD012107E1}">
      <dgm:prSet phldrT="[Texto]"/>
      <dgm:spPr>
        <a:solidFill>
          <a:schemeClr val="bg1"/>
        </a:solidFill>
      </dgm:spPr>
      <dgm:t>
        <a:bodyPr/>
        <a:lstStyle/>
        <a:p>
          <a:r>
            <a:rPr lang="es-MX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¿Qué Sería?</a:t>
          </a:r>
          <a:endParaRPr lang="es-PE" b="1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55157B55-B10E-404D-937D-6858010EEC54}" type="parTrans" cxnId="{950FED2C-75F3-4723-836B-B2EBF27D4B5F}">
      <dgm:prSet/>
      <dgm:spPr/>
      <dgm:t>
        <a:bodyPr/>
        <a:lstStyle/>
        <a:p>
          <a:endParaRPr lang="es-PE"/>
        </a:p>
      </dgm:t>
    </dgm:pt>
    <dgm:pt modelId="{1C6A9E37-377F-4993-8BBD-F10881248B30}" type="sibTrans" cxnId="{950FED2C-75F3-4723-836B-B2EBF27D4B5F}">
      <dgm:prSet/>
      <dgm:spPr/>
      <dgm:t>
        <a:bodyPr/>
        <a:lstStyle/>
        <a:p>
          <a:endParaRPr lang="es-PE"/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950FED2C-75F3-4723-836B-B2EBF27D4B5F}" srcId="{CAF75882-B369-4E3C-9A27-B1D08B9FB9F3}" destId="{BF8065CF-2815-49EA-83F9-D3CD012107E1}" srcOrd="1" destOrd="0" parTransId="{55157B55-B10E-404D-937D-6858010EEC54}" sibTransId="{1C6A9E37-377F-4993-8BBD-F10881248B30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6507458F-21D5-49B0-8114-3D10A082C558}" type="presOf" srcId="{BF8065CF-2815-49EA-83F9-D3CD012107E1}" destId="{05BE5D02-8470-4663-8771-1FA3327D54CF}" srcOrd="0" destOrd="1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Pregunta Abierta
</a:t>
          </a:r>
          <a:r>
            <a:rPr lang="es-MX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¿Qué significa realmente desapegarse?</a:t>
          </a:r>
          <a:endParaRPr lang="es-PE" b="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17115C9F-70FF-4304-8D9D-83815C7C7D10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¿Alguna ves hemos dejado ir algo de nuestras vidas?</a:t>
          </a:r>
          <a:endParaRPr lang="es-PE" b="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C5F327A6-5627-48E7-A302-5F3FCA7590AC}" type="parTrans" cxnId="{AF39620E-AE4B-47CA-A5A5-85E6A4A998C5}">
      <dgm:prSet/>
      <dgm:spPr/>
    </dgm:pt>
    <dgm:pt modelId="{96094197-03A0-4402-978F-0E1B4300F577}" type="sibTrans" cxnId="{AF39620E-AE4B-47CA-A5A5-85E6A4A998C5}">
      <dgm:prSet/>
      <dgm:spPr/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AF39620E-AE4B-47CA-A5A5-85E6A4A998C5}" srcId="{CAF75882-B369-4E3C-9A27-B1D08B9FB9F3}" destId="{17115C9F-70FF-4304-8D9D-83815C7C7D10}" srcOrd="1" destOrd="0" parTransId="{C5F327A6-5627-48E7-A302-5F3FCA7590AC}" sibTransId="{96094197-03A0-4402-978F-0E1B4300F577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273615F8-429C-4D86-8D3A-3BED960BEE08}" type="presOf" srcId="{17115C9F-70FF-4304-8D9D-83815C7C7D10}" destId="{05BE5D02-8470-4663-8771-1FA3327D54CF}" srcOrd="0" destOrd="1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El desapego no es renunciar a lo que queremos, sino cambiar nuestra relación con las cosas, personas y situaciones.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Mientras ves el video, identifica lo relacionado al Desapego:
01 SIGNIFICADO
02 DIFICULTAD
03 CONSECUENCIA
04 BENEFICIO
05 APLICACIÓN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4059" custScaleY="65443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95146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Ronda de Respuestas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0237" custScaleY="37276" custLinFactNeighborX="-37715" custLinFactNeighborY="-40794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2093" custScaleY="124358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¿Alguien sabe la historia que cuenta este libro?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0237" custScaleY="37276" custLinFactNeighborX="-37715" custLinFactNeighborY="-40794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2093" custScaleY="124358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El Poder del Desapego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Mensaje clave:
A veces no progresamos porque aquello que tenemos </a:t>
          </a:r>
          <a:r>
            <a:rPr lang="es-MX" b="1" dirty="0">
              <a:latin typeface="Segoe UI Light" panose="020B0502040204020203" pitchFamily="34" charset="0"/>
              <a:cs typeface="Segoe UI Light" panose="020B0502040204020203" pitchFamily="34" charset="0"/>
            </a:rPr>
            <a:t>funciona lo suficiente para que no busquemos algo diferente.</a:t>
          </a:r>
          <a:endParaRPr lang="es-PE" b="1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20237" custScaleY="62939" custLinFactNeighborX="-37715" custLinFactNeighborY="-40794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2093" custScaleY="124358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70D0096-86DF-4CAF-9E38-268D386BB5E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CAF75882-B369-4E3C-9A27-B1D08B9FB9F3}">
      <dgm:prSet phldrT="[Texto]" custT="1"/>
      <dgm:spPr>
        <a:solidFill>
          <a:srgbClr val="0000CC"/>
        </a:solidFill>
      </dgm:spPr>
      <dgm:t>
        <a:bodyPr/>
        <a:lstStyle/>
        <a:p>
          <a:r>
            <a:rPr lang="es-MX" sz="2400" dirty="0">
              <a:latin typeface="Oswald" panose="00000500000000000000" pitchFamily="2" charset="0"/>
            </a:rPr>
            <a:t>Desapego Personal: Liberando el Alma</a:t>
          </a:r>
          <a:endParaRPr lang="es-PE" sz="2400" dirty="0">
            <a:latin typeface="Oswald" panose="00000500000000000000" pitchFamily="2" charset="0"/>
          </a:endParaRPr>
        </a:p>
      </dgm:t>
    </dgm:pt>
    <dgm:pt modelId="{371CD6F9-5DA6-45AC-BC4C-C85E32E453A6}" type="par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CF94D752-905A-4FA1-9250-BC5BFD1320DD}" type="sibTrans" cxnId="{76177428-16EF-42F6-9BEB-3147D29CE1A3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6653D63B-7A1C-417C-BF55-4F5D46251CBD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Dividiremos en dos grupos la clase y Analizaremos dos casos Mercantiles, y como el no tener desapego en cierto modo los llevo al fracaso.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30EA9774-E107-43BB-AADD-B396F1B02B77}" type="par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34858330-2FED-4FF4-BD82-2CCAAB1BE87B}" type="sibTrans" cxnId="{D0E2B509-2298-4F3E-9FCF-CBB3EEAEF370}">
      <dgm:prSet/>
      <dgm:spPr/>
      <dgm:t>
        <a:bodyPr/>
        <a:lstStyle/>
        <a:p>
          <a:endParaRPr lang="es-PE">
            <a:latin typeface="Oswald" panose="00000500000000000000" pitchFamily="2" charset="0"/>
          </a:endParaRPr>
        </a:p>
      </dgm:t>
    </dgm:pt>
    <dgm:pt modelId="{BDEA393B-1928-4C92-9827-CCAD0F0138E5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Caso 1 Blockbuster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8AED9C54-96BD-4426-9C7E-E623BF7B1994}" type="parTrans" cxnId="{75988043-A972-484F-91A1-8CEC99A495C0}">
      <dgm:prSet/>
      <dgm:spPr/>
      <dgm:t>
        <a:bodyPr/>
        <a:lstStyle/>
        <a:p>
          <a:endParaRPr lang="es-PE"/>
        </a:p>
      </dgm:t>
    </dgm:pt>
    <dgm:pt modelId="{12DE16F0-D016-427B-B414-001336935359}" type="sibTrans" cxnId="{75988043-A972-484F-91A1-8CEC99A495C0}">
      <dgm:prSet/>
      <dgm:spPr/>
      <dgm:t>
        <a:bodyPr/>
        <a:lstStyle/>
        <a:p>
          <a:endParaRPr lang="es-PE"/>
        </a:p>
      </dgm:t>
    </dgm:pt>
    <dgm:pt modelId="{11B110FE-85DF-4BAF-AC04-1CCDF6D4A556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Caso 2 Kodak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A60B7085-8579-442C-AEF3-93CE631BB683}" type="parTrans" cxnId="{BAC796BC-D456-428D-BEA6-A95B859BA894}">
      <dgm:prSet/>
      <dgm:spPr/>
      <dgm:t>
        <a:bodyPr/>
        <a:lstStyle/>
        <a:p>
          <a:endParaRPr lang="es-PE"/>
        </a:p>
      </dgm:t>
    </dgm:pt>
    <dgm:pt modelId="{12B081D7-9515-4302-A9BB-1206F8B901B1}" type="sibTrans" cxnId="{BAC796BC-D456-428D-BEA6-A95B859BA894}">
      <dgm:prSet/>
      <dgm:spPr/>
      <dgm:t>
        <a:bodyPr/>
        <a:lstStyle/>
        <a:p>
          <a:endParaRPr lang="es-PE"/>
        </a:p>
      </dgm:t>
    </dgm:pt>
    <dgm:pt modelId="{C9FF9AD2-C365-4941-B87A-DA9A99CEBFB8}">
      <dgm:prSet phldrT="[Texto]"/>
      <dgm:spPr>
        <a:solidFill>
          <a:schemeClr val="bg1"/>
        </a:solidFill>
      </dgm:spPr>
      <dgm:t>
        <a:bodyPr/>
        <a:lstStyle/>
        <a:p>
          <a:r>
            <a:rPr lang="es-MX" b="0" dirty="0">
              <a:latin typeface="Segoe UI Light" panose="020B0502040204020203" pitchFamily="34" charset="0"/>
              <a:cs typeface="Segoe UI Light" panose="020B0502040204020203" pitchFamily="34" charset="0"/>
            </a:rPr>
            <a:t>Tiempo de 10 minutos para investigar y expondremos </a:t>
          </a:r>
          <a:endParaRPr lang="es-PE" b="0" dirty="0">
            <a:latin typeface="Segoe UI Light" panose="020B0502040204020203" pitchFamily="34" charset="0"/>
            <a:cs typeface="Segoe UI Light" panose="020B0502040204020203" pitchFamily="34" charset="0"/>
          </a:endParaRPr>
        </a:p>
      </dgm:t>
    </dgm:pt>
    <dgm:pt modelId="{490605CC-9078-4E95-BE47-3CC1D8002E9D}" type="parTrans" cxnId="{17554D1B-08E0-4E64-A5EC-18C268ECD7E0}">
      <dgm:prSet/>
      <dgm:spPr/>
      <dgm:t>
        <a:bodyPr/>
        <a:lstStyle/>
        <a:p>
          <a:endParaRPr lang="es-PE"/>
        </a:p>
      </dgm:t>
    </dgm:pt>
    <dgm:pt modelId="{18724F7C-4F13-474F-AD42-4DBCA5D32211}" type="sibTrans" cxnId="{17554D1B-08E0-4E64-A5EC-18C268ECD7E0}">
      <dgm:prSet/>
      <dgm:spPr/>
      <dgm:t>
        <a:bodyPr/>
        <a:lstStyle/>
        <a:p>
          <a:endParaRPr lang="es-PE"/>
        </a:p>
      </dgm:t>
    </dgm:pt>
    <dgm:pt modelId="{5B278544-B8B0-430E-A0F7-8B08C849778E}" type="pres">
      <dgm:prSet presAssocID="{A70D0096-86DF-4CAF-9E38-268D386BB5E8}" presName="linear" presStyleCnt="0">
        <dgm:presLayoutVars>
          <dgm:dir/>
          <dgm:animLvl val="lvl"/>
          <dgm:resizeHandles val="exact"/>
        </dgm:presLayoutVars>
      </dgm:prSet>
      <dgm:spPr/>
    </dgm:pt>
    <dgm:pt modelId="{6E992C42-669D-410D-A14A-D3899E1625AA}" type="pres">
      <dgm:prSet presAssocID="{CAF75882-B369-4E3C-9A27-B1D08B9FB9F3}" presName="parentLin" presStyleCnt="0"/>
      <dgm:spPr/>
    </dgm:pt>
    <dgm:pt modelId="{D33FE4A7-3BFC-4EC4-A215-9E6BA9AF7A62}" type="pres">
      <dgm:prSet presAssocID="{CAF75882-B369-4E3C-9A27-B1D08B9FB9F3}" presName="parentLeftMargin" presStyleLbl="node1" presStyleIdx="0" presStyleCnt="1"/>
      <dgm:spPr/>
    </dgm:pt>
    <dgm:pt modelId="{90DF8371-C9F4-40C7-AA24-BFAE745C0D97}" type="pres">
      <dgm:prSet presAssocID="{CAF75882-B369-4E3C-9A27-B1D08B9FB9F3}" presName="parentText" presStyleLbl="node1" presStyleIdx="0" presStyleCnt="1" custScaleX="134602" custScaleY="78701" custLinFactNeighborX="423" custLinFactNeighborY="179">
        <dgm:presLayoutVars>
          <dgm:chMax val="0"/>
          <dgm:bulletEnabled val="1"/>
        </dgm:presLayoutVars>
      </dgm:prSet>
      <dgm:spPr/>
    </dgm:pt>
    <dgm:pt modelId="{EFFAC948-F5AC-4427-AAAA-2332CB62A92A}" type="pres">
      <dgm:prSet presAssocID="{CAF75882-B369-4E3C-9A27-B1D08B9FB9F3}" presName="negativeSpace" presStyleCnt="0"/>
      <dgm:spPr/>
    </dgm:pt>
    <dgm:pt modelId="{05BE5D02-8470-4663-8771-1FA3327D54CF}" type="pres">
      <dgm:prSet presAssocID="{CAF75882-B369-4E3C-9A27-B1D08B9FB9F3}" presName="childText" presStyleLbl="conFgAcc1" presStyleIdx="0" presStyleCnt="1" custScaleX="97978" custScaleY="104691" custLinFactY="16118" custLinFactNeighborX="-7211" custLinFactNeighborY="100000">
        <dgm:presLayoutVars>
          <dgm:bulletEnabled val="1"/>
        </dgm:presLayoutVars>
      </dgm:prSet>
      <dgm:spPr/>
    </dgm:pt>
  </dgm:ptLst>
  <dgm:cxnLst>
    <dgm:cxn modelId="{D0E2B509-2298-4F3E-9FCF-CBB3EEAEF370}" srcId="{CAF75882-B369-4E3C-9A27-B1D08B9FB9F3}" destId="{6653D63B-7A1C-417C-BF55-4F5D46251CBD}" srcOrd="0" destOrd="0" parTransId="{30EA9774-E107-43BB-AADD-B396F1B02B77}" sibTransId="{34858330-2FED-4FF4-BD82-2CCAAB1BE87B}"/>
    <dgm:cxn modelId="{17554D1B-08E0-4E64-A5EC-18C268ECD7E0}" srcId="{CAF75882-B369-4E3C-9A27-B1D08B9FB9F3}" destId="{C9FF9AD2-C365-4941-B87A-DA9A99CEBFB8}" srcOrd="3" destOrd="0" parTransId="{490605CC-9078-4E95-BE47-3CC1D8002E9D}" sibTransId="{18724F7C-4F13-474F-AD42-4DBCA5D32211}"/>
    <dgm:cxn modelId="{76177428-16EF-42F6-9BEB-3147D29CE1A3}" srcId="{A70D0096-86DF-4CAF-9E38-268D386BB5E8}" destId="{CAF75882-B369-4E3C-9A27-B1D08B9FB9F3}" srcOrd="0" destOrd="0" parTransId="{371CD6F9-5DA6-45AC-BC4C-C85E32E453A6}" sibTransId="{CF94D752-905A-4FA1-9250-BC5BFD1320DD}"/>
    <dgm:cxn modelId="{E85A8B35-8852-448B-BECE-8730061625A5}" type="presOf" srcId="{BDEA393B-1928-4C92-9827-CCAD0F0138E5}" destId="{05BE5D02-8470-4663-8771-1FA3327D54CF}" srcOrd="0" destOrd="1" presId="urn:microsoft.com/office/officeart/2005/8/layout/list1"/>
    <dgm:cxn modelId="{1908403F-E91A-4579-9520-7AEAF9507FF4}" type="presOf" srcId="{CAF75882-B369-4E3C-9A27-B1D08B9FB9F3}" destId="{D33FE4A7-3BFC-4EC4-A215-9E6BA9AF7A62}" srcOrd="0" destOrd="0" presId="urn:microsoft.com/office/officeart/2005/8/layout/list1"/>
    <dgm:cxn modelId="{75988043-A972-484F-91A1-8CEC99A495C0}" srcId="{CAF75882-B369-4E3C-9A27-B1D08B9FB9F3}" destId="{BDEA393B-1928-4C92-9827-CCAD0F0138E5}" srcOrd="1" destOrd="0" parTransId="{8AED9C54-96BD-4426-9C7E-E623BF7B1994}" sibTransId="{12DE16F0-D016-427B-B414-001336935359}"/>
    <dgm:cxn modelId="{4003C167-2532-4012-81B5-3524DF75AEEC}" type="presOf" srcId="{A70D0096-86DF-4CAF-9E38-268D386BB5E8}" destId="{5B278544-B8B0-430E-A0F7-8B08C849778E}" srcOrd="0" destOrd="0" presId="urn:microsoft.com/office/officeart/2005/8/layout/list1"/>
    <dgm:cxn modelId="{1BC73B7B-E981-4BAB-9469-8442708122A4}" type="presOf" srcId="{C9FF9AD2-C365-4941-B87A-DA9A99CEBFB8}" destId="{05BE5D02-8470-4663-8771-1FA3327D54CF}" srcOrd="0" destOrd="3" presId="urn:microsoft.com/office/officeart/2005/8/layout/list1"/>
    <dgm:cxn modelId="{48C1C189-B961-4629-A2BE-8BD2D7D657D5}" type="presOf" srcId="{11B110FE-85DF-4BAF-AC04-1CCDF6D4A556}" destId="{05BE5D02-8470-4663-8771-1FA3327D54CF}" srcOrd="0" destOrd="2" presId="urn:microsoft.com/office/officeart/2005/8/layout/list1"/>
    <dgm:cxn modelId="{A2F367B0-53E4-4E73-A6B0-D86D86F9E175}" type="presOf" srcId="{CAF75882-B369-4E3C-9A27-B1D08B9FB9F3}" destId="{90DF8371-C9F4-40C7-AA24-BFAE745C0D97}" srcOrd="1" destOrd="0" presId="urn:microsoft.com/office/officeart/2005/8/layout/list1"/>
    <dgm:cxn modelId="{BAC796BC-D456-428D-BEA6-A95B859BA894}" srcId="{CAF75882-B369-4E3C-9A27-B1D08B9FB9F3}" destId="{11B110FE-85DF-4BAF-AC04-1CCDF6D4A556}" srcOrd="2" destOrd="0" parTransId="{A60B7085-8579-442C-AEF3-93CE631BB683}" sibTransId="{12B081D7-9515-4302-A9BB-1206F8B901B1}"/>
    <dgm:cxn modelId="{649059CB-F2BA-4840-900C-24F5FFCA6D03}" type="presOf" srcId="{6653D63B-7A1C-417C-BF55-4F5D46251CBD}" destId="{05BE5D02-8470-4663-8771-1FA3327D54CF}" srcOrd="0" destOrd="0" presId="urn:microsoft.com/office/officeart/2005/8/layout/list1"/>
    <dgm:cxn modelId="{067278B0-84DF-4A5B-93F2-1E27E722D5CB}" type="presParOf" srcId="{5B278544-B8B0-430E-A0F7-8B08C849778E}" destId="{6E992C42-669D-410D-A14A-D3899E1625AA}" srcOrd="0" destOrd="0" presId="urn:microsoft.com/office/officeart/2005/8/layout/list1"/>
    <dgm:cxn modelId="{1A5232CE-791D-4428-ACAE-5B8B453BB44C}" type="presParOf" srcId="{6E992C42-669D-410D-A14A-D3899E1625AA}" destId="{D33FE4A7-3BFC-4EC4-A215-9E6BA9AF7A62}" srcOrd="0" destOrd="0" presId="urn:microsoft.com/office/officeart/2005/8/layout/list1"/>
    <dgm:cxn modelId="{957DDE4B-E626-4BBC-A44A-E76840FAE2E2}" type="presParOf" srcId="{6E992C42-669D-410D-A14A-D3899E1625AA}" destId="{90DF8371-C9F4-40C7-AA24-BFAE745C0D97}" srcOrd="1" destOrd="0" presId="urn:microsoft.com/office/officeart/2005/8/layout/list1"/>
    <dgm:cxn modelId="{D769D5CB-9A41-49A2-BE19-4F62D14E4EC4}" type="presParOf" srcId="{5B278544-B8B0-430E-A0F7-8B08C849778E}" destId="{EFFAC948-F5AC-4427-AAAA-2332CB62A92A}" srcOrd="1" destOrd="0" presId="urn:microsoft.com/office/officeart/2005/8/layout/list1"/>
    <dgm:cxn modelId="{2E167E0F-BA98-4E52-8E5F-378A82B6C829}" type="presParOf" srcId="{5B278544-B8B0-430E-A0F7-8B08C849778E}" destId="{05BE5D02-8470-4663-8771-1FA3327D54CF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620576"/>
          <a:ext cx="5336758" cy="5085283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4192" tIns="562356" rIns="414192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Al finalizar la sesión, a partir del análisis de situaciones personales, historias y casos reales, el estudiante analiza el significado del desapego personal, identificando aquello que puede limitar su crecimiento y proponiendo una acción concreta para afrontarlo positivamente.</a:t>
          </a:r>
          <a:endParaRPr lang="es-PE" sz="2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620576"/>
        <a:ext cx="5336758" cy="5085283"/>
      </dsp:txXfrm>
    </dsp:sp>
    <dsp:sp modelId="{90DF8371-C9F4-40C7-AA24-BFAE745C0D97}">
      <dsp:nvSpPr>
        <dsp:cNvPr id="0" name=""/>
        <dsp:cNvSpPr/>
      </dsp:nvSpPr>
      <dsp:spPr>
        <a:xfrm>
          <a:off x="267966" y="199070"/>
          <a:ext cx="4634510" cy="638674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1202" tIns="0" rIns="141202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Objetivo del curso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99143" y="230247"/>
        <a:ext cx="4572156" cy="5763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581945"/>
          <a:ext cx="10701449" cy="906885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7692" tIns="416560" rIns="847692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Festival de los Faroles en China. – </a:t>
          </a:r>
          <a:r>
            <a:rPr lang="es-MX" sz="2000" b="1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¿Sabes su significado?</a:t>
          </a:r>
          <a:endParaRPr lang="es-PE" sz="2000" b="1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581945"/>
        <a:ext cx="10701449" cy="906885"/>
      </dsp:txXfrm>
    </dsp:sp>
    <dsp:sp modelId="{90DF8371-C9F4-40C7-AA24-BFAE745C0D97}">
      <dsp:nvSpPr>
        <dsp:cNvPr id="0" name=""/>
        <dsp:cNvSpPr/>
      </dsp:nvSpPr>
      <dsp:spPr>
        <a:xfrm>
          <a:off x="547889" y="8348"/>
          <a:ext cx="9475802" cy="862562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8986" tIns="0" rIns="28898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589996" y="50455"/>
        <a:ext cx="9391588" cy="778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226683"/>
          <a:ext cx="4661068" cy="5844343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216" tIns="499872" rIns="36921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Si bien esta tradición China nació como parte de la celebración y adoración Budista, hoy también simboliza dejar atrás el pasado y dar la bienvenida a un nuevo comienzo con esperanza y buena fortuna. </a:t>
          </a:r>
          <a:endParaRPr lang="es-PE" sz="24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4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En ella se depositan cartas o notas cuyo contenido es aquello que queremos dejar atrás y que nos comprometemos a cambiar o dejar ir de nuestra vida.</a:t>
          </a:r>
          <a:endParaRPr lang="es-PE" sz="24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226683"/>
        <a:ext cx="4661068" cy="5844343"/>
      </dsp:txXfrm>
    </dsp:sp>
    <dsp:sp modelId="{90DF8371-C9F4-40C7-AA24-BFAE745C0D97}">
      <dsp:nvSpPr>
        <dsp:cNvPr id="0" name=""/>
        <dsp:cNvSpPr/>
      </dsp:nvSpPr>
      <dsp:spPr>
        <a:xfrm>
          <a:off x="238869" y="57678"/>
          <a:ext cx="4131266" cy="482969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869" tIns="0" rIns="125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62446" y="81255"/>
        <a:ext cx="4084112" cy="4358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271640"/>
          <a:ext cx="4661068" cy="5799386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216" tIns="895604" rIns="369216" bIns="305816" numCol="1" spcCol="1270" anchor="t" anchorCtr="0">
          <a:noAutofit/>
        </a:bodyPr>
        <a:lstStyle/>
        <a:p>
          <a:pPr marL="285750" lvl="1" indent="-285750" algn="l" defTabSz="1911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4300" b="1" kern="12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“No se trata de soltar por soltar. Se trata de saber cuándo algo ya no nos permite avanzar.”</a:t>
          </a:r>
        </a:p>
      </dsp:txBody>
      <dsp:txXfrm>
        <a:off x="0" y="271640"/>
        <a:ext cx="4661068" cy="5799386"/>
      </dsp:txXfrm>
    </dsp:sp>
    <dsp:sp modelId="{90DF8371-C9F4-40C7-AA24-BFAE745C0D97}">
      <dsp:nvSpPr>
        <dsp:cNvPr id="0" name=""/>
        <dsp:cNvSpPr/>
      </dsp:nvSpPr>
      <dsp:spPr>
        <a:xfrm>
          <a:off x="238869" y="35625"/>
          <a:ext cx="4131266" cy="869344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869" tIns="0" rIns="125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81307" y="78063"/>
        <a:ext cx="4046390" cy="7844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262649"/>
          <a:ext cx="4661068" cy="5808377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216" tIns="1124712" rIns="369216" bIns="384048" numCol="1" spcCol="1270" anchor="t" anchorCtr="0">
          <a:noAutofit/>
        </a:bodyPr>
        <a:lstStyle/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5400" b="1" kern="12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SI PUDIERAS DEJAR IR ALGO…</a:t>
          </a:r>
          <a:endParaRPr lang="es-PE" sz="5400" b="1" kern="120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85750" lvl="1" indent="-285750" algn="l" defTabSz="2400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5400" b="1" kern="12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¿Qué Sería?</a:t>
          </a:r>
          <a:endParaRPr lang="es-PE" sz="5400" b="1" kern="120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262649"/>
        <a:ext cx="4661068" cy="5808377"/>
      </dsp:txXfrm>
    </dsp:sp>
    <dsp:sp modelId="{90DF8371-C9F4-40C7-AA24-BFAE745C0D97}">
      <dsp:nvSpPr>
        <dsp:cNvPr id="0" name=""/>
        <dsp:cNvSpPr/>
      </dsp:nvSpPr>
      <dsp:spPr>
        <a:xfrm>
          <a:off x="238869" y="4411"/>
          <a:ext cx="4131266" cy="1101170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869" tIns="0" rIns="125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92624" y="58166"/>
        <a:ext cx="4023756" cy="9936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284746"/>
          <a:ext cx="4318748" cy="5394778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100" tIns="708152" rIns="342100" bIns="241808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4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Pregunta Abierta
</a:t>
          </a:r>
          <a:r>
            <a:rPr lang="es-MX" sz="3400" b="1" kern="12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¿Qué significa realmente desapegarse?</a:t>
          </a:r>
          <a:endParaRPr lang="es-PE" sz="3400" b="0" kern="120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400" b="0" kern="12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rPr>
            <a:t>¿Alguna ves hemos dejado ir algo de nuestras vidas?</a:t>
          </a:r>
          <a:endParaRPr lang="es-PE" sz="3400" b="0" kern="1200" dirty="0">
            <a:solidFill>
              <a:srgbClr val="0000CC"/>
            </a:solidFill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284746"/>
        <a:ext cx="4318748" cy="5394778"/>
      </dsp:txXfrm>
    </dsp:sp>
    <dsp:sp modelId="{90DF8371-C9F4-40C7-AA24-BFAE745C0D97}">
      <dsp:nvSpPr>
        <dsp:cNvPr id="0" name=""/>
        <dsp:cNvSpPr/>
      </dsp:nvSpPr>
      <dsp:spPr>
        <a:xfrm>
          <a:off x="221326" y="62217"/>
          <a:ext cx="3827856" cy="695475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6625" tIns="0" rIns="1166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55276" y="96167"/>
        <a:ext cx="3759956" cy="627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316596"/>
          <a:ext cx="4661068" cy="575443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9216" tIns="791464" rIns="369216" bIns="270256" numCol="1" spcCol="1270" anchor="t" anchorCtr="0">
          <a:noAutofit/>
        </a:bodyPr>
        <a:lstStyle/>
        <a:p>
          <a:pPr marL="285750" lvl="1" indent="-285750" algn="l" defTabSz="1689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8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El desapego no es renunciar a lo que queremos, sino cambiar nuestra relación con las cosas, personas y situaciones.</a:t>
          </a:r>
          <a:endParaRPr lang="es-PE" sz="38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316596"/>
        <a:ext cx="4661068" cy="5754430"/>
      </dsp:txXfrm>
    </dsp:sp>
    <dsp:sp modelId="{90DF8371-C9F4-40C7-AA24-BFAE745C0D97}">
      <dsp:nvSpPr>
        <dsp:cNvPr id="0" name=""/>
        <dsp:cNvSpPr/>
      </dsp:nvSpPr>
      <dsp:spPr>
        <a:xfrm>
          <a:off x="238869" y="69236"/>
          <a:ext cx="4131266" cy="772750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869" tIns="0" rIns="1258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76592" y="106959"/>
        <a:ext cx="4055820" cy="69730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268818"/>
          <a:ext cx="4918725" cy="5637543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9626" tIns="645668" rIns="389626" bIns="220472" numCol="1" spcCol="1270" anchor="t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31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Mientras ves el video, identifica lo relacionado al Desapego:
01 SIGNIFICADO
02 DIFICULTAD
03 CONSECUENCIA
04 BENEFICIO
05 APLICACIÓN</a:t>
          </a:r>
          <a:endParaRPr lang="es-PE" sz="31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268818"/>
        <a:ext cx="4918725" cy="5637543"/>
      </dsp:txXfrm>
    </dsp:sp>
    <dsp:sp modelId="{90DF8371-C9F4-40C7-AA24-BFAE745C0D97}">
      <dsp:nvSpPr>
        <dsp:cNvPr id="0" name=""/>
        <dsp:cNvSpPr/>
      </dsp:nvSpPr>
      <dsp:spPr>
        <a:xfrm>
          <a:off x="252073" y="60933"/>
          <a:ext cx="4359637" cy="637519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827" tIns="0" rIns="132827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283194" y="92054"/>
        <a:ext cx="4297395" cy="57527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902925"/>
          <a:ext cx="4373632" cy="468898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587" tIns="1187196" rIns="368587" bIns="405384" numCol="1" spcCol="1270" anchor="t" anchorCtr="0">
          <a:noAutofit/>
        </a:bodyPr>
        <a:lstStyle/>
        <a:p>
          <a:pPr marL="285750" lvl="1" indent="-285750" algn="l" defTabSz="2533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5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Ronda de Respuestas</a:t>
          </a:r>
          <a:endParaRPr lang="es-PE" sz="5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902925"/>
        <a:ext cx="4373632" cy="4688980"/>
      </dsp:txXfrm>
    </dsp:sp>
    <dsp:sp modelId="{90DF8371-C9F4-40C7-AA24-BFAE745C0D97}">
      <dsp:nvSpPr>
        <dsp:cNvPr id="0" name=""/>
        <dsp:cNvSpPr/>
      </dsp:nvSpPr>
      <dsp:spPr>
        <a:xfrm>
          <a:off x="147900" y="0"/>
          <a:ext cx="3997163" cy="693244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655" tIns="0" rIns="12565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181741" y="33841"/>
        <a:ext cx="3929481" cy="62556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9786"/>
          <a:ext cx="4373632" cy="5582119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587" tIns="1041400" rIns="368587" bIns="355600" numCol="1" spcCol="1270" anchor="t" anchorCtr="0">
          <a:noAutofit/>
        </a:bodyPr>
        <a:lstStyle/>
        <a:p>
          <a:pPr marL="285750" lvl="1" indent="-285750" algn="l" defTabSz="2222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50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¿Alguien sabe la historia que cuenta este libro?</a:t>
          </a:r>
          <a:endParaRPr lang="es-PE" sz="50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9786"/>
        <a:ext cx="4373632" cy="5582119"/>
      </dsp:txXfrm>
    </dsp:sp>
    <dsp:sp modelId="{90DF8371-C9F4-40C7-AA24-BFAE745C0D97}">
      <dsp:nvSpPr>
        <dsp:cNvPr id="0" name=""/>
        <dsp:cNvSpPr/>
      </dsp:nvSpPr>
      <dsp:spPr>
        <a:xfrm>
          <a:off x="147900" y="0"/>
          <a:ext cx="3997163" cy="550193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655" tIns="0" rIns="12565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174758" y="26858"/>
        <a:ext cx="3943447" cy="49647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727549"/>
          <a:ext cx="4373632" cy="4826085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587" tIns="583184" rIns="368587" bIns="199136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8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Mensaje clave:
A veces no progresamos porque aquello que tenemos </a:t>
          </a:r>
          <a:r>
            <a:rPr lang="es-MX" sz="2800" b="1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funciona lo suficiente para que no busquemos algo diferente.</a:t>
          </a:r>
          <a:endParaRPr lang="es-PE" sz="2800" b="1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727549"/>
        <a:ext cx="4373632" cy="4826085"/>
      </dsp:txXfrm>
    </dsp:sp>
    <dsp:sp modelId="{90DF8371-C9F4-40C7-AA24-BFAE745C0D97}">
      <dsp:nvSpPr>
        <dsp:cNvPr id="0" name=""/>
        <dsp:cNvSpPr/>
      </dsp:nvSpPr>
      <dsp:spPr>
        <a:xfrm>
          <a:off x="147900" y="0"/>
          <a:ext cx="3997163" cy="520228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655" tIns="0" rIns="12565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El Poder del Desapego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173295" y="25395"/>
        <a:ext cx="3946373" cy="46943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E5D02-8470-4663-8771-1FA3327D54CF}">
      <dsp:nvSpPr>
        <dsp:cNvPr id="0" name=""/>
        <dsp:cNvSpPr/>
      </dsp:nvSpPr>
      <dsp:spPr>
        <a:xfrm>
          <a:off x="0" y="865039"/>
          <a:ext cx="5270926" cy="507856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7525" tIns="562356" rIns="417525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Dividiremos en dos grupos la clase y Analizaremos dos casos Mercantiles, y como el no tener desapego en cierto modo los llevo al fracaso.</a:t>
          </a:r>
          <a:endParaRPr lang="es-PE" sz="2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Caso 1 Blockbuster</a:t>
          </a:r>
          <a:endParaRPr lang="es-PE" sz="2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Caso 2 Kodak</a:t>
          </a:r>
          <a:endParaRPr lang="es-PE" sz="2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700" b="0" kern="1200" dirty="0">
              <a:latin typeface="Segoe UI Light" panose="020B0502040204020203" pitchFamily="34" charset="0"/>
              <a:cs typeface="Segoe UI Light" panose="020B0502040204020203" pitchFamily="34" charset="0"/>
            </a:rPr>
            <a:t>Tiempo de 10 minutos para investigar y expondremos </a:t>
          </a:r>
          <a:endParaRPr lang="es-PE" sz="2700" b="0" kern="1200" dirty="0">
            <a:latin typeface="Segoe UI Light" panose="020B0502040204020203" pitchFamily="34" charset="0"/>
            <a:cs typeface="Segoe UI Light" panose="020B0502040204020203" pitchFamily="34" charset="0"/>
          </a:endParaRPr>
        </a:p>
      </dsp:txBody>
      <dsp:txXfrm>
        <a:off x="0" y="865039"/>
        <a:ext cx="5270926" cy="5078560"/>
      </dsp:txXfrm>
    </dsp:sp>
    <dsp:sp modelId="{90DF8371-C9F4-40C7-AA24-BFAE745C0D97}">
      <dsp:nvSpPr>
        <dsp:cNvPr id="0" name=""/>
        <dsp:cNvSpPr/>
      </dsp:nvSpPr>
      <dsp:spPr>
        <a:xfrm>
          <a:off x="270123" y="315383"/>
          <a:ext cx="5068832" cy="650510"/>
        </a:xfrm>
        <a:prstGeom prst="roundRect">
          <a:avLst/>
        </a:prstGeom>
        <a:solidFill>
          <a:srgbClr val="0000CC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338" tIns="0" rIns="142338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>
              <a:latin typeface="Oswald" panose="00000500000000000000" pitchFamily="2" charset="0"/>
            </a:rPr>
            <a:t>Desapego Personal: Liberando el Alma</a:t>
          </a:r>
          <a:endParaRPr lang="es-PE" sz="2400" kern="1200" dirty="0">
            <a:latin typeface="Oswald" panose="00000500000000000000" pitchFamily="2" charset="0"/>
          </a:endParaRPr>
        </a:p>
      </dsp:txBody>
      <dsp:txXfrm>
        <a:off x="301878" y="347138"/>
        <a:ext cx="5005322" cy="58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799BDC-0764-4CC7-9CEC-AF5E432A2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7CD98-5130-4FF9-BD8C-C2031A43C7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39ABB8-D12A-4EC1-BB8B-33B00758C4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AAC212-BD1F-4CBF-84B5-EA0DA342C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C36EFB-7F96-4B3A-BCED-456B7E73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3749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3E670D-2D08-472F-B8B7-E62C5E00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65731E-5C64-4ADA-8832-72276B57C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369536-13D7-4455-A1D5-6316D412D6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C30800-14CE-43A8-98B9-B123D396C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4CC98B-9241-4C7A-9AC2-0E5DB65C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3901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E616D-D68F-45DB-B210-D2C479323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1075ED-051A-4163-A303-71EF2F30C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093808-4912-4C44-98C3-3667F64E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EE4CB5-D29F-4415-AC7F-1BECB0E0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2C7F77-BC75-485A-83EE-34AE8C39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328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736636-E858-4597-B898-23F2232FE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4C90EE-7C44-4FA3-AACB-D773B2BAAA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EF33019-5D5D-4756-ADB3-5D4776301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05F357-90C3-4FBF-8E92-A0093368FD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74C0F6-E6C7-49E4-A909-13CF57540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0055D4-AE5C-4DE3-996B-18B0B88D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1345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5AAD85-9425-4DD4-A29B-5B26491AF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2ECD89-8EB9-48E9-97D9-DBBDC91FA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8C4E33-45EC-4591-9B2B-DDBBC324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A0AA648-5CA4-4B3C-8AC0-4BABCFE8E5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7A9629B-1E2B-42D9-B4B4-B886EB1848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3B0A42-0672-4A5C-870A-6A512D474F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494EDE-3FC5-489F-82E6-848652E9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93CE9F0-EB7E-4068-8333-55AE1B62C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8153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C70B8-1FC7-435D-B8AD-0410D3AD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7B36AC1-5E68-4BF6-8EAA-C5F3F869BF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1FCEBE1-E6AE-4EEB-8C2F-587D5148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79A79D-5B28-40B0-9FBE-DC571D493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980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48AA25-E94D-4DE7-9736-A2AEC3A67A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BCC606F-96B3-4FEB-A126-E5478E15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DD3784-C6B7-4310-8073-ED27D29A3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982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9FDA4-58AD-47C2-8CA3-DA8AD60C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437E2C-B0D9-43DC-AAB5-ED92FA20E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8DF925-2EB0-4AAE-A795-35FDCFD44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E90801-9742-4202-9458-E37D78C3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E197F4-A649-4228-B49B-8A12CBDE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C1694F-7310-4F20-9C1E-DC42BE87F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268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58C67-D7A3-4E3D-A25E-A531A1FB0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A64229-0959-4F95-A533-01DA8B25A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FE7719-B3C4-4ABA-AC7D-D2A5F1A81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E2C176-BB26-4E5E-8802-C33BC74E3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1CB1B7-343D-4328-9919-2FEC0BA3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980EDD-A0C4-4556-A4B9-BACA54AE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64982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C72233-0FDE-4A7E-8122-7FF1A47C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7B04DB7-6D7A-486C-AFE9-3B5DAD68D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F5201B-C593-4956-8964-6F1BCB39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44F5C9-42A5-4EE9-B377-2FB65D731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3DE4F7-EBF2-4F50-99EA-E84D82DD1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73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E582D3-14CA-4CCA-BECC-869A16379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AF53000-A806-467B-833C-E1F56F2D7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27595-DEFE-4D60-BBAC-80AD285D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DAE550-27B6-4294-8E28-99F48193916B}" type="datetimeFigureOut">
              <a:rPr lang="es-PE" smtClean="0"/>
              <a:t>23/08/2026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F1CC19-1B7A-42AD-8234-BFB098A5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D72FF8-E1F9-4168-A059-E544EEBC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2161931-C05E-47FC-85F2-415BE3A0BDA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1811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C6A847A6-C423-40D2-A066-6077D12929AE}"/>
              </a:ext>
            </a:extLst>
          </p:cNvPr>
          <p:cNvGrpSpPr/>
          <p:nvPr userDrawn="1"/>
        </p:nvGrpSpPr>
        <p:grpSpPr>
          <a:xfrm>
            <a:off x="53664" y="60639"/>
            <a:ext cx="403922" cy="309997"/>
            <a:chOff x="103367" y="-3536"/>
            <a:chExt cx="555070" cy="426556"/>
          </a:xfrm>
        </p:grpSpPr>
        <p:sp>
          <p:nvSpPr>
            <p:cNvPr id="8" name="Hexágono 7">
              <a:extLst>
                <a:ext uri="{FF2B5EF4-FFF2-40B4-BE49-F238E27FC236}">
                  <a16:creationId xmlns:a16="http://schemas.microsoft.com/office/drawing/2014/main" id="{7DF2FC1D-9380-4C7E-A01C-07DEB98B07DE}"/>
                </a:ext>
              </a:extLst>
            </p:cNvPr>
            <p:cNvSpPr/>
            <p:nvPr userDrawn="1"/>
          </p:nvSpPr>
          <p:spPr>
            <a:xfrm>
              <a:off x="242512" y="-3536"/>
              <a:ext cx="415925" cy="35941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ES" sz="1100"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  <a:endParaRPr lang="es-PE" sz="1100"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Hexágono 8">
              <a:extLst>
                <a:ext uri="{FF2B5EF4-FFF2-40B4-BE49-F238E27FC236}">
                  <a16:creationId xmlns:a16="http://schemas.microsoft.com/office/drawing/2014/main" id="{86B52AA4-9AEF-4669-95A5-4D30B40A96E0}"/>
                </a:ext>
              </a:extLst>
            </p:cNvPr>
            <p:cNvSpPr/>
            <p:nvPr userDrawn="1"/>
          </p:nvSpPr>
          <p:spPr>
            <a:xfrm>
              <a:off x="174868" y="30348"/>
              <a:ext cx="415925" cy="35941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70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ES" sz="1100"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  <a:endParaRPr lang="es-PE" sz="1100"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" name="Hexágono 9">
              <a:extLst>
                <a:ext uri="{FF2B5EF4-FFF2-40B4-BE49-F238E27FC236}">
                  <a16:creationId xmlns:a16="http://schemas.microsoft.com/office/drawing/2014/main" id="{6B0106BB-8314-4B06-A245-0C8AA37F2035}"/>
                </a:ext>
              </a:extLst>
            </p:cNvPr>
            <p:cNvSpPr/>
            <p:nvPr userDrawn="1"/>
          </p:nvSpPr>
          <p:spPr>
            <a:xfrm>
              <a:off x="103367" y="63610"/>
              <a:ext cx="415925" cy="35941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0000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s-E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  <a:endParaRPr lang="es-PE" sz="1100" dirty="0"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D0990154-4102-4CA6-9DDE-FDBFA17EF377}"/>
              </a:ext>
            </a:extLst>
          </p:cNvPr>
          <p:cNvGrpSpPr/>
          <p:nvPr userDrawn="1"/>
        </p:nvGrpSpPr>
        <p:grpSpPr>
          <a:xfrm>
            <a:off x="506810" y="127520"/>
            <a:ext cx="11580827" cy="248105"/>
            <a:chOff x="877332" y="144298"/>
            <a:chExt cx="11210305" cy="248105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B8D5A460-3FEF-4550-A974-8CC9B34F6AA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33586" y="374816"/>
              <a:ext cx="11012364" cy="0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F5C4F837-2B51-4998-8F45-295E33A4FA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14478" y="194779"/>
              <a:ext cx="119108" cy="192635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8EC3B7B2-18BF-423C-9646-5EB4F33C1DC7}"/>
                </a:ext>
              </a:extLst>
            </p:cNvPr>
            <p:cNvSpPr/>
            <p:nvPr userDrawn="1"/>
          </p:nvSpPr>
          <p:spPr>
            <a:xfrm flipV="1">
              <a:off x="877332" y="144298"/>
              <a:ext cx="45719" cy="45719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44F3428-61D0-47F0-A223-AD4DE8F73583}"/>
                </a:ext>
              </a:extLst>
            </p:cNvPr>
            <p:cNvSpPr/>
            <p:nvPr userDrawn="1"/>
          </p:nvSpPr>
          <p:spPr>
            <a:xfrm flipV="1">
              <a:off x="12041918" y="346684"/>
              <a:ext cx="45719" cy="45719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pic>
        <p:nvPicPr>
          <p:cNvPr id="20" name="image3.png">
            <a:extLst>
              <a:ext uri="{FF2B5EF4-FFF2-40B4-BE49-F238E27FC236}">
                <a16:creationId xmlns:a16="http://schemas.microsoft.com/office/drawing/2014/main" id="{10C979D1-CAD8-4A29-80F9-9D5D03D076A4}"/>
              </a:ext>
            </a:extLst>
          </p:cNvPr>
          <p:cNvPicPr/>
          <p:nvPr userDrawn="1"/>
        </p:nvPicPr>
        <p:blipFill rotWithShape="1">
          <a:blip r:embed="rId13"/>
          <a:srcRect l="4474" r="69310"/>
          <a:stretch/>
        </p:blipFill>
        <p:spPr bwMode="auto">
          <a:xfrm>
            <a:off x="11696450" y="5920"/>
            <a:ext cx="311704" cy="3706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AFB887D1-3891-4253-AB4B-A92D2D0BB403}"/>
              </a:ext>
            </a:extLst>
          </p:cNvPr>
          <p:cNvGrpSpPr/>
          <p:nvPr userDrawn="1"/>
        </p:nvGrpSpPr>
        <p:grpSpPr>
          <a:xfrm flipH="1" flipV="1">
            <a:off x="220861" y="6501393"/>
            <a:ext cx="11827050" cy="259274"/>
            <a:chOff x="272492" y="144298"/>
            <a:chExt cx="11827050" cy="259274"/>
          </a:xfrm>
        </p:grpSpPr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10932A65-66D9-40EA-B969-0E7D05E71DF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21297" y="377487"/>
              <a:ext cx="11624651" cy="0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1535EA52-EA65-49FA-9BF4-5610C108CC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12249" y="194779"/>
              <a:ext cx="109048" cy="176364"/>
            </a:xfrm>
            <a:prstGeom prst="line">
              <a:avLst/>
            </a:prstGeom>
            <a:ln>
              <a:solidFill>
                <a:srgbClr val="0000CC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52223F1A-70EF-494B-B394-6886BD15BEEE}"/>
                </a:ext>
              </a:extLst>
            </p:cNvPr>
            <p:cNvSpPr/>
            <p:nvPr userDrawn="1"/>
          </p:nvSpPr>
          <p:spPr>
            <a:xfrm flipV="1">
              <a:off x="272492" y="144298"/>
              <a:ext cx="45719" cy="45719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57D91BB2-5108-4BCB-9D40-E46903E2E6DF}"/>
                </a:ext>
              </a:extLst>
            </p:cNvPr>
            <p:cNvSpPr/>
            <p:nvPr userDrawn="1"/>
          </p:nvSpPr>
          <p:spPr>
            <a:xfrm flipV="1">
              <a:off x="12053823" y="357853"/>
              <a:ext cx="45719" cy="45719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0787B94-A1B1-496C-96DB-E032A6A8DBF9}"/>
              </a:ext>
            </a:extLst>
          </p:cNvPr>
          <p:cNvSpPr txBox="1"/>
          <p:nvPr userDrawn="1"/>
        </p:nvSpPr>
        <p:spPr>
          <a:xfrm>
            <a:off x="506810" y="6560030"/>
            <a:ext cx="1641671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0000C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www.senati.edu.pe</a:t>
            </a:r>
            <a:endParaRPr lang="es-PE" sz="1400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39C2F7A-9466-4F6C-A883-E33C2BD34034}"/>
              </a:ext>
            </a:extLst>
          </p:cNvPr>
          <p:cNvSpPr txBox="1"/>
          <p:nvPr userDrawn="1"/>
        </p:nvSpPr>
        <p:spPr>
          <a:xfrm>
            <a:off x="4701047" y="6541907"/>
            <a:ext cx="278990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1400" b="1" dirty="0">
                <a:solidFill>
                  <a:srgbClr val="0000CC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-- El futuro esta en tus manos --</a:t>
            </a:r>
            <a:endParaRPr lang="es-PE" sz="1400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0" name="image3.png">
            <a:extLst>
              <a:ext uri="{FF2B5EF4-FFF2-40B4-BE49-F238E27FC236}">
                <a16:creationId xmlns:a16="http://schemas.microsoft.com/office/drawing/2014/main" id="{FE678991-77F2-4FD4-9C89-66E211356AF5}"/>
              </a:ext>
            </a:extLst>
          </p:cNvPr>
          <p:cNvPicPr/>
          <p:nvPr userDrawn="1"/>
        </p:nvPicPr>
        <p:blipFill rotWithShape="1">
          <a:blip r:embed="rId13"/>
          <a:srcRect l="35568"/>
          <a:stretch/>
        </p:blipFill>
        <p:spPr bwMode="auto">
          <a:xfrm>
            <a:off x="11211932" y="6536223"/>
            <a:ext cx="720512" cy="3479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6942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4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5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.jpe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3xxBkt4G4ik?feature=oembed" TargetMode="Externa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2.jpe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2.jpe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2073535" y="2708030"/>
            <a:ext cx="750567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72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25FA304-49A2-9D31-DFEF-2D5B4FA423B2}"/>
              </a:ext>
            </a:extLst>
          </p:cNvPr>
          <p:cNvSpPr txBox="1"/>
          <p:nvPr/>
        </p:nvSpPr>
        <p:spPr>
          <a:xfrm>
            <a:off x="5742858" y="5791200"/>
            <a:ext cx="617951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"Lidera tu vida y inspira a otros a hacer lo mismo."</a:t>
            </a:r>
            <a:endParaRPr lang="es-MX" sz="20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695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1254720"/>
              </p:ext>
            </p:extLst>
          </p:nvPr>
        </p:nvGraphicFramePr>
        <p:xfrm>
          <a:off x="5931877" y="618566"/>
          <a:ext cx="5336758" cy="5705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ategoría «Desarrollo personal» de imágenes, fotos de stock e ilustraciones  libres de regalías | Shutterstock">
            <a:extLst>
              <a:ext uri="{FF2B5EF4-FFF2-40B4-BE49-F238E27FC236}">
                <a16:creationId xmlns:a16="http://schemas.microsoft.com/office/drawing/2014/main" id="{6A436E58-8D2F-66AA-FA52-9ADA0D199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" t="8523" r="6359" b="15169"/>
          <a:stretch/>
        </p:blipFill>
        <p:spPr bwMode="auto">
          <a:xfrm>
            <a:off x="1003970" y="3830003"/>
            <a:ext cx="3209442" cy="236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bjetivo - Iconos gratis de negocio">
            <a:extLst>
              <a:ext uri="{FF2B5EF4-FFF2-40B4-BE49-F238E27FC236}">
                <a16:creationId xmlns:a16="http://schemas.microsoft.com/office/drawing/2014/main" id="{834A97E8-2D22-D3A2-4B08-ED6430DED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8199" y="770347"/>
            <a:ext cx="2891735" cy="2891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999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1264024" y="1757771"/>
            <a:ext cx="10533528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72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EL PODER DEL DESAPEGO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25FA304-49A2-9D31-DFEF-2D5B4FA423B2}"/>
              </a:ext>
            </a:extLst>
          </p:cNvPr>
          <p:cNvSpPr txBox="1"/>
          <p:nvPr/>
        </p:nvSpPr>
        <p:spPr>
          <a:xfrm>
            <a:off x="3006244" y="3334870"/>
            <a:ext cx="617951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dirty="0">
                <a:latin typeface="Segoe UI Light" panose="020B0502040204020203" pitchFamily="34" charset="0"/>
                <a:cs typeface="Segoe UI Light" panose="020B0502040204020203" pitchFamily="34" charset="0"/>
              </a:rPr>
              <a:t>Aprender a soltar también es aprender a avanzar.</a:t>
            </a:r>
            <a:endParaRPr lang="es-MX" sz="2000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99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606715"/>
              </p:ext>
            </p:extLst>
          </p:nvPr>
        </p:nvGraphicFramePr>
        <p:xfrm>
          <a:off x="542872" y="411831"/>
          <a:ext cx="10922298" cy="14888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hina: Conoce qué es y cómo se celebra el “Festival de los faroles” (元宵节)">
            <a:extLst>
              <a:ext uri="{FF2B5EF4-FFF2-40B4-BE49-F238E27FC236}">
                <a16:creationId xmlns:a16="http://schemas.microsoft.com/office/drawing/2014/main" id="{525AA4DE-E197-2634-42C6-6D381959C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7959" y="2016046"/>
            <a:ext cx="6264348" cy="4152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38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– Lección 1 -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61379"/>
              </p:ext>
            </p:extLst>
          </p:nvPr>
        </p:nvGraphicFramePr>
        <p:xfrm>
          <a:off x="542873" y="400110"/>
          <a:ext cx="4757260" cy="6071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hina: Conoce qué es y cómo se celebra el “Festival de los faroles” (元宵节)">
            <a:extLst>
              <a:ext uri="{FF2B5EF4-FFF2-40B4-BE49-F238E27FC236}">
                <a16:creationId xmlns:a16="http://schemas.microsoft.com/office/drawing/2014/main" id="{525AA4DE-E197-2634-42C6-6D381959C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4399" y="973016"/>
            <a:ext cx="6117286" cy="405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22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564226"/>
              </p:ext>
            </p:extLst>
          </p:nvPr>
        </p:nvGraphicFramePr>
        <p:xfrm>
          <a:off x="542873" y="400110"/>
          <a:ext cx="4757260" cy="6071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1679579-16C7-45A7-AF0E-70F6A797E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1542" y="685799"/>
            <a:ext cx="5679141" cy="567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044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371161"/>
              </p:ext>
            </p:extLst>
          </p:nvPr>
        </p:nvGraphicFramePr>
        <p:xfrm>
          <a:off x="542873" y="400110"/>
          <a:ext cx="4757260" cy="6071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1679579-16C7-45A7-AF0E-70F6A797E5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4613" y="400110"/>
            <a:ext cx="4365812" cy="4365812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94BEECB-84FB-4ADB-AF6E-75B4EF53CEFC}"/>
              </a:ext>
            </a:extLst>
          </p:cNvPr>
          <p:cNvSpPr txBox="1"/>
          <p:nvPr/>
        </p:nvSpPr>
        <p:spPr>
          <a:xfrm>
            <a:off x="5504329" y="5118847"/>
            <a:ext cx="644255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Escribe algo que quisieras cambiar, superar o dejar atrás.</a:t>
            </a:r>
            <a:endParaRPr lang="es-MX" sz="2000" b="1" dirty="0">
              <a:solidFill>
                <a:srgbClr val="0000CC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38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125EB4-1B21-40F3-8300-7E2BA5A89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94" y="400110"/>
            <a:ext cx="10902981" cy="609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17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6175975"/>
              </p:ext>
            </p:extLst>
          </p:nvPr>
        </p:nvGraphicFramePr>
        <p:xfrm>
          <a:off x="457201" y="686105"/>
          <a:ext cx="4407876" cy="5679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A dónde van a parar los globos de helio que soltamos? | Eltiempo.es">
            <a:extLst>
              <a:ext uri="{FF2B5EF4-FFF2-40B4-BE49-F238E27FC236}">
                <a16:creationId xmlns:a16="http://schemas.microsoft.com/office/drawing/2014/main" id="{A316536C-9CFA-2F8A-0B85-61A3A2175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922" y="1086215"/>
            <a:ext cx="6869514" cy="4577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0269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152482"/>
              </p:ext>
            </p:extLst>
          </p:nvPr>
        </p:nvGraphicFramePr>
        <p:xfrm>
          <a:off x="542873" y="400110"/>
          <a:ext cx="4757260" cy="6071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Imagen 1">
            <a:extLst>
              <a:ext uri="{FF2B5EF4-FFF2-40B4-BE49-F238E27FC236}">
                <a16:creationId xmlns:a16="http://schemas.microsoft.com/office/drawing/2014/main" id="{08A01E66-C3A7-9567-D9C4-E393A92E8E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943" y="1312984"/>
            <a:ext cx="6348046" cy="3570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35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14F5EFC-2A7F-44C8-A1A0-2736994D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676" y="663389"/>
            <a:ext cx="11726648" cy="553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43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27167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735368"/>
              </p:ext>
            </p:extLst>
          </p:nvPr>
        </p:nvGraphicFramePr>
        <p:xfrm>
          <a:off x="6893858" y="564776"/>
          <a:ext cx="5020235" cy="5906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Elementos multimedia en línea 2" title="La reflexión final de Dante Gebel sobre la importancia de soltar">
            <a:hlinkClick r:id="" action="ppaction://media"/>
            <a:extLst>
              <a:ext uri="{FF2B5EF4-FFF2-40B4-BE49-F238E27FC236}">
                <a16:creationId xmlns:a16="http://schemas.microsoft.com/office/drawing/2014/main" id="{56D92A64-67B6-4340-A4E4-74948C188B8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8"/>
          <a:stretch>
            <a:fillRect/>
          </a:stretch>
        </p:blipFill>
        <p:spPr>
          <a:xfrm>
            <a:off x="414445" y="1326776"/>
            <a:ext cx="5990104" cy="338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23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276070"/>
              </p:ext>
            </p:extLst>
          </p:nvPr>
        </p:nvGraphicFramePr>
        <p:xfrm>
          <a:off x="550985" y="879232"/>
          <a:ext cx="4749148" cy="5591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>
            <a:extLst>
              <a:ext uri="{FF2B5EF4-FFF2-40B4-BE49-F238E27FC236}">
                <a16:creationId xmlns:a16="http://schemas.microsoft.com/office/drawing/2014/main" id="{17B78EF3-7B0A-2D68-05ED-7C531DA50A8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943708"/>
            <a:ext cx="4970584" cy="497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1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9718776"/>
              </p:ext>
            </p:extLst>
          </p:nvPr>
        </p:nvGraphicFramePr>
        <p:xfrm>
          <a:off x="550985" y="879232"/>
          <a:ext cx="4749148" cy="55919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Ebook - La Vaca">
            <a:extLst>
              <a:ext uri="{FF2B5EF4-FFF2-40B4-BE49-F238E27FC236}">
                <a16:creationId xmlns:a16="http://schemas.microsoft.com/office/drawing/2014/main" id="{5DACCA8B-739E-49CE-878A-092AA5D47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64" y="524436"/>
            <a:ext cx="3684215" cy="5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743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846199"/>
              </p:ext>
            </p:extLst>
          </p:nvPr>
        </p:nvGraphicFramePr>
        <p:xfrm>
          <a:off x="550985" y="524436"/>
          <a:ext cx="4749148" cy="55536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 descr="Ebook - La Vaca">
            <a:extLst>
              <a:ext uri="{FF2B5EF4-FFF2-40B4-BE49-F238E27FC236}">
                <a16:creationId xmlns:a16="http://schemas.microsoft.com/office/drawing/2014/main" id="{5DACCA8B-739E-49CE-878A-092AA5D47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564" y="524436"/>
            <a:ext cx="3684215" cy="56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1941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96A813FF-ADC0-41D2-99D1-CA174F924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7483655"/>
              </p:ext>
            </p:extLst>
          </p:nvPr>
        </p:nvGraphicFramePr>
        <p:xfrm>
          <a:off x="437364" y="492369"/>
          <a:ext cx="5379704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>
            <a:extLst>
              <a:ext uri="{FF2B5EF4-FFF2-40B4-BE49-F238E27FC236}">
                <a16:creationId xmlns:a16="http://schemas.microsoft.com/office/drawing/2014/main" id="{1F9D0BCD-68D4-8328-4976-CE8496B80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183" y="586155"/>
            <a:ext cx="4159494" cy="2495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33C8092-ACDC-BE45-C8C7-F3D9472B19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1770" y="3429000"/>
            <a:ext cx="2819399" cy="281939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D8DBCCD-F220-487F-8B70-3A55A2624AAD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</p:spTree>
    <p:extLst>
      <p:ext uri="{BB962C8B-B14F-4D97-AF65-F5344CB8AC3E}">
        <p14:creationId xmlns:p14="http://schemas.microsoft.com/office/powerpoint/2010/main" val="680916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8408E4-2AC5-414D-8A80-97F1286AEC19}"/>
              </a:ext>
            </a:extLst>
          </p:cNvPr>
          <p:cNvSpPr txBox="1"/>
          <p:nvPr/>
        </p:nvSpPr>
        <p:spPr>
          <a:xfrm>
            <a:off x="698885" y="0"/>
            <a:ext cx="460124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MX" sz="2000" b="1" dirty="0">
                <a:solidFill>
                  <a:srgbClr val="0000CC"/>
                </a:solidFill>
                <a:latin typeface="Oswald" panose="00000500000000000000" pitchFamily="2" charset="0"/>
                <a:cs typeface="Segoe UI Light" panose="020B0502040204020203" pitchFamily="34" charset="0"/>
              </a:rPr>
              <a:t>Desarrollo Humano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5A79D5F-B6DE-413F-A030-D206D3184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51" y="627530"/>
            <a:ext cx="11973727" cy="564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825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14059</TotalTime>
  <Words>416</Words>
  <Application>Microsoft Office PowerPoint</Application>
  <PresentationFormat>Panorámica</PresentationFormat>
  <Paragraphs>50</Paragraphs>
  <Slides>17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Oswald</vt:lpstr>
      <vt:lpstr>Segoe UI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Pier</dc:creator>
  <cp:lastModifiedBy>Ana Paola</cp:lastModifiedBy>
  <cp:revision>527</cp:revision>
  <dcterms:created xsi:type="dcterms:W3CDTF">2023-12-05T20:17:53Z</dcterms:created>
  <dcterms:modified xsi:type="dcterms:W3CDTF">2026-08-24T04:43:44Z</dcterms:modified>
</cp:coreProperties>
</file>